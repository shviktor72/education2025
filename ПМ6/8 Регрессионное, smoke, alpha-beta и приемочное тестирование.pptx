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93" r:id="rId9"/>
    <p:sldId id="294" r:id="rId10"/>
    <p:sldId id="272" r:id="rId11"/>
    <p:sldId id="295" r:id="rId12"/>
    <p:sldId id="296" r:id="rId13"/>
    <p:sldId id="266" r:id="rId14"/>
    <p:sldId id="297" r:id="rId15"/>
    <p:sldId id="298" r:id="rId16"/>
    <p:sldId id="299" r:id="rId17"/>
    <p:sldId id="300" r:id="rId18"/>
    <p:sldId id="302" r:id="rId19"/>
    <p:sldId id="301" r:id="rId20"/>
    <p:sldId id="303" r:id="rId21"/>
    <p:sldId id="304" r:id="rId22"/>
    <p:sldId id="305" r:id="rId23"/>
    <p:sldId id="307" r:id="rId24"/>
    <p:sldId id="308" r:id="rId25"/>
    <p:sldId id="309" r:id="rId26"/>
    <p:sldId id="310" r:id="rId27"/>
    <p:sldId id="311" r:id="rId28"/>
    <p:sldId id="282" r:id="rId29"/>
    <p:sldId id="283" r:id="rId30"/>
    <p:sldId id="312" r:id="rId31"/>
    <p:sldId id="313" r:id="rId32"/>
    <p:sldId id="314" r:id="rId33"/>
    <p:sldId id="315" r:id="rId34"/>
    <p:sldId id="316" r:id="rId35"/>
    <p:sldId id="317" r:id="rId36"/>
    <p:sldId id="318" r:id="rId3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50" autoAdjust="0"/>
  </p:normalViewPr>
  <p:slideViewPr>
    <p:cSldViewPr snapToGrid="0">
      <p:cViewPr varScale="1">
        <p:scale>
          <a:sx n="72" d="100"/>
          <a:sy n="72" d="100"/>
        </p:scale>
        <p:origin x="10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227DF-E6DD-4BB1-83E0-BA8017E7A36C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B634A-D13B-4807-A024-9C2D2D9949C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5096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333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5667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5155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2689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39487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6025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5891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DE3F2-B698-4579-AFA9-136982B3C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2AE722-9C99-409A-850C-CE2D05107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666668-B399-44B4-B85E-8D50637C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FBEE5-C408-4925-AA45-7D6FC29A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96BDC9-62E8-4216-95AD-42093F39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0269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62BE3-67CA-4312-8C25-C3645724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D20E7-8F73-4D3E-9141-A2AA0582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22CDA-EA17-4046-A18C-312FF807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C80F4C-7467-46FB-B69C-DBF42C05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63BAD-8CB2-4416-A40E-FE4233D5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43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53BED-9D88-4B92-9FFE-1BF4BC7C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801F5-A6D6-4384-B3E2-C82FA8A3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D3BD8-C46F-4913-851D-4B8BFBB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F8F96-D732-4688-A559-0FD2FF2A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9E842-C849-49EB-80E8-F33AD204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1356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F847C-50FC-4B40-8610-B1521DAE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6466A-4F05-4F55-B66C-B2B8C9222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50F240-9DD5-4492-A59A-1470A235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FEC49E-DE16-467C-8DC9-704AAC61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E23614-E149-4FA2-9B51-D848E557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7E1A06-A913-4443-8306-BF492DE3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232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57D27-EC3E-4180-BADD-AF041B49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E475EF-F989-4DE3-99C0-35FC43861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94FD67-7246-4ED2-8580-7658FEBBC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4D95A3-9C74-4C72-AC4B-48FBBD62E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7F4151-3539-49C0-B7EC-BABC021E2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37E4B4-E7C7-4E37-B7D6-B3719564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F3FBB5-4A23-407D-A728-93F9A56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7369D5-D24F-43BD-8497-8B1D37E1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4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C7B6A-5991-4B29-BE03-6C2C56A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4AAD6D-2967-4E2B-9549-873946F0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AB8F6F-CCD4-44B5-8034-56699651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9FF16A-933A-479A-9EE9-F0BE5BB3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5330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88DA71-D936-417C-948E-128DC16A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71AE77-3916-4F76-A3D8-8F729780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1FF955-5758-4D65-8FA1-EE73C8DC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297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2CF63-542E-4138-8468-738A2527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3FE53C-69AA-4E8C-97E7-669AEDA9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3C0BD3-9EB2-409B-BA45-5D5A81B52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5E37BB-863B-4D83-8290-90C2C0B1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2E1A03-9F84-4968-A680-7B6FD9CB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0D2F00-DC32-45FC-9C61-40DEC63E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2950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7C4CD-3B3C-4999-A232-758C5F1C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D128C5-B170-4F2A-9DA7-8A323DB51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2FB2EA-B103-488B-8778-4F3AF5D5D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6D0D2E-B2E7-4321-A389-245178E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54F084-1A26-4651-84EF-E881229D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1A11A-A9F3-4285-AAEC-8317AFA9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19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5E2E4-5366-43AF-BAAC-3D5C0FE5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293861-95B4-4305-BE46-EABCEE7A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83A23-BC22-4D68-8D08-08CF7C5B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B9031-2F6B-4A0F-B7AB-461A8BE2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EDD63D-AF25-40C3-BDBE-176BF468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8030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2F5AC2-018D-4E72-B734-4DE032B46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3B5BDC-714A-4525-B897-02D096648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ABDB01-4122-4231-A380-0B615B13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B5E40A-6E82-4735-A3D2-93056755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BEECD-029F-488E-BBAD-8DCD42F7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499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EF228-8EA5-417A-BE95-A1A887D3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57A4A1-DF63-4C9D-85AE-D0602A8C9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55ECCD-AB59-45D8-8DA5-B103AD95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B3731-BB4F-47F1-9FB1-300879789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D49FC-526C-4F40-9258-3426AB2BB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39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A2FEB-9BE9-4955-92D3-AEA9A30D8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Регрессионное, </a:t>
            </a:r>
            <a:r>
              <a:rPr lang="ru-RU" sz="5400" dirty="0" err="1"/>
              <a:t>smoke</a:t>
            </a:r>
            <a:r>
              <a:rPr lang="ru-RU" sz="5400" dirty="0"/>
              <a:t>, </a:t>
            </a:r>
            <a:r>
              <a:rPr lang="ru-RU" sz="5400" dirty="0" err="1"/>
              <a:t>alpha</a:t>
            </a:r>
            <a:r>
              <a:rPr lang="ru-RU" sz="5400" dirty="0"/>
              <a:t>/</a:t>
            </a:r>
            <a:r>
              <a:rPr lang="ru-RU" sz="5400" dirty="0" err="1"/>
              <a:t>beta</a:t>
            </a:r>
            <a:r>
              <a:rPr lang="ru-RU" sz="5400" dirty="0"/>
              <a:t> и приемочное тестирование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BC3EC1-046E-4404-94D9-2606A1340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0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74782-858C-4CD2-976E-4035E43B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89C4B-6E69-40AC-B175-CA88C393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понимание специальных видов тестирования, которые применяются на разных этапах разработки и выпуска программного продукта: </a:t>
            </a:r>
            <a:r>
              <a:rPr lang="ru-RU" b="1" dirty="0" err="1"/>
              <a:t>smoke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, </a:t>
            </a:r>
            <a:r>
              <a:rPr lang="ru-RU" b="1" dirty="0"/>
              <a:t>регрессионное тестирование</a:t>
            </a:r>
            <a:r>
              <a:rPr lang="ru-RU" dirty="0"/>
              <a:t>, </a:t>
            </a: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, </a:t>
            </a:r>
            <a:r>
              <a:rPr lang="ru-RU" b="1" dirty="0" err="1"/>
              <a:t>beta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и </a:t>
            </a:r>
            <a:r>
              <a:rPr lang="ru-RU" b="1" dirty="0"/>
              <a:t>приемочное тестирование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Главная задача лекции — научить студентов различать эти виды тестирования по цели, времени проведения, участникам и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91498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4280A2A-C708-4792-B22A-45A4B7762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84" y="856211"/>
            <a:ext cx="4771505" cy="60017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На практике продукт редко создается один раз и сразу выпускается. Обычно команда постоянно:</a:t>
            </a:r>
          </a:p>
          <a:p>
            <a:r>
              <a:rPr lang="ru-RU" dirty="0"/>
              <a:t>добавляет новые функции; </a:t>
            </a:r>
          </a:p>
          <a:p>
            <a:r>
              <a:rPr lang="ru-RU" dirty="0"/>
              <a:t>исправляет ошибки; </a:t>
            </a:r>
          </a:p>
          <a:p>
            <a:r>
              <a:rPr lang="ru-RU" dirty="0"/>
              <a:t>меняет интерфейс; </a:t>
            </a:r>
          </a:p>
          <a:p>
            <a:r>
              <a:rPr lang="ru-RU" dirty="0"/>
              <a:t>обновляет API; </a:t>
            </a:r>
          </a:p>
          <a:p>
            <a:r>
              <a:rPr lang="ru-RU" dirty="0"/>
              <a:t>подключает новые сервисы; </a:t>
            </a:r>
          </a:p>
          <a:p>
            <a:r>
              <a:rPr lang="ru-RU" dirty="0"/>
              <a:t>оптимизирует производительность; </a:t>
            </a:r>
          </a:p>
          <a:p>
            <a:r>
              <a:rPr lang="ru-RU" dirty="0"/>
              <a:t>готовит релизы.</a:t>
            </a:r>
            <a:endParaRPr lang="ru-KZ" dirty="0"/>
          </a:p>
          <a:p>
            <a:pPr marL="0" indent="0">
              <a:buNone/>
            </a:pPr>
            <a:r>
              <a:rPr lang="ru-RU" dirty="0"/>
              <a:t>Каждое изменение может случайно сломать уже работающий функционал. Поэтому перед выпуском продукта применяются специальные виды тестирования: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F2A8A8CF-1D5E-43F1-9A49-4D36042883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537717"/>
              </p:ext>
            </p:extLst>
          </p:nvPr>
        </p:nvGraphicFramePr>
        <p:xfrm>
          <a:off x="5237018" y="1014050"/>
          <a:ext cx="6821978" cy="53036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0444">
                  <a:extLst>
                    <a:ext uri="{9D8B030D-6E8A-4147-A177-3AD203B41FA5}">
                      <a16:colId xmlns:a16="http://schemas.microsoft.com/office/drawing/2014/main" val="1967532523"/>
                    </a:ext>
                  </a:extLst>
                </a:gridCol>
                <a:gridCol w="4311534">
                  <a:extLst>
                    <a:ext uri="{9D8B030D-6E8A-4147-A177-3AD203B41FA5}">
                      <a16:colId xmlns:a16="http://schemas.microsoft.com/office/drawing/2014/main" val="593822677"/>
                    </a:ext>
                  </a:extLst>
                </a:gridCol>
              </a:tblGrid>
              <a:tr h="575417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 тестирования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Главный вопрос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3405597970"/>
                  </a:ext>
                </a:extLst>
              </a:tr>
              <a:tr h="1009543">
                <a:tc>
                  <a:txBody>
                    <a:bodyPr/>
                    <a:lstStyle/>
                    <a:p>
                      <a:r>
                        <a:rPr lang="en-US" sz="2400"/>
                        <a:t>Smoke testing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Можно ли вообще тестировать эту сборку дальше?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2697187661"/>
                  </a:ext>
                </a:extLst>
              </a:tr>
              <a:tr h="575417">
                <a:tc>
                  <a:txBody>
                    <a:bodyPr/>
                    <a:lstStyle/>
                    <a:p>
                      <a:r>
                        <a:rPr lang="en-US" sz="2400"/>
                        <a:t>Regression testing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 сломали ли изменения старый функционал?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3244096500"/>
                  </a:ext>
                </a:extLst>
              </a:tr>
              <a:tr h="1009543">
                <a:tc>
                  <a:txBody>
                    <a:bodyPr/>
                    <a:lstStyle/>
                    <a:p>
                      <a:r>
                        <a:rPr lang="en-US" sz="2400"/>
                        <a:t>Alpha testing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Готов ли продукт к ограниченному внешнему использованию?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185287792"/>
                  </a:ext>
                </a:extLst>
              </a:tr>
              <a:tr h="575417">
                <a:tc>
                  <a:txBody>
                    <a:bodyPr/>
                    <a:lstStyle/>
                    <a:p>
                      <a:r>
                        <a:rPr lang="en-US" sz="2400"/>
                        <a:t>Beta testing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Как продукт работает у реальных пользователей?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1042730407"/>
                  </a:ext>
                </a:extLst>
              </a:tr>
              <a:tr h="1009543">
                <a:tc>
                  <a:txBody>
                    <a:bodyPr/>
                    <a:lstStyle/>
                    <a:p>
                      <a:r>
                        <a:rPr lang="en-US" sz="2400"/>
                        <a:t>Acceptance testing</a:t>
                      </a:r>
                    </a:p>
                  </a:txBody>
                  <a:tcPr marL="49599" marR="49599" marT="24800" marB="2480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Можно ли принять продукт и передать в эксплуатацию?</a:t>
                      </a:r>
                    </a:p>
                  </a:txBody>
                  <a:tcPr marL="49599" marR="49599" marT="24800" marB="24800" anchor="ctr"/>
                </a:tc>
                <a:extLst>
                  <a:ext uri="{0D108BD9-81ED-4DB2-BD59-A6C34878D82A}">
                    <a16:rowId xmlns:a16="http://schemas.microsoft.com/office/drawing/2014/main" val="2993856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78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AF1DCD-DE12-4B4F-9AC4-CDD8BD9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Smoke testing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525792-925B-4C53-9DF4-7F01B131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2093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B628F-4BA6-42AF-8189-96176F71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95410-09D6-40E4-912A-1E7247CF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Smoke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быстрая поверхностная проверка основной работоспособности новой сборки программного продукта.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smoke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Сборка достаточно стабильна, чтобы продолжать детальное тестирование?</a:t>
            </a:r>
          </a:p>
          <a:p>
            <a:pPr marL="0" indent="0">
              <a:buNone/>
            </a:pPr>
            <a:r>
              <a:rPr lang="ru-RU" dirty="0" err="1"/>
              <a:t>Smoke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не проверяет систему глубоко. Его задача — быстро понять, работает ли основная функциональность.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82753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A25D25-2088-4236-874D-CF56B332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Когда проводится </a:t>
            </a:r>
            <a:r>
              <a:rPr lang="en-US" dirty="0"/>
              <a:t>smoke testing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85BF3C8-F088-484D-9238-010E3ED65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690688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/>
              <a:t>Smoke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проводится:</a:t>
            </a:r>
          </a:p>
          <a:p>
            <a:r>
              <a:rPr lang="ru-RU" dirty="0"/>
              <a:t>после новой сборки приложения; </a:t>
            </a:r>
          </a:p>
          <a:p>
            <a:r>
              <a:rPr lang="ru-RU" dirty="0"/>
              <a:t>после деплоя на тестовую среду; </a:t>
            </a:r>
          </a:p>
          <a:p>
            <a:r>
              <a:rPr lang="ru-RU" dirty="0"/>
              <a:t>перед началом полного тестирования; </a:t>
            </a:r>
          </a:p>
          <a:p>
            <a:r>
              <a:rPr lang="ru-RU" dirty="0"/>
              <a:t>после критичных исправлений; </a:t>
            </a:r>
          </a:p>
          <a:p>
            <a:r>
              <a:rPr lang="ru-RU" dirty="0"/>
              <a:t>перед регрессионным тестированием; </a:t>
            </a:r>
          </a:p>
          <a:p>
            <a:r>
              <a:rPr lang="ru-RU" dirty="0"/>
              <a:t>перед передачей сборки QA-команде.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8A4E43-A7E4-4B05-A25F-BEF2D42DB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1160" y="1429789"/>
            <a:ext cx="6431280" cy="50630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Разработчики собрали новую версию интернет-магазина. Перед тем как тестировщики начнут полное тестирование, они выполняют </a:t>
            </a:r>
            <a:r>
              <a:rPr lang="ru-RU" dirty="0" err="1"/>
              <a:t>smoke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r>
              <a:rPr lang="ru-RU" dirty="0"/>
              <a:t>сайт открывается; </a:t>
            </a:r>
          </a:p>
          <a:p>
            <a:r>
              <a:rPr lang="ru-RU" dirty="0"/>
              <a:t>пользователь может войти; </a:t>
            </a:r>
          </a:p>
          <a:p>
            <a:r>
              <a:rPr lang="ru-RU" dirty="0"/>
              <a:t>каталог отображается; </a:t>
            </a:r>
          </a:p>
          <a:p>
            <a:r>
              <a:rPr lang="ru-RU" dirty="0"/>
              <a:t>товар добавляется в корзину; </a:t>
            </a:r>
          </a:p>
          <a:p>
            <a:r>
              <a:rPr lang="ru-RU" dirty="0"/>
              <a:t>заказ можно оформить. </a:t>
            </a:r>
          </a:p>
          <a:p>
            <a:pPr marL="0" indent="0">
              <a:buNone/>
            </a:pPr>
            <a:r>
              <a:rPr lang="ru-RU" dirty="0"/>
              <a:t>Если эти базовые проверки не проходят, нет смысла тратить время на глубокое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60547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FBF15-E7B9-43AD-8F94-EA0F8D53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Что входит в </a:t>
            </a:r>
            <a:r>
              <a:rPr lang="ru-RU" b="1" dirty="0" err="1"/>
              <a:t>smoke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KZ" b="1" dirty="0"/>
              <a:t>? - </a:t>
            </a:r>
            <a:r>
              <a:rPr lang="ru-RU" dirty="0"/>
              <a:t>обычно включает только самые критичные функции.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C9B24849-70F6-4EB4-89E1-50BE00AD4E9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62938313"/>
              </p:ext>
            </p:extLst>
          </p:nvPr>
        </p:nvGraphicFramePr>
        <p:xfrm>
          <a:off x="232756" y="1540379"/>
          <a:ext cx="6201296" cy="5229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00648">
                  <a:extLst>
                    <a:ext uri="{9D8B030D-6E8A-4147-A177-3AD203B41FA5}">
                      <a16:colId xmlns:a16="http://schemas.microsoft.com/office/drawing/2014/main" val="2283552055"/>
                    </a:ext>
                  </a:extLst>
                </a:gridCol>
                <a:gridCol w="3100648">
                  <a:extLst>
                    <a:ext uri="{9D8B030D-6E8A-4147-A177-3AD203B41FA5}">
                      <a16:colId xmlns:a16="http://schemas.microsoft.com/office/drawing/2014/main" val="1698347703"/>
                    </a:ext>
                  </a:extLst>
                </a:gridCol>
              </a:tblGrid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Проверка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961109064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Открыть главную страницу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Страница загружается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479049319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Выполнить вход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Пользователь авторизован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754417794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Открыть каталог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Товары отображаются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160256555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Добавить товар в корзину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Товар появился в корзине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9877442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kk-KZ" sz="2400"/>
                        <a:t>Перейти к оформлению заказа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Страница оформления открылась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178835543"/>
                  </a:ext>
                </a:extLst>
              </a:tr>
              <a:tr h="673535">
                <a:tc>
                  <a:txBody>
                    <a:bodyPr/>
                    <a:lstStyle/>
                    <a:p>
                      <a:r>
                        <a:rPr lang="ru-RU" sz="2400"/>
                        <a:t>Проверить оплату в тестовом режиме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Система принимает тестовый платеж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534116200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9478EAF6-0454-481D-8FF0-DC35D3F603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106641"/>
              </p:ext>
            </p:extLst>
          </p:nvPr>
        </p:nvGraphicFramePr>
        <p:xfrm>
          <a:off x="6616930" y="1825625"/>
          <a:ext cx="5342314" cy="46594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1157">
                  <a:extLst>
                    <a:ext uri="{9D8B030D-6E8A-4147-A177-3AD203B41FA5}">
                      <a16:colId xmlns:a16="http://schemas.microsoft.com/office/drawing/2014/main" val="2339348458"/>
                    </a:ext>
                  </a:extLst>
                </a:gridCol>
                <a:gridCol w="2671157">
                  <a:extLst>
                    <a:ext uri="{9D8B030D-6E8A-4147-A177-3AD203B41FA5}">
                      <a16:colId xmlns:a16="http://schemas.microsoft.com/office/drawing/2014/main" val="1583909398"/>
                    </a:ext>
                  </a:extLst>
                </a:gridCol>
              </a:tblGrid>
              <a:tr h="743133">
                <a:tc>
                  <a:txBody>
                    <a:bodyPr/>
                    <a:lstStyle/>
                    <a:p>
                      <a:r>
                        <a:rPr lang="kk-KZ" sz="2400"/>
                        <a:t>Проверка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27917448"/>
                  </a:ext>
                </a:extLst>
              </a:tr>
              <a:tr h="743133">
                <a:tc>
                  <a:txBody>
                    <a:bodyPr/>
                    <a:lstStyle/>
                    <a:p>
                      <a:r>
                        <a:rPr lang="kk-KZ" sz="2400" dirty="0"/>
                        <a:t>Студент может войти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Открывается личный кабинет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53241471"/>
                  </a:ext>
                </a:extLst>
              </a:tr>
              <a:tr h="743133">
                <a:tc>
                  <a:txBody>
                    <a:bodyPr/>
                    <a:lstStyle/>
                    <a:p>
                      <a:r>
                        <a:rPr lang="kk-KZ" sz="2400" dirty="0"/>
                        <a:t>Открывается список курсов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Курсы отображаются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428108035"/>
                  </a:ext>
                </a:extLst>
              </a:tr>
              <a:tr h="743133">
                <a:tc>
                  <a:txBody>
                    <a:bodyPr/>
                    <a:lstStyle/>
                    <a:p>
                      <a:r>
                        <a:rPr lang="kk-KZ" sz="2400"/>
                        <a:t>Открывается задание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Задание доступно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999751776"/>
                  </a:ext>
                </a:extLst>
              </a:tr>
              <a:tr h="743133">
                <a:tc>
                  <a:txBody>
                    <a:bodyPr/>
                    <a:lstStyle/>
                    <a:p>
                      <a:r>
                        <a:rPr lang="kk-KZ" sz="2400"/>
                        <a:t>Файл можно загрузить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Файл отображается в системе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44943333"/>
                  </a:ext>
                </a:extLst>
              </a:tr>
              <a:tr h="743133">
                <a:tc>
                  <a:txBody>
                    <a:bodyPr/>
                    <a:lstStyle/>
                    <a:p>
                      <a:r>
                        <a:rPr lang="kk-KZ" sz="2400"/>
                        <a:t>Преподаватель видит работу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Работа доступна для проверки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42327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5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FBF15-E7B9-43AD-8F94-EA0F8D53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Особенности </a:t>
            </a:r>
            <a:r>
              <a:rPr lang="en-US" dirty="0"/>
              <a:t>smoke testing</a:t>
            </a:r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30985909-995C-4E7A-80C7-D7D1B78A3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548213"/>
              </p:ext>
            </p:extLst>
          </p:nvPr>
        </p:nvGraphicFramePr>
        <p:xfrm>
          <a:off x="838200" y="1512916"/>
          <a:ext cx="10515600" cy="47375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320240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87658440"/>
                    </a:ext>
                  </a:extLst>
                </a:gridCol>
              </a:tblGrid>
              <a:tr h="475630">
                <a:tc>
                  <a:txBody>
                    <a:bodyPr/>
                    <a:lstStyle/>
                    <a:p>
                      <a:r>
                        <a:rPr lang="kk-KZ" sz="2400"/>
                        <a:t>Особенность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Объяснение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058285"/>
                  </a:ext>
                </a:extLst>
              </a:tr>
              <a:tr h="475630">
                <a:tc>
                  <a:txBody>
                    <a:bodyPr/>
                    <a:lstStyle/>
                    <a:p>
                      <a:r>
                        <a:rPr lang="kk-KZ" sz="2400"/>
                        <a:t>Быстрое выполнение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Обычно занимает мало времени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020754"/>
                  </a:ext>
                </a:extLst>
              </a:tr>
              <a:tr h="475630">
                <a:tc>
                  <a:txBody>
                    <a:bodyPr/>
                    <a:lstStyle/>
                    <a:p>
                      <a:r>
                        <a:rPr lang="kk-KZ" sz="2400"/>
                        <a:t>Проверяет только критичный функционал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 охватывает все детали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064080"/>
                  </a:ext>
                </a:extLst>
              </a:tr>
              <a:tr h="475630">
                <a:tc>
                  <a:txBody>
                    <a:bodyPr/>
                    <a:lstStyle/>
                    <a:p>
                      <a:r>
                        <a:rPr lang="kk-KZ" sz="2400"/>
                        <a:t>Проводится на новой сборке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После сборки или деплоя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673370"/>
                  </a:ext>
                </a:extLst>
              </a:tr>
              <a:tr h="832353">
                <a:tc>
                  <a:txBody>
                    <a:bodyPr/>
                    <a:lstStyle/>
                    <a:p>
                      <a:r>
                        <a:rPr lang="kk-KZ" sz="2400"/>
                        <a:t>Помогает экономить время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 позволяет тестировать полностью нерабочую сборку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920737"/>
                  </a:ext>
                </a:extLst>
              </a:tr>
              <a:tr h="475630">
                <a:tc>
                  <a:txBody>
                    <a:bodyPr/>
                    <a:lstStyle/>
                    <a:p>
                      <a:r>
                        <a:rPr lang="ru-RU" sz="2400"/>
                        <a:t>Может быть ручным или автоматизированным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Часто автоматизируется в CI/CD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415316"/>
                  </a:ext>
                </a:extLst>
              </a:tr>
              <a:tr h="832353">
                <a:tc>
                  <a:txBody>
                    <a:bodyPr/>
                    <a:lstStyle/>
                    <a:p>
                      <a:r>
                        <a:rPr lang="ru-RU" sz="2400"/>
                        <a:t>Дает решение «тестировать дальше или вернуть разработчикам»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Это входной контроль качества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595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92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FBF15-E7B9-43AD-8F94-EA0F8D53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dirty="0"/>
              <a:t>Пример результата </a:t>
            </a:r>
            <a:r>
              <a:rPr lang="en-US" dirty="0"/>
              <a:t>smoke testing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C349BD2-54E9-467E-BEEE-366BFF93B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540418"/>
              </p:ext>
            </p:extLst>
          </p:nvPr>
        </p:nvGraphicFramePr>
        <p:xfrm>
          <a:off x="2383674" y="1431390"/>
          <a:ext cx="6660573" cy="3535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60318">
                  <a:extLst>
                    <a:ext uri="{9D8B030D-6E8A-4147-A177-3AD203B41FA5}">
                      <a16:colId xmlns:a16="http://schemas.microsoft.com/office/drawing/2014/main" val="2805748583"/>
                    </a:ext>
                  </a:extLst>
                </a:gridCol>
                <a:gridCol w="1700255">
                  <a:extLst>
                    <a:ext uri="{9D8B030D-6E8A-4147-A177-3AD203B41FA5}">
                      <a16:colId xmlns:a16="http://schemas.microsoft.com/office/drawing/2014/main" val="1541443619"/>
                    </a:ext>
                  </a:extLst>
                </a:gridCol>
              </a:tblGrid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Статус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04948"/>
                  </a:ext>
                </a:extLst>
              </a:tr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Главная страница открывается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252973"/>
                  </a:ext>
                </a:extLst>
              </a:tr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Авторизация работает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800790"/>
                  </a:ext>
                </a:extLst>
              </a:tr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Каталог товаров открывается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605976"/>
                  </a:ext>
                </a:extLst>
              </a:tr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Добавление в корзину работает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Failed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549796"/>
                  </a:ext>
                </a:extLst>
              </a:tr>
              <a:tr h="506810">
                <a:tc>
                  <a:txBody>
                    <a:bodyPr/>
                    <a:lstStyle/>
                    <a:p>
                      <a:r>
                        <a:rPr lang="kk-KZ" sz="2800"/>
                        <a:t>Оформление заказа доступно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Blocked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523261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39C23F-A6B0-4C7F-A6D2-5094F80E2BAC}"/>
              </a:ext>
            </a:extLst>
          </p:cNvPr>
          <p:cNvSpPr/>
          <p:nvPr/>
        </p:nvSpPr>
        <p:spPr>
          <a:xfrm>
            <a:off x="299257" y="5125394"/>
            <a:ext cx="1132193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Вывод:</a:t>
            </a:r>
          </a:p>
          <a:p>
            <a:r>
              <a:rPr lang="ru-RU" sz="2800" dirty="0" err="1"/>
              <a:t>Smoke</a:t>
            </a:r>
            <a:r>
              <a:rPr lang="ru-RU" sz="2800" dirty="0"/>
              <a:t> </a:t>
            </a:r>
            <a:r>
              <a:rPr lang="ru-RU" sz="2800" dirty="0" err="1"/>
              <a:t>testing</a:t>
            </a:r>
            <a:r>
              <a:rPr lang="ru-RU" sz="2800" dirty="0"/>
              <a:t> не пройден. Детальное тестирование сборки невозможно, так как не работает добавление товара в корзину, а оформление заказа заблокировано.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422287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Регрессионное тестирование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5472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5C7A97-CE5F-44AC-9EF4-7152BA83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D21F11D-1163-43EC-8861-F0851A8B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Регрессионное тестирование</a:t>
            </a:r>
            <a:r>
              <a:rPr lang="ru-RU" dirty="0"/>
              <a:t> — это тестирование ранее проверенного функционала после изменений в программе, чтобы убедиться, что изменения не сломали уже работающие части системы.</a:t>
            </a:r>
          </a:p>
          <a:p>
            <a:pPr marL="0" indent="0">
              <a:buNone/>
            </a:pPr>
            <a:r>
              <a:rPr lang="ru-RU" dirty="0"/>
              <a:t>Главный вопрос регрессионного тестирования:</a:t>
            </a:r>
          </a:p>
          <a:p>
            <a:pPr marL="0" indent="0">
              <a:buNone/>
            </a:pPr>
            <a:r>
              <a:rPr lang="ru-RU" dirty="0"/>
              <a:t>Не появились ли новые ошибки в старом функционале после изменений?</a:t>
            </a:r>
          </a:p>
          <a:p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82470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A25D25-2088-4236-874D-CF56B332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Когда проводится регрессионное тестирование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85BF3C8-F088-484D-9238-010E3ED65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560" y="1690688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Регрессионное тестирование проводится после:</a:t>
            </a:r>
          </a:p>
          <a:p>
            <a:r>
              <a:rPr lang="ru-RU" dirty="0"/>
              <a:t>исправления дефекта; </a:t>
            </a:r>
          </a:p>
          <a:p>
            <a:r>
              <a:rPr lang="ru-RU" dirty="0"/>
              <a:t>добавления новой функции; </a:t>
            </a:r>
          </a:p>
          <a:p>
            <a:r>
              <a:rPr lang="ru-RU" dirty="0"/>
              <a:t>изменения существующей функции; </a:t>
            </a:r>
          </a:p>
          <a:p>
            <a:r>
              <a:rPr lang="ru-RU" dirty="0"/>
              <a:t>обновления интерфейса; </a:t>
            </a:r>
          </a:p>
          <a:p>
            <a:r>
              <a:rPr lang="ru-RU" dirty="0"/>
              <a:t>изменения API; </a:t>
            </a:r>
          </a:p>
          <a:p>
            <a:r>
              <a:rPr lang="ru-RU" dirty="0"/>
              <a:t>изменения базы данных; </a:t>
            </a:r>
          </a:p>
          <a:p>
            <a:r>
              <a:rPr lang="ru-RU" dirty="0"/>
              <a:t>обновления библиотек; </a:t>
            </a:r>
          </a:p>
          <a:p>
            <a:r>
              <a:rPr lang="ru-RU" dirty="0"/>
              <a:t>рефакторинга кода; </a:t>
            </a:r>
          </a:p>
          <a:p>
            <a:r>
              <a:rPr lang="ru-RU" dirty="0"/>
              <a:t>изменения бизнес-логики; </a:t>
            </a:r>
          </a:p>
          <a:p>
            <a:r>
              <a:rPr lang="ru-RU" dirty="0"/>
              <a:t>подготовки релиза.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8A4E43-A7E4-4B05-A25F-BEF2D42DB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1160" y="1429789"/>
            <a:ext cx="6431280" cy="50630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В интернет-магазине исправили ошибку в расчете скидки. После этого нужно проверить не только скидку, но и:</a:t>
            </a:r>
          </a:p>
          <a:p>
            <a:r>
              <a:rPr lang="ru-RU" dirty="0"/>
              <a:t>корзину; </a:t>
            </a:r>
          </a:p>
          <a:p>
            <a:r>
              <a:rPr lang="ru-RU" dirty="0"/>
              <a:t>итоговую сумму; </a:t>
            </a:r>
          </a:p>
          <a:p>
            <a:r>
              <a:rPr lang="ru-RU" dirty="0" err="1"/>
              <a:t>промокоды</a:t>
            </a:r>
            <a:r>
              <a:rPr lang="ru-RU" dirty="0"/>
              <a:t>; </a:t>
            </a:r>
          </a:p>
          <a:p>
            <a:r>
              <a:rPr lang="ru-RU" dirty="0"/>
              <a:t>оплату; </a:t>
            </a:r>
          </a:p>
          <a:p>
            <a:r>
              <a:rPr lang="ru-RU" dirty="0"/>
              <a:t>оформление заказа; </a:t>
            </a:r>
          </a:p>
          <a:p>
            <a:r>
              <a:rPr lang="ru-RU" dirty="0" err="1"/>
              <a:t>email</a:t>
            </a:r>
            <a:r>
              <a:rPr lang="ru-RU" dirty="0"/>
              <a:t>-подтверждение.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224720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Зачем нужна регрессия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F8C14-CB24-4A3D-9415-38FAF0B51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5" y="1378339"/>
            <a:ext cx="4898966" cy="51145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KZ" sz="2400" dirty="0"/>
          </a:p>
          <a:p>
            <a:pPr marL="0" indent="0">
              <a:buNone/>
            </a:pPr>
            <a:endParaRPr lang="ru-KZ" sz="2400" dirty="0"/>
          </a:p>
          <a:p>
            <a:pPr marL="0" indent="0">
              <a:buNone/>
            </a:pPr>
            <a:r>
              <a:rPr lang="ru-RU" sz="2400" dirty="0"/>
              <a:t>Регрессионное тестирование нужно, потому что программные системы взаимосвязаны. Изменение в одном месте может повлиять на другое.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3B83AA3-DEFE-4635-9A12-BC45CFF9D6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2838978"/>
              </p:ext>
            </p:extLst>
          </p:nvPr>
        </p:nvGraphicFramePr>
        <p:xfrm>
          <a:off x="4954385" y="1690688"/>
          <a:ext cx="6866314" cy="40587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33157">
                  <a:extLst>
                    <a:ext uri="{9D8B030D-6E8A-4147-A177-3AD203B41FA5}">
                      <a16:colId xmlns:a16="http://schemas.microsoft.com/office/drawing/2014/main" val="1799777136"/>
                    </a:ext>
                  </a:extLst>
                </a:gridCol>
                <a:gridCol w="3433157">
                  <a:extLst>
                    <a:ext uri="{9D8B030D-6E8A-4147-A177-3AD203B41FA5}">
                      <a16:colId xmlns:a16="http://schemas.microsoft.com/office/drawing/2014/main" val="1108228015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r>
                        <a:rPr lang="kk-KZ" sz="2400" b="1" dirty="0"/>
                        <a:t>Изменение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Что может сломаться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87174056"/>
                  </a:ext>
                </a:extLst>
              </a:tr>
              <a:tr h="476210">
                <a:tc>
                  <a:txBody>
                    <a:bodyPr/>
                    <a:lstStyle/>
                    <a:p>
                      <a:r>
                        <a:rPr lang="kk-KZ" sz="2400"/>
                        <a:t>Изменили форму регистрации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Авторизация, восстановление пароля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115862757"/>
                  </a:ext>
                </a:extLst>
              </a:tr>
              <a:tr h="476210">
                <a:tc>
                  <a:txBody>
                    <a:bodyPr/>
                    <a:lstStyle/>
                    <a:p>
                      <a:r>
                        <a:rPr lang="kk-KZ" sz="2400"/>
                        <a:t>Исправили расчет скидки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Итоговая сумма, оплата, чек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68962412"/>
                  </a:ext>
                </a:extLst>
              </a:tr>
              <a:tr h="476210">
                <a:tc>
                  <a:txBody>
                    <a:bodyPr/>
                    <a:lstStyle/>
                    <a:p>
                      <a:r>
                        <a:rPr lang="kk-KZ" sz="2400" dirty="0"/>
                        <a:t>Обновили </a:t>
                      </a:r>
                      <a:r>
                        <a:rPr lang="en-US" sz="2400" dirty="0"/>
                        <a:t>API </a:t>
                      </a:r>
                      <a:r>
                        <a:rPr lang="kk-KZ" sz="2400" dirty="0"/>
                        <a:t>пользователей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Личный кабинет, роли, админ-панель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17582135"/>
                  </a:ext>
                </a:extLst>
              </a:tr>
              <a:tr h="476210">
                <a:tc>
                  <a:txBody>
                    <a:bodyPr/>
                    <a:lstStyle/>
                    <a:p>
                      <a:r>
                        <a:rPr lang="kk-KZ" sz="2400"/>
                        <a:t>Изменили базу данных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Отчеты, фильтры, поиск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713227230"/>
                  </a:ext>
                </a:extLst>
              </a:tr>
              <a:tr h="476210">
                <a:tc>
                  <a:txBody>
                    <a:bodyPr/>
                    <a:lstStyle/>
                    <a:p>
                      <a:r>
                        <a:rPr lang="kk-KZ" sz="2400"/>
                        <a:t>Обновили библиотеку </a:t>
                      </a:r>
                      <a:r>
                        <a:rPr lang="en-US" sz="2400"/>
                        <a:t>UI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Отображение кнопок, форм, модальных окон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565050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189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839E4C1-45F8-4021-879B-1729617D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Виды регрессионного тестирования</a:t>
            </a: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83A8CC4-E961-4DC6-A872-2CEC0C301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885208"/>
              </p:ext>
            </p:extLst>
          </p:nvPr>
        </p:nvGraphicFramePr>
        <p:xfrm>
          <a:off x="838200" y="1512916"/>
          <a:ext cx="10515600" cy="43377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65320">
                  <a:extLst>
                    <a:ext uri="{9D8B030D-6E8A-4147-A177-3AD203B41FA5}">
                      <a16:colId xmlns:a16="http://schemas.microsoft.com/office/drawing/2014/main" val="1294815802"/>
                    </a:ext>
                  </a:extLst>
                </a:gridCol>
                <a:gridCol w="6050280">
                  <a:extLst>
                    <a:ext uri="{9D8B030D-6E8A-4147-A177-3AD203B41FA5}">
                      <a16:colId xmlns:a16="http://schemas.microsoft.com/office/drawing/2014/main" val="340593562"/>
                    </a:ext>
                  </a:extLst>
                </a:gridCol>
              </a:tblGrid>
              <a:tr h="538363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80398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Полная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Проверяется весь продукт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86724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Частичная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Проверяются только связанные области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758562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Выборочная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Проверяются наиболее важные тесты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495079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Автоматизированная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Регрессионные тесты запускаются автоматически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921897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Ручная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Тестировщик выполняет проверки вручную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52283"/>
                  </a:ext>
                </a:extLst>
              </a:tr>
              <a:tr h="538363">
                <a:tc>
                  <a:txBody>
                    <a:bodyPr/>
                    <a:lstStyle/>
                    <a:p>
                      <a:r>
                        <a:rPr lang="kk-KZ" sz="2400"/>
                        <a:t>Риск-ориентированная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Проверяются области с наибольшим риском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51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567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2066C-AC4E-4D5E-BD77-2480098F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выбрать тесты для регрессии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433EA-2455-421D-99BA-E422FAF6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Невозможно каждый раз проверять все. Поэтому тесты для регрессии выбирают по приоритету.</a:t>
            </a:r>
          </a:p>
          <a:p>
            <a:pPr marL="0" indent="0">
              <a:buNone/>
            </a:pPr>
            <a:r>
              <a:rPr lang="ru-RU" dirty="0"/>
              <a:t>В регрессионный набор обычно включают:</a:t>
            </a:r>
          </a:p>
          <a:p>
            <a:r>
              <a:rPr lang="ru-RU" dirty="0"/>
              <a:t>критичные бизнес-сценарии; </a:t>
            </a:r>
          </a:p>
          <a:p>
            <a:r>
              <a:rPr lang="ru-RU" dirty="0"/>
              <a:t>часто используемые функции; </a:t>
            </a:r>
          </a:p>
          <a:p>
            <a:r>
              <a:rPr lang="ru-RU" dirty="0"/>
              <a:t>функции, связанные с измененным кодом; </a:t>
            </a:r>
          </a:p>
          <a:p>
            <a:r>
              <a:rPr lang="ru-RU" dirty="0"/>
              <a:t>области, где раньше часто были дефекты; </a:t>
            </a:r>
          </a:p>
          <a:p>
            <a:r>
              <a:rPr lang="ru-RU" dirty="0"/>
              <a:t>интеграции с другими модулями; </a:t>
            </a:r>
          </a:p>
          <a:p>
            <a:r>
              <a:rPr lang="ru-RU" dirty="0"/>
              <a:t>платежи, авторизацию, регистрацию; </a:t>
            </a:r>
          </a:p>
          <a:p>
            <a:r>
              <a:rPr lang="ru-RU" dirty="0"/>
              <a:t>проверки безопасности; </a:t>
            </a:r>
          </a:p>
          <a:p>
            <a:r>
              <a:rPr lang="ru-RU" dirty="0" err="1"/>
              <a:t>smoke</a:t>
            </a:r>
            <a:r>
              <a:rPr lang="ru-RU" dirty="0"/>
              <a:t>-тесты; </a:t>
            </a:r>
          </a:p>
          <a:p>
            <a:r>
              <a:rPr lang="ru-RU" dirty="0"/>
              <a:t>автоматизированные стабильные тесты.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44003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7902500-AA37-4DAE-A5B2-D3959F13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Как разрабатываются регрессионные тест-кейсы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BBB1B7D-EE01-40E5-802A-88939468E2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Регрессионные тест-кейсы создаются на основе:</a:t>
            </a:r>
          </a:p>
          <a:p>
            <a:r>
              <a:rPr lang="ru-RU" dirty="0"/>
              <a:t>требований; </a:t>
            </a:r>
          </a:p>
          <a:p>
            <a:r>
              <a:rPr lang="ru-RU" dirty="0"/>
              <a:t>критичных пользовательских сценариев; </a:t>
            </a:r>
          </a:p>
          <a:p>
            <a:r>
              <a:rPr lang="ru-RU" dirty="0"/>
              <a:t>ранее найденных дефектов; </a:t>
            </a:r>
          </a:p>
          <a:p>
            <a:r>
              <a:rPr lang="ru-RU" dirty="0"/>
              <a:t>тест-кейсов основного функционала; </a:t>
            </a:r>
          </a:p>
          <a:p>
            <a:r>
              <a:rPr lang="ru-RU" dirty="0"/>
              <a:t>зон риска; </a:t>
            </a:r>
          </a:p>
          <a:p>
            <a:r>
              <a:rPr lang="ru-RU" dirty="0"/>
              <a:t>изменений в системе; </a:t>
            </a:r>
          </a:p>
          <a:p>
            <a:r>
              <a:rPr lang="ru-RU" dirty="0"/>
              <a:t>бизнес-процессов.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CA8090-7E02-4B58-988C-D44507434E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Алгоритм разработки</a:t>
            </a:r>
          </a:p>
          <a:p>
            <a:r>
              <a:rPr lang="ru-RU" dirty="0"/>
              <a:t>Определить измененную область. </a:t>
            </a:r>
          </a:p>
          <a:p>
            <a:r>
              <a:rPr lang="ru-RU" dirty="0"/>
              <a:t>Определить связанные модули. </a:t>
            </a:r>
          </a:p>
          <a:p>
            <a:r>
              <a:rPr lang="ru-RU" dirty="0"/>
              <a:t>Найти критичные сценарии. </a:t>
            </a:r>
          </a:p>
          <a:p>
            <a:r>
              <a:rPr lang="ru-RU" dirty="0"/>
              <a:t>Добавить тесты на ранее найденные дефекты. </a:t>
            </a:r>
          </a:p>
          <a:p>
            <a:r>
              <a:rPr lang="ru-RU" dirty="0"/>
              <a:t>Выбрать позитивные и негативные проверки. </a:t>
            </a:r>
          </a:p>
          <a:p>
            <a:r>
              <a:rPr lang="ru-RU" dirty="0"/>
              <a:t>Установить приоритет тестов. </a:t>
            </a:r>
          </a:p>
          <a:p>
            <a:r>
              <a:rPr lang="ru-RU" dirty="0"/>
              <a:t>Подготовить тестовые данные. </a:t>
            </a:r>
          </a:p>
          <a:p>
            <a:r>
              <a:rPr lang="ru-RU" dirty="0"/>
              <a:t>Оформить тест-кейсы в набор регрессии. </a:t>
            </a:r>
          </a:p>
          <a:p>
            <a:r>
              <a:rPr lang="ru-RU" dirty="0"/>
              <a:t>При возможности автоматизировать стабильные проверки.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75105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7D9E8-6762-4C73-BBA6-0ED4D5A02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1" y="315250"/>
            <a:ext cx="11575361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регрессионных тест-кейсов</a:t>
            </a:r>
            <a:r>
              <a:rPr lang="ru-KZ" b="1" dirty="0"/>
              <a:t>. </a:t>
            </a:r>
            <a:r>
              <a:rPr lang="ru-RU" dirty="0"/>
              <a:t>В интернет-магазине изменили логику применения </a:t>
            </a:r>
            <a:r>
              <a:rPr lang="ru-RU" dirty="0" err="1"/>
              <a:t>промокода</a:t>
            </a:r>
            <a:br>
              <a:rPr lang="ru-RU" dirty="0"/>
            </a:br>
            <a:endParaRPr lang="ru-KZ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17A22C4-F435-49B6-808C-CDABA0C712D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0690284"/>
              </p:ext>
            </p:extLst>
          </p:nvPr>
        </p:nvGraphicFramePr>
        <p:xfrm>
          <a:off x="367256" y="1341354"/>
          <a:ext cx="11457485" cy="53758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28467">
                  <a:extLst>
                    <a:ext uri="{9D8B030D-6E8A-4147-A177-3AD203B41FA5}">
                      <a16:colId xmlns:a16="http://schemas.microsoft.com/office/drawing/2014/main" val="1351521609"/>
                    </a:ext>
                  </a:extLst>
                </a:gridCol>
                <a:gridCol w="5619230">
                  <a:extLst>
                    <a:ext uri="{9D8B030D-6E8A-4147-A177-3AD203B41FA5}">
                      <a16:colId xmlns:a16="http://schemas.microsoft.com/office/drawing/2014/main" val="694009960"/>
                    </a:ext>
                  </a:extLst>
                </a:gridCol>
                <a:gridCol w="4409788">
                  <a:extLst>
                    <a:ext uri="{9D8B030D-6E8A-4147-A177-3AD203B41FA5}">
                      <a16:colId xmlns:a16="http://schemas.microsoft.com/office/drawing/2014/main" val="609939933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Регрессионный тест-кейс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Почему нужен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20061500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400"/>
                        <a:t>REG-001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Добавление товара в корзину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Промокод связан с корзиной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5177654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400"/>
                        <a:t>REG-002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Расчет итоговой суммы без промокода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базовую сумму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598643170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400"/>
                        <a:t>REG-003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Применение валидного промокода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новую логику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262922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400"/>
                        <a:t>REG-004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Применение невалидного промокода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обработку ошибки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97752122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400"/>
                        <a:t>REG-005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Оформление заказа после скидки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связанный процесс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4836606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US" sz="2400"/>
                        <a:t>REG-006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Передача суммы в оплату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интеграцию с оплатой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3126399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400"/>
                        <a:t>REG-007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Отображение скидки в чеке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Проверить итоговую документацию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19823708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US" sz="2400"/>
                        <a:t>REG-008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Email-</a:t>
                      </a:r>
                      <a:r>
                        <a:rPr lang="kk-KZ" sz="2400"/>
                        <a:t>подтверждение с итоговой суммой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Проверить уведомление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02141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007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testing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57912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80D0975-0D88-4C55-9BDB-749B3921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C2CD02-79A2-4AC7-8C7F-4A00B3FC2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тестирование продукта на ранней стадии готовности, которое проводится до передачи продукта широкой аудитории. Обычно оно выполняется внутри организации или ограниченной группой пользователей в контролируемых условиях.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alpha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Можно ли продукт передавать на более широкое внешнее тестирование?</a:t>
            </a:r>
          </a:p>
          <a:p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333414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ED657159-3E20-48C1-A4B5-DA78D0213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5636"/>
            <a:ext cx="5181600" cy="576132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Когда проводится </a:t>
            </a: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dirty="0" err="1"/>
              <a:t>Alpha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проводится:</a:t>
            </a:r>
          </a:p>
          <a:p>
            <a:r>
              <a:rPr lang="ru-RU" dirty="0"/>
              <a:t>после завершения основной разработки; </a:t>
            </a:r>
          </a:p>
          <a:p>
            <a:r>
              <a:rPr lang="ru-RU" dirty="0"/>
              <a:t>после базового системного тестирования; </a:t>
            </a:r>
          </a:p>
          <a:p>
            <a:r>
              <a:rPr lang="ru-RU" dirty="0"/>
              <a:t>до </a:t>
            </a:r>
            <a:r>
              <a:rPr lang="ru-RU" dirty="0" err="1"/>
              <a:t>beta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; </a:t>
            </a:r>
          </a:p>
          <a:p>
            <a:r>
              <a:rPr lang="ru-RU" dirty="0"/>
              <a:t>до публичного релиза; </a:t>
            </a:r>
          </a:p>
          <a:p>
            <a:r>
              <a:rPr lang="ru-RU" dirty="0"/>
              <a:t>когда продукт еще может содержать заметные дефекты; </a:t>
            </a:r>
          </a:p>
          <a:p>
            <a:r>
              <a:rPr lang="ru-RU" dirty="0"/>
              <a:t>в контролируемой среде.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5CF3CA-55D6-414D-A7CF-0DA98341C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5636"/>
            <a:ext cx="5181600" cy="576132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Кто участвует в </a:t>
            </a: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Участвовать могут:</a:t>
            </a:r>
          </a:p>
          <a:p>
            <a:r>
              <a:rPr lang="ru-RU" dirty="0"/>
              <a:t>QA-команда; </a:t>
            </a:r>
          </a:p>
          <a:p>
            <a:r>
              <a:rPr lang="ru-RU" dirty="0"/>
              <a:t>разработчики; </a:t>
            </a:r>
          </a:p>
          <a:p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Owner</a:t>
            </a:r>
            <a:r>
              <a:rPr lang="ru-RU" dirty="0"/>
              <a:t>; </a:t>
            </a:r>
          </a:p>
          <a:p>
            <a:r>
              <a:rPr lang="ru-RU" dirty="0"/>
              <a:t>бизнес-аналитики; </a:t>
            </a:r>
          </a:p>
          <a:p>
            <a:r>
              <a:rPr lang="ru-RU" dirty="0"/>
              <a:t>сотрудники компании; </a:t>
            </a:r>
          </a:p>
          <a:p>
            <a:r>
              <a:rPr lang="ru-RU" dirty="0"/>
              <a:t>ограниченная группа пользователей; </a:t>
            </a:r>
          </a:p>
          <a:p>
            <a:r>
              <a:rPr lang="ru-RU" dirty="0"/>
              <a:t>представители заказчика.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95286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082E0-690C-4E21-883B-210956789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проверяется на </a:t>
            </a:r>
            <a:r>
              <a:rPr lang="ru-RU" dirty="0" err="1"/>
              <a:t>alpha</a:t>
            </a:r>
            <a:r>
              <a:rPr lang="ru-RU" dirty="0"/>
              <a:t> </a:t>
            </a:r>
            <a:r>
              <a:rPr lang="ru-RU" dirty="0" err="1"/>
              <a:t>testing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A55CAC7-0853-4FFD-A414-FE2BEF845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70" y="1690689"/>
            <a:ext cx="9605132" cy="431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60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64D79-532B-47C3-856D-2366512F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Особенности </a:t>
            </a:r>
            <a:r>
              <a:rPr lang="en-US" dirty="0"/>
              <a:t>alpha testing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D819FE5-96A4-42C7-9711-E323EF808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851" y="2028305"/>
            <a:ext cx="9683631" cy="403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7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testing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0277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A676F0-144D-49AB-A872-6B899E36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98333BE-2FA8-4176-9F8A-30CE890B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Beta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тестирование почти готового продукта реальными или внешними пользователями в условиях, близких к реальной эксплуатации.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beta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Как продукт работает у реальных пользователей в реальных условиях?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2443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EC928222-5BCC-4A41-8B33-E259949FD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695" y="595341"/>
            <a:ext cx="5181600" cy="5822084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Beta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проводится:</a:t>
            </a:r>
          </a:p>
          <a:p>
            <a:r>
              <a:rPr lang="ru-RU" dirty="0"/>
              <a:t>после </a:t>
            </a:r>
            <a:r>
              <a:rPr lang="ru-RU" dirty="0" err="1"/>
              <a:t>alpha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; </a:t>
            </a:r>
          </a:p>
          <a:p>
            <a:r>
              <a:rPr lang="ru-RU" dirty="0"/>
              <a:t>перед финальным релизом; </a:t>
            </a:r>
          </a:p>
          <a:p>
            <a:r>
              <a:rPr lang="ru-RU" dirty="0"/>
              <a:t>когда продукт достаточно стабилен; </a:t>
            </a:r>
          </a:p>
          <a:p>
            <a:r>
              <a:rPr lang="ru-RU" dirty="0"/>
              <a:t>когда нужно получить обратную связь от реальных пользователей; </a:t>
            </a:r>
          </a:p>
          <a:p>
            <a:r>
              <a:rPr lang="ru-RU" dirty="0"/>
              <a:t>когда нужно проверить разные устройства, браузеры, сети, сценарии.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8C07E0-3DC1-4627-A408-E03DB9E2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2695" y="595341"/>
            <a:ext cx="5181600" cy="582208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Участвовать могут:</a:t>
            </a:r>
          </a:p>
          <a:p>
            <a:r>
              <a:rPr lang="ru-RU" dirty="0"/>
              <a:t>реальные пользователи; </a:t>
            </a:r>
          </a:p>
          <a:p>
            <a:r>
              <a:rPr lang="ru-RU" dirty="0"/>
              <a:t>ограниченная внешняя аудитория; </a:t>
            </a:r>
          </a:p>
          <a:p>
            <a:r>
              <a:rPr lang="ru-RU" dirty="0"/>
              <a:t>клиенты; </a:t>
            </a:r>
          </a:p>
          <a:p>
            <a:r>
              <a:rPr lang="ru-RU" dirty="0"/>
              <a:t>партнеры; </a:t>
            </a:r>
          </a:p>
          <a:p>
            <a:r>
              <a:rPr lang="ru-RU" dirty="0"/>
              <a:t>представители заказчика; </a:t>
            </a:r>
          </a:p>
          <a:p>
            <a:r>
              <a:rPr lang="ru-RU" dirty="0"/>
              <a:t>пользователи, записавшиеся на </a:t>
            </a:r>
            <a:r>
              <a:rPr lang="ru-RU" dirty="0" err="1"/>
              <a:t>beta</a:t>
            </a:r>
            <a:r>
              <a:rPr lang="ru-RU" dirty="0"/>
              <a:t>-программу.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853149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0CEEE12-B376-4A0C-AD65-73557D7D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проверяется при </a:t>
            </a:r>
            <a:r>
              <a:rPr lang="ru-RU" dirty="0" err="1"/>
              <a:t>beta</a:t>
            </a:r>
            <a:r>
              <a:rPr lang="ru-RU" dirty="0"/>
              <a:t> </a:t>
            </a:r>
            <a:r>
              <a:rPr lang="ru-RU" dirty="0" err="1"/>
              <a:t>testing</a:t>
            </a:r>
            <a:endParaRPr lang="ru-KZ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448FB3D-B97A-454A-97CA-1706EDCCB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640" y="1690688"/>
            <a:ext cx="10543872" cy="441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59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A04E0-3889-4F0A-93D3-E3437D5D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Отличие </a:t>
            </a:r>
            <a:r>
              <a:rPr lang="ru-RU" dirty="0" err="1"/>
              <a:t>alpha</a:t>
            </a:r>
            <a:r>
              <a:rPr lang="ru-RU" dirty="0"/>
              <a:t> и </a:t>
            </a:r>
            <a:r>
              <a:rPr lang="ru-RU" dirty="0" err="1"/>
              <a:t>beta</a:t>
            </a:r>
            <a:r>
              <a:rPr lang="ru-RU" dirty="0"/>
              <a:t> </a:t>
            </a:r>
            <a:r>
              <a:rPr lang="ru-RU" dirty="0" err="1"/>
              <a:t>testing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CFB3F29-E178-4730-B271-46116516D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886" y="1479665"/>
            <a:ext cx="9477423" cy="501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22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119F61B-4AD2-4EE3-8BBB-38F5D683E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Приемочное тестирование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7CEA2A6-4CD5-4F0D-BA9F-30FE7A6A0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45279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68DD3CE4-3A8D-4CB6-8FD6-B0C9BDBB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DCD5DE4-E87B-47E9-AA3D-43EDFA22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Приемочное тестирование</a:t>
            </a:r>
            <a:r>
              <a:rPr lang="ru-RU" dirty="0"/>
              <a:t> — это тестирование, которое подтверждает готовность продукта к использованию заказчиком или конечным пользователем.</a:t>
            </a:r>
          </a:p>
          <a:p>
            <a:pPr marL="0" indent="0">
              <a:buNone/>
            </a:pPr>
            <a:r>
              <a:rPr lang="ru-RU" dirty="0"/>
              <a:t>Главный вопрос приемочного тестирования:</a:t>
            </a:r>
          </a:p>
          <a:p>
            <a:pPr marL="0" indent="0">
              <a:buNone/>
            </a:pPr>
            <a:r>
              <a:rPr lang="ru-RU" dirty="0"/>
              <a:t>Можно ли принять продукт и использовать его по назначению?</a:t>
            </a:r>
          </a:p>
        </p:txBody>
      </p:sp>
    </p:spTree>
    <p:extLst>
      <p:ext uri="{BB962C8B-B14F-4D97-AF65-F5344CB8AC3E}">
        <p14:creationId xmlns:p14="http://schemas.microsoft.com/office/powerpoint/2010/main" val="1630359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B2B6C-6A20-4F59-B3A2-805A8AAC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Зачем нужно приемочное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00612F-3E5D-4A33-B11A-C33F9C051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Приемочное тестирование нужно, чтобы:</a:t>
            </a:r>
          </a:p>
          <a:p>
            <a:r>
              <a:rPr lang="ru-RU" dirty="0"/>
              <a:t>подтвердить соответствие продукта требованиям; </a:t>
            </a:r>
          </a:p>
          <a:p>
            <a:r>
              <a:rPr lang="ru-RU" dirty="0"/>
              <a:t>проверить ключевые бизнес-сценарии; </a:t>
            </a:r>
          </a:p>
          <a:p>
            <a:r>
              <a:rPr lang="ru-RU" dirty="0"/>
              <a:t>получить согласие заказчика; </a:t>
            </a:r>
          </a:p>
          <a:p>
            <a:r>
              <a:rPr lang="ru-RU" dirty="0"/>
              <a:t>принять решение о релизе; </a:t>
            </a:r>
          </a:p>
          <a:p>
            <a:r>
              <a:rPr lang="ru-RU" dirty="0"/>
              <a:t>убедиться, что продукт можно использовать; </a:t>
            </a:r>
          </a:p>
          <a:p>
            <a:r>
              <a:rPr lang="ru-RU" dirty="0"/>
              <a:t>проверить критерии приемки.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924679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EAD75-5DE6-4EB7-AD91-73FA60F8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KZ" dirty="0"/>
              <a:t>К</a:t>
            </a:r>
            <a:r>
              <a:rPr lang="kk-KZ" dirty="0"/>
              <a:t>то проводит приемочное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87F883-AFE5-4B6F-B2C0-B596C1CE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Приемочное тестирование могут проводить:</a:t>
            </a:r>
          </a:p>
          <a:p>
            <a:r>
              <a:rPr lang="ru-RU" dirty="0"/>
              <a:t>заказчик; </a:t>
            </a:r>
          </a:p>
          <a:p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Owner</a:t>
            </a:r>
            <a:r>
              <a:rPr lang="ru-RU" dirty="0"/>
              <a:t>; </a:t>
            </a:r>
          </a:p>
          <a:p>
            <a:r>
              <a:rPr lang="ru-RU" dirty="0"/>
              <a:t>бизнес-пользователи; </a:t>
            </a:r>
          </a:p>
          <a:p>
            <a:r>
              <a:rPr lang="ru-RU" dirty="0"/>
              <a:t>конечные пользователи; </a:t>
            </a:r>
          </a:p>
          <a:p>
            <a:r>
              <a:rPr lang="ru-RU" dirty="0"/>
              <a:t>QA-команда; </a:t>
            </a:r>
          </a:p>
          <a:p>
            <a:r>
              <a:rPr lang="ru-RU" dirty="0"/>
              <a:t>комиссия; </a:t>
            </a:r>
          </a:p>
          <a:p>
            <a:r>
              <a:rPr lang="ru-RU" dirty="0"/>
              <a:t>преподаватель, если речь об учебном проекте.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128258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626BB-947D-4FA5-BFBF-6FF01AE3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Критерии приемки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B68408A-0B67-4EE7-8137-1392DC36F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59" y="1496290"/>
            <a:ext cx="11099672" cy="477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80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9779C-588A-43C2-BAF7-E30DF47C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приемочного тестирования</a:t>
            </a:r>
            <a:endParaRPr lang="ru-KZ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7A30EF7-C68F-4961-89BE-02AAC5D1B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655" y="1524391"/>
            <a:ext cx="9335347" cy="461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29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04FF8E2-F5A5-4E5A-A8AF-CA73F6FA1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363611"/>
              </p:ext>
            </p:extLst>
          </p:nvPr>
        </p:nvGraphicFramePr>
        <p:xfrm>
          <a:off x="393468" y="341495"/>
          <a:ext cx="11405064" cy="6267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3164">
                  <a:extLst>
                    <a:ext uri="{9D8B030D-6E8A-4147-A177-3AD203B41FA5}">
                      <a16:colId xmlns:a16="http://schemas.microsoft.com/office/drawing/2014/main" val="425869006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2156765318"/>
                    </a:ext>
                  </a:extLst>
                </a:gridCol>
                <a:gridCol w="1945178">
                  <a:extLst>
                    <a:ext uri="{9D8B030D-6E8A-4147-A177-3AD203B41FA5}">
                      <a16:colId xmlns:a16="http://schemas.microsoft.com/office/drawing/2014/main" val="2912914117"/>
                    </a:ext>
                  </a:extLst>
                </a:gridCol>
                <a:gridCol w="2432859">
                  <a:extLst>
                    <a:ext uri="{9D8B030D-6E8A-4147-A177-3AD203B41FA5}">
                      <a16:colId xmlns:a16="http://schemas.microsoft.com/office/drawing/2014/main" val="3889749249"/>
                    </a:ext>
                  </a:extLst>
                </a:gridCol>
                <a:gridCol w="1900844">
                  <a:extLst>
                    <a:ext uri="{9D8B030D-6E8A-4147-A177-3AD203B41FA5}">
                      <a16:colId xmlns:a16="http://schemas.microsoft.com/office/drawing/2014/main" val="1661644795"/>
                    </a:ext>
                  </a:extLst>
                </a:gridCol>
                <a:gridCol w="1900844">
                  <a:extLst>
                    <a:ext uri="{9D8B030D-6E8A-4147-A177-3AD203B41FA5}">
                      <a16:colId xmlns:a16="http://schemas.microsoft.com/office/drawing/2014/main" val="3010309867"/>
                    </a:ext>
                  </a:extLst>
                </a:gridCol>
              </a:tblGrid>
              <a:tr h="287970">
                <a:tc>
                  <a:txBody>
                    <a:bodyPr/>
                    <a:lstStyle/>
                    <a:p>
                      <a:r>
                        <a:rPr lang="kk-KZ" sz="2000" b="1" dirty="0"/>
                        <a:t>Критерий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Smoke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Regression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Alpha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Beta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Acceptance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622477856"/>
                  </a:ext>
                </a:extLst>
              </a:tr>
              <a:tr h="994318">
                <a:tc>
                  <a:txBody>
                    <a:bodyPr/>
                    <a:lstStyle/>
                    <a:p>
                      <a:r>
                        <a:rPr lang="kk-KZ" sz="2000"/>
                        <a:t>Главная цель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базовую работоспособность сборки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Проверить, что изменения не сломали старое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Найти критичные ошибки до внешней проверки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Получить обратную связь реальных пользователей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Подтвердить готовность продукта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70862902"/>
                  </a:ext>
                </a:extLst>
              </a:tr>
              <a:tr h="758869">
                <a:tc>
                  <a:txBody>
                    <a:bodyPr/>
                    <a:lstStyle/>
                    <a:p>
                      <a:r>
                        <a:rPr lang="kk-KZ" sz="2000"/>
                        <a:t>Когда проводится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После сборки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После изменений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До </a:t>
                      </a:r>
                      <a:r>
                        <a:rPr lang="en-US" sz="2000" dirty="0"/>
                        <a:t>beta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Перед релизом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Перед приемкой или релизом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548258617"/>
                  </a:ext>
                </a:extLst>
              </a:tr>
              <a:tr h="523419">
                <a:tc>
                  <a:txBody>
                    <a:bodyPr/>
                    <a:lstStyle/>
                    <a:p>
                      <a:r>
                        <a:rPr lang="kk-KZ" sz="2000"/>
                        <a:t>Объем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Малый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Средний или большой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Средний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Зависит от программы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 критериям приемки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317212422"/>
                  </a:ext>
                </a:extLst>
              </a:tr>
              <a:tr h="758869">
                <a:tc>
                  <a:txBody>
                    <a:bodyPr/>
                    <a:lstStyle/>
                    <a:p>
                      <a:r>
                        <a:rPr lang="kk-KZ" sz="2000"/>
                        <a:t>Кто проводит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QA / </a:t>
                      </a:r>
                      <a:r>
                        <a:rPr lang="kk-KZ" sz="2000"/>
                        <a:t>автотесты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QA / </a:t>
                      </a:r>
                      <a:r>
                        <a:rPr lang="kk-KZ" sz="2000" dirty="0"/>
                        <a:t>автотесты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Внутренняя команда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Внешние пользователи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Заказчик / пользователи / </a:t>
                      </a:r>
                      <a:r>
                        <a:rPr lang="en-US" sz="2000"/>
                        <a:t>QA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41758290"/>
                  </a:ext>
                </a:extLst>
              </a:tr>
              <a:tr h="523419">
                <a:tc>
                  <a:txBody>
                    <a:bodyPr/>
                    <a:lstStyle/>
                    <a:p>
                      <a:r>
                        <a:rPr lang="kk-KZ" sz="2000"/>
                        <a:t>Среда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Тестовая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Тестовая / </a:t>
                      </a:r>
                      <a:r>
                        <a:rPr lang="en-US" sz="2000"/>
                        <a:t>staging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Контролируемая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Реальная или близкая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Близкая к рабочей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163006305"/>
                  </a:ext>
                </a:extLst>
              </a:tr>
              <a:tr h="994318">
                <a:tc>
                  <a:txBody>
                    <a:bodyPr/>
                    <a:lstStyle/>
                    <a:p>
                      <a:r>
                        <a:rPr lang="kk-KZ" sz="2000"/>
                        <a:t>Результат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Решение: тестировать дальше или нет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Уверенность, что старое работает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Готовность к </a:t>
                      </a:r>
                      <a:r>
                        <a:rPr lang="en-US" sz="2000"/>
                        <a:t>beta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Обратная связь перед релизом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Решение о приемке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552052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204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83EDE6-CC58-4FFE-AF04-D06DCBF3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365125"/>
            <a:ext cx="11587942" cy="1325563"/>
          </a:xfrm>
        </p:spPr>
        <p:txBody>
          <a:bodyPr>
            <a:normAutofit/>
          </a:bodyPr>
          <a:lstStyle/>
          <a:p>
            <a:r>
              <a:rPr lang="ru-RU" dirty="0"/>
              <a:t>Проект: интернет-магазин</a:t>
            </a:r>
            <a:r>
              <a:rPr lang="ru-KZ" dirty="0"/>
              <a:t>. </a:t>
            </a:r>
            <a:r>
              <a:rPr lang="ru-RU" dirty="0"/>
              <a:t>Команда выпустила новую версию, где добавила </a:t>
            </a:r>
            <a:r>
              <a:rPr lang="ru-RU" dirty="0" err="1"/>
              <a:t>промокоды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DAEEB6-8C6B-4B40-8D6B-F787BDC4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01" y="1927729"/>
            <a:ext cx="4868076" cy="24402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245DA7-0B88-4E95-A79E-32B8D178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972" y="1927730"/>
            <a:ext cx="6404057" cy="30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82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83EDE6-CC58-4FFE-AF04-D06DCBF3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365125"/>
            <a:ext cx="11587942" cy="1325563"/>
          </a:xfrm>
        </p:spPr>
        <p:txBody>
          <a:bodyPr>
            <a:normAutofit/>
          </a:bodyPr>
          <a:lstStyle/>
          <a:p>
            <a:r>
              <a:rPr lang="ru-RU" dirty="0"/>
              <a:t>Проект: интернет-магазин</a:t>
            </a:r>
            <a:r>
              <a:rPr lang="ru-KZ" dirty="0"/>
              <a:t>. </a:t>
            </a:r>
            <a:r>
              <a:rPr lang="ru-RU" dirty="0"/>
              <a:t>Команда выпустила новую версию, где добавила </a:t>
            </a:r>
            <a:r>
              <a:rPr lang="ru-RU" dirty="0" err="1"/>
              <a:t>промокоды</a:t>
            </a:r>
            <a:endParaRPr lang="ru-KZ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836C07-6079-404E-AFB5-D1472764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71" y="1927729"/>
            <a:ext cx="6074364" cy="352098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E6190B-D878-4DED-B30E-8AC83F18E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883" y="2078709"/>
            <a:ext cx="5066449" cy="22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24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1456</Words>
  <Application>Microsoft Office PowerPoint</Application>
  <PresentationFormat>Широкоэкранный</PresentationFormat>
  <Paragraphs>334</Paragraphs>
  <Slides>36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</vt:lpstr>
      <vt:lpstr>Регрессионное, smoke, alpha/beta и приемочное тестирование</vt:lpstr>
      <vt:lpstr>Цель лекции</vt:lpstr>
      <vt:lpstr>Презентация PowerPoint</vt:lpstr>
      <vt:lpstr>Smoke testing</vt:lpstr>
      <vt:lpstr>Презентация PowerPoint</vt:lpstr>
      <vt:lpstr>Когда проводится smoke testing</vt:lpstr>
      <vt:lpstr>Что входит в smoke testing? - обычно включает только самые критичные функции.</vt:lpstr>
      <vt:lpstr>Особенности smoke testing</vt:lpstr>
      <vt:lpstr>Пример результата smoke testing</vt:lpstr>
      <vt:lpstr>Регрессионное тестирование</vt:lpstr>
      <vt:lpstr>Презентация PowerPoint</vt:lpstr>
      <vt:lpstr>Когда проводится регрессионное тестирование</vt:lpstr>
      <vt:lpstr>Зачем нужна регрессия</vt:lpstr>
      <vt:lpstr>Виды регрессионного тестирования</vt:lpstr>
      <vt:lpstr>Как выбрать тесты для регрессии</vt:lpstr>
      <vt:lpstr>Как разрабатываются регрессионные тест-кейсы</vt:lpstr>
      <vt:lpstr>Пример регрессионных тест-кейсов. В интернет-магазине изменили логику применения промокода </vt:lpstr>
      <vt:lpstr>Alpha testing</vt:lpstr>
      <vt:lpstr>Презентация PowerPoint</vt:lpstr>
      <vt:lpstr>Презентация PowerPoint</vt:lpstr>
      <vt:lpstr>Что проверяется на alpha testing</vt:lpstr>
      <vt:lpstr>Особенности alpha testing</vt:lpstr>
      <vt:lpstr>Beta testing</vt:lpstr>
      <vt:lpstr>Презентация PowerPoint</vt:lpstr>
      <vt:lpstr>Презентация PowerPoint</vt:lpstr>
      <vt:lpstr>Что проверяется при beta testing</vt:lpstr>
      <vt:lpstr>Отличие alpha и beta testing</vt:lpstr>
      <vt:lpstr>Приемочное тестирование</vt:lpstr>
      <vt:lpstr>Презентация PowerPoint</vt:lpstr>
      <vt:lpstr>Зачем нужно приемочное тестирование</vt:lpstr>
      <vt:lpstr>Кто проводит приемочное тестирование</vt:lpstr>
      <vt:lpstr>Критерии приемки</vt:lpstr>
      <vt:lpstr>Пример приемочного тестирования</vt:lpstr>
      <vt:lpstr>Презентация PowerPoint</vt:lpstr>
      <vt:lpstr>Проект: интернет-магазин. Команда выпустила новую версию, где добавила промокоды</vt:lpstr>
      <vt:lpstr>Проект: интернет-магазин. Команда выпустила новую версию, где добавила промокоды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Black-box, White-box и Gray-box тестирование</dc:title>
  <dc:creator>raigul_almaty@mail.ru</dc:creator>
  <cp:lastModifiedBy>raigul_almaty@mail.ru</cp:lastModifiedBy>
  <cp:revision>4</cp:revision>
  <dcterms:created xsi:type="dcterms:W3CDTF">2026-05-20T03:44:57Z</dcterms:created>
  <dcterms:modified xsi:type="dcterms:W3CDTF">2026-05-21T09:56:52Z</dcterms:modified>
</cp:coreProperties>
</file>