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1" r:id="rId5"/>
    <p:sldId id="272" r:id="rId6"/>
    <p:sldId id="273" r:id="rId7"/>
    <p:sldId id="275" r:id="rId8"/>
    <p:sldId id="274" r:id="rId9"/>
    <p:sldId id="276" r:id="rId10"/>
    <p:sldId id="277" r:id="rId11"/>
    <p:sldId id="278" r:id="rId12"/>
    <p:sldId id="280" r:id="rId13"/>
    <p:sldId id="281" r:id="rId14"/>
    <p:sldId id="279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70" r:id="rId2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29" autoAdjust="0"/>
  </p:normalViewPr>
  <p:slideViewPr>
    <p:cSldViewPr snapToGrid="0">
      <p:cViewPr varScale="1">
        <p:scale>
          <a:sx n="61" d="100"/>
          <a:sy n="61" d="100"/>
        </p:scale>
        <p:origin x="14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8192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17.05.2026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/>
          </a:bodyPr>
          <a:lstStyle/>
          <a:p>
            <a:r>
              <a:rPr lang="ru-RU" sz="5400" dirty="0"/>
              <a:t>Процесс тестирования и жизненный цикл STLC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понимание процесса тестирования программного обеспечения: из каких этапов он состоит, как связан с жизненным циклом разработки ПО, какие действия выполняет тестировщик на каждом этапе и как результаты тестирования используются для оценки качества продукта.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6872B-A46A-4C55-B9C6-34519ADF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kk-KZ" dirty="0"/>
              <a:t>процесс тестирования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BB0889-5956-47CE-9996-B2610C44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509741"/>
            <a:ext cx="1170432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400" b="1" dirty="0"/>
              <a:t>Процесс тестирования</a:t>
            </a:r>
            <a:r>
              <a:rPr lang="ru-RU" sz="2400" dirty="0"/>
              <a:t> — это последовательность действий, направленных на проверку программного продукта, выявление дефектов, оценку качества и подготовку информации для принятия решения о готовности продукта.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Тестирование нельзя рассматривать как одно действие «проверить программу». Это полноценный процесс, который включает: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анализ требований;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планирование тестирования;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подготовку тестовой документации;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подготовку тестовой среды;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выполнение тестов;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регистрацию дефектов;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повторное тестирование;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анализ результатов;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оформление отчета; 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завершение тестирования.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97454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8FCD2-2A9F-4788-B667-B322E480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</a:t>
            </a:r>
            <a:r>
              <a:rPr lang="kk-KZ" dirty="0"/>
              <a:t>и </a:t>
            </a:r>
            <a:r>
              <a:rPr lang="en-US" dirty="0"/>
              <a:t>STLC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2F9B13E-6107-42A6-AD43-78FB05B74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595805"/>
              </p:ext>
            </p:extLst>
          </p:nvPr>
        </p:nvGraphicFramePr>
        <p:xfrm>
          <a:off x="296487" y="3186757"/>
          <a:ext cx="11599025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3128">
                  <a:extLst>
                    <a:ext uri="{9D8B030D-6E8A-4147-A177-3AD203B41FA5}">
                      <a16:colId xmlns:a16="http://schemas.microsoft.com/office/drawing/2014/main" val="4130985887"/>
                    </a:ext>
                  </a:extLst>
                </a:gridCol>
                <a:gridCol w="7705897">
                  <a:extLst>
                    <a:ext uri="{9D8B030D-6E8A-4147-A177-3AD203B41FA5}">
                      <a16:colId xmlns:a16="http://schemas.microsoft.com/office/drawing/2014/main" val="3128988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Этап </a:t>
                      </a:r>
                      <a:r>
                        <a:rPr lang="en-US" sz="2400" b="1" dirty="0"/>
                        <a:t>SDLC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Содержание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08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Сбор и анализ требований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Определяется, что должна делать система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289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Проектирование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Создается архитектура и структура будущей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64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Разработка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Программисты пишут код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25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Проверяется работа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74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Развертывание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Продукт передается пользователям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259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Поддержка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Исправляются ошибки, выпускаются обновления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3877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44CD8EF-00C3-4BAE-A418-BF041F8AE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014" y="1247765"/>
            <a:ext cx="110725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SDLC —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жизненный цикл разработки программного обеспечения.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Он описывает этапы создания программного продукта от идеи до поддержки.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этапы SDLC:</a:t>
            </a:r>
          </a:p>
        </p:txBody>
      </p:sp>
    </p:spTree>
    <p:extLst>
      <p:ext uri="{BB962C8B-B14F-4D97-AF65-F5344CB8AC3E}">
        <p14:creationId xmlns:p14="http://schemas.microsoft.com/office/powerpoint/2010/main" val="46586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8FCD2-2A9F-4788-B667-B322E480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4195"/>
          </a:xfrm>
        </p:spPr>
        <p:txBody>
          <a:bodyPr/>
          <a:lstStyle/>
          <a:p>
            <a:r>
              <a:rPr lang="en-US" dirty="0"/>
              <a:t>SDLC </a:t>
            </a:r>
            <a:r>
              <a:rPr lang="kk-KZ" dirty="0"/>
              <a:t>и </a:t>
            </a:r>
            <a:r>
              <a:rPr lang="en-US" dirty="0"/>
              <a:t>STLC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44CD8EF-00C3-4BAE-A418-BF041F8AE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87" y="678195"/>
            <a:ext cx="1174034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800" b="1" dirty="0"/>
              <a:t>STLC — </a:t>
            </a:r>
            <a:r>
              <a:rPr lang="ru-RU" sz="2800" b="1" dirty="0" err="1"/>
              <a:t>Software</a:t>
            </a:r>
            <a:r>
              <a:rPr lang="ru-RU" sz="2800" b="1" dirty="0"/>
              <a:t> </a:t>
            </a:r>
            <a:r>
              <a:rPr lang="ru-RU" sz="2800" b="1" dirty="0" err="1"/>
              <a:t>Testing</a:t>
            </a:r>
            <a:r>
              <a:rPr lang="ru-RU" sz="2800" b="1" dirty="0"/>
              <a:t> </a:t>
            </a:r>
            <a:r>
              <a:rPr lang="ru-RU" sz="2800" b="1" dirty="0" err="1"/>
              <a:t>Life</a:t>
            </a:r>
            <a:r>
              <a:rPr lang="ru-RU" sz="2800" b="1" dirty="0"/>
              <a:t> </a:t>
            </a:r>
            <a:r>
              <a:rPr lang="ru-RU" sz="2800" b="1" dirty="0" err="1"/>
              <a:t>Cycle</a:t>
            </a:r>
            <a:r>
              <a:rPr lang="ru-RU" sz="2800" dirty="0"/>
              <a:t> — жизненный цикл тестирования программного обеспечения.</a:t>
            </a:r>
          </a:p>
          <a:p>
            <a:r>
              <a:rPr lang="ru-RU" sz="2800" dirty="0"/>
              <a:t>Он описывает этапы именно </a:t>
            </a:r>
            <a:r>
              <a:rPr lang="ru-RU" sz="2800" dirty="0" err="1"/>
              <a:t>тестировочной</a:t>
            </a:r>
            <a:r>
              <a:rPr lang="ru-RU" sz="2800" dirty="0"/>
              <a:t> деятельности.</a:t>
            </a:r>
          </a:p>
          <a:p>
            <a:r>
              <a:rPr lang="ru-RU" sz="2800" dirty="0"/>
              <a:t>Основные этапы STLC: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18DB1A80-0D01-4910-A59F-340975A39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38158"/>
              </p:ext>
            </p:extLst>
          </p:nvPr>
        </p:nvGraphicFramePr>
        <p:xfrm>
          <a:off x="296488" y="2498233"/>
          <a:ext cx="11740340" cy="417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59381">
                  <a:extLst>
                    <a:ext uri="{9D8B030D-6E8A-4147-A177-3AD203B41FA5}">
                      <a16:colId xmlns:a16="http://schemas.microsoft.com/office/drawing/2014/main" val="227103301"/>
                    </a:ext>
                  </a:extLst>
                </a:gridCol>
                <a:gridCol w="7680959">
                  <a:extLst>
                    <a:ext uri="{9D8B030D-6E8A-4147-A177-3AD203B41FA5}">
                      <a16:colId xmlns:a16="http://schemas.microsoft.com/office/drawing/2014/main" val="405903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Этап </a:t>
                      </a:r>
                      <a:r>
                        <a:rPr lang="en-US" sz="2200"/>
                        <a:t>STLC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Что выполняется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80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1. Анализ требований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Тестировщик изучает требования и определяет, что нужно проверить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6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2. Планирование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Определяются цели, сроки, ресурсы, инструменты и стратегия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81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3. Разработка тест-кейсов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Создаются тест-кейсы, чек-листы, тестовые сценарии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62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 dirty="0"/>
                        <a:t>4. Подготовка тестовой среды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Настраивается окружение, данные, инструменты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01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5. Выполнение тестов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Запускаются проверки, фиксируются результаты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3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6. Регистрация дефектов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Найденные ошибки оформляются как баг-репорты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97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7. Повторное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Проверяется, исправлены ли найденные дефекты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503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8. Закрытие цикла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 dirty="0"/>
                        <a:t>Формируется отчет, анализируются итоги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40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3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7509F-6306-4201-9596-BB6C0269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Связь </a:t>
            </a:r>
            <a:r>
              <a:rPr lang="en-US" dirty="0"/>
              <a:t>SDLC </a:t>
            </a:r>
            <a:r>
              <a:rPr lang="kk-KZ" dirty="0"/>
              <a:t>и </a:t>
            </a:r>
            <a:r>
              <a:rPr lang="en-US" dirty="0"/>
              <a:t>STLC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3F8E904-ED0E-4888-B854-D3144C5E5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555386"/>
              </p:ext>
            </p:extLst>
          </p:nvPr>
        </p:nvGraphicFramePr>
        <p:xfrm>
          <a:off x="705196" y="2472766"/>
          <a:ext cx="10515600" cy="413142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85408">
                  <a:extLst>
                    <a:ext uri="{9D8B030D-6E8A-4147-A177-3AD203B41FA5}">
                      <a16:colId xmlns:a16="http://schemas.microsoft.com/office/drawing/2014/main" val="960638955"/>
                    </a:ext>
                  </a:extLst>
                </a:gridCol>
                <a:gridCol w="7430192">
                  <a:extLst>
                    <a:ext uri="{9D8B030D-6E8A-4147-A177-3AD203B41FA5}">
                      <a16:colId xmlns:a16="http://schemas.microsoft.com/office/drawing/2014/main" val="3753890011"/>
                    </a:ext>
                  </a:extLst>
                </a:gridCol>
              </a:tblGrid>
              <a:tr h="472163">
                <a:tc>
                  <a:txBody>
                    <a:bodyPr/>
                    <a:lstStyle/>
                    <a:p>
                      <a:r>
                        <a:rPr lang="en-US" sz="2400"/>
                        <a:t>SDLC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STLC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856072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 dirty="0"/>
                        <a:t>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Анализ требований для тестирования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178905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/>
                        <a:t>Проектирование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Подготовка тестовой стратегии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599214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 dirty="0"/>
                        <a:t>Разработка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Подготовка тест-кейсов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19737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/>
                        <a:t>Сборка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Подготовка среды и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786209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Выполнение тестов и регистрация дефектов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076514"/>
                  </a:ext>
                </a:extLst>
              </a:tr>
              <a:tr h="472163">
                <a:tc>
                  <a:txBody>
                    <a:bodyPr/>
                    <a:lstStyle/>
                    <a:p>
                      <a:r>
                        <a:rPr lang="kk-KZ" sz="2400"/>
                        <a:t>Релиз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Итоговый отчет и критерии завершения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653833"/>
                  </a:ext>
                </a:extLst>
              </a:tr>
              <a:tr h="826286">
                <a:tc>
                  <a:txBody>
                    <a:bodyPr/>
                    <a:lstStyle/>
                    <a:p>
                      <a:r>
                        <a:rPr lang="kk-KZ" sz="2400"/>
                        <a:t>Поддержка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Регрессионное тестирование и проверка исправлений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3581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C2EE71D-23D2-403B-8E05-E26030B4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59" y="1272437"/>
            <a:ext cx="1115568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DLC отвечает на вопрос: Как создается программный продукт?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STLC отвечает на вопрос: Как проверяется программный продукт?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Они идут параллельно и связаны между собой.</a:t>
            </a:r>
          </a:p>
        </p:txBody>
      </p:sp>
    </p:spTree>
    <p:extLst>
      <p:ext uri="{BB962C8B-B14F-4D97-AF65-F5344CB8AC3E}">
        <p14:creationId xmlns:p14="http://schemas.microsoft.com/office/powerpoint/2010/main" val="258278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7509F-6306-4201-9596-BB6C0269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Связь </a:t>
            </a:r>
            <a:r>
              <a:rPr lang="en-US" dirty="0"/>
              <a:t>SDLC </a:t>
            </a:r>
            <a:r>
              <a:rPr lang="kk-KZ" dirty="0"/>
              <a:t>и </a:t>
            </a:r>
            <a:r>
              <a:rPr lang="en-US" dirty="0"/>
              <a:t>STLC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C2EE71D-23D2-403B-8E05-E26030B4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59" y="1272437"/>
            <a:ext cx="1115568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DLC отвечает на вопрос: Как создается программный продукт?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STLC отвечает на вопрос: Как проверяется программный продукт?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Они идут параллельно и связаны между собой.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242FAA-BFCC-40D8-B918-89C7CBC8A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8" y="2598000"/>
            <a:ext cx="11155681" cy="39977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Если на этапе требований написано:</a:t>
            </a:r>
            <a:br>
              <a:rPr lang="ru-RU" dirty="0"/>
            </a:br>
            <a:r>
              <a:rPr lang="ru-RU" b="1" dirty="0"/>
              <a:t>«Пользователь должен входить в систему по </a:t>
            </a:r>
            <a:r>
              <a:rPr lang="ru-RU" b="1" dirty="0" err="1"/>
              <a:t>email</a:t>
            </a:r>
            <a:r>
              <a:rPr lang="ru-RU" b="1" dirty="0"/>
              <a:t> и паролю»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то на этапе STLC тестировщик должен:</a:t>
            </a:r>
          </a:p>
          <a:p>
            <a:r>
              <a:rPr lang="ru-RU" dirty="0"/>
              <a:t>проверить корректный вход; </a:t>
            </a:r>
          </a:p>
          <a:p>
            <a:r>
              <a:rPr lang="ru-RU" dirty="0"/>
              <a:t>проверить неверный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проверить неверный пароль; </a:t>
            </a:r>
          </a:p>
          <a:p>
            <a:r>
              <a:rPr lang="ru-RU" dirty="0"/>
              <a:t>проверить пустые поля; </a:t>
            </a:r>
          </a:p>
          <a:p>
            <a:r>
              <a:rPr lang="ru-RU" dirty="0"/>
              <a:t>проверить заблокированного пользователя; </a:t>
            </a:r>
          </a:p>
          <a:p>
            <a:r>
              <a:rPr lang="ru-RU" dirty="0"/>
              <a:t>проверить сообщение об ошибке; </a:t>
            </a:r>
          </a:p>
          <a:p>
            <a:r>
              <a:rPr lang="ru-RU" dirty="0"/>
              <a:t>проверить безопасность хранения пароля.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7280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1" y="1825625"/>
            <a:ext cx="5620789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ru-RU" b="1" dirty="0"/>
              <a:t>Анализ требований</a:t>
            </a:r>
          </a:p>
          <a:p>
            <a:pPr marL="0" indent="0">
              <a:buNone/>
            </a:pPr>
            <a:r>
              <a:rPr lang="ru-RU" dirty="0"/>
              <a:t>На этом этапе тестировщик изучает:</a:t>
            </a:r>
          </a:p>
          <a:p>
            <a:r>
              <a:rPr lang="ru-RU" dirty="0"/>
              <a:t>техническое задание; </a:t>
            </a:r>
          </a:p>
          <a:p>
            <a:r>
              <a:rPr lang="ru-RU" dirty="0"/>
              <a:t>пользовательские истории; </a:t>
            </a:r>
          </a:p>
          <a:p>
            <a:r>
              <a:rPr lang="ru-RU" dirty="0"/>
              <a:t>макеты интерфейса; </a:t>
            </a:r>
          </a:p>
          <a:p>
            <a:r>
              <a:rPr lang="ru-RU" dirty="0"/>
              <a:t>бизнес-правила; </a:t>
            </a:r>
          </a:p>
          <a:p>
            <a:r>
              <a:rPr lang="ru-RU" dirty="0"/>
              <a:t>ограничения системы; </a:t>
            </a:r>
          </a:p>
          <a:p>
            <a:r>
              <a:rPr lang="ru-RU" dirty="0"/>
              <a:t>критерии приемки. </a:t>
            </a:r>
          </a:p>
          <a:p>
            <a:pPr marL="0" indent="0">
              <a:buNone/>
            </a:pPr>
            <a:r>
              <a:rPr lang="ru-RU" dirty="0"/>
              <a:t>Цель этапа — понять, что именно должна делать система и что нужно проверить.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C57B2A8-9AED-4B02-9DE4-6A6A66010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20788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Пример требований к форме регистрации:</a:t>
            </a:r>
          </a:p>
          <a:p>
            <a:r>
              <a:rPr lang="ru-RU" dirty="0" err="1"/>
              <a:t>Email</a:t>
            </a:r>
            <a:r>
              <a:rPr lang="ru-RU" dirty="0"/>
              <a:t> обязателен. </a:t>
            </a:r>
          </a:p>
          <a:p>
            <a:r>
              <a:rPr lang="ru-RU" dirty="0" err="1"/>
              <a:t>Email</a:t>
            </a:r>
            <a:r>
              <a:rPr lang="ru-RU" dirty="0"/>
              <a:t> должен быть в корректном формате. </a:t>
            </a:r>
          </a:p>
          <a:p>
            <a:r>
              <a:rPr lang="ru-RU" dirty="0"/>
              <a:t>Пароль должен содержать минимум 8 символов. </a:t>
            </a:r>
          </a:p>
          <a:p>
            <a:r>
              <a:rPr lang="ru-RU" dirty="0"/>
              <a:t>Поле «Имя» не должно быть пустым. </a:t>
            </a:r>
          </a:p>
          <a:p>
            <a:r>
              <a:rPr lang="ru-RU" dirty="0"/>
              <a:t>После успешной регистрации пользователь получает письмо подтверждения. </a:t>
            </a:r>
          </a:p>
          <a:p>
            <a:r>
              <a:rPr lang="ru-RU" dirty="0"/>
              <a:t>На основе этих требований тестировщик готовит проверки.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81907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1" y="1825625"/>
            <a:ext cx="562078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2. Планирование тестирования</a:t>
            </a:r>
          </a:p>
          <a:p>
            <a:pPr marL="0" indent="0">
              <a:buNone/>
            </a:pPr>
            <a:r>
              <a:rPr lang="ru-RU" dirty="0"/>
              <a:t>На этапе планирования определяются:</a:t>
            </a:r>
          </a:p>
          <a:p>
            <a:r>
              <a:rPr lang="ru-RU" dirty="0"/>
              <a:t>цель тестирования; </a:t>
            </a:r>
          </a:p>
          <a:p>
            <a:r>
              <a:rPr lang="ru-RU" dirty="0"/>
              <a:t>объем тестирования; </a:t>
            </a:r>
          </a:p>
          <a:p>
            <a:r>
              <a:rPr lang="ru-RU" dirty="0"/>
              <a:t>что будет тестироваться; </a:t>
            </a:r>
          </a:p>
          <a:p>
            <a:r>
              <a:rPr lang="ru-RU" dirty="0"/>
              <a:t>что не будет тестироваться; </a:t>
            </a:r>
          </a:p>
          <a:p>
            <a:r>
              <a:rPr lang="ru-RU" dirty="0"/>
              <a:t>сроки; </a:t>
            </a:r>
          </a:p>
          <a:p>
            <a:r>
              <a:rPr lang="ru-RU" dirty="0"/>
              <a:t>роли участников; </a:t>
            </a:r>
          </a:p>
          <a:p>
            <a:r>
              <a:rPr lang="ru-RU" dirty="0"/>
              <a:t>инструменты; </a:t>
            </a:r>
          </a:p>
          <a:p>
            <a:r>
              <a:rPr lang="ru-RU" dirty="0"/>
              <a:t>виды тестирования; </a:t>
            </a:r>
          </a:p>
          <a:p>
            <a:r>
              <a:rPr lang="ru-RU" dirty="0"/>
              <a:t>критерии начала и завершения; </a:t>
            </a:r>
          </a:p>
          <a:p>
            <a:r>
              <a:rPr lang="ru-RU" dirty="0"/>
              <a:t>риски.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C57B2A8-9AED-4B02-9DE4-6A6A66010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20788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 проверить форму регистрации пользователя.</a:t>
            </a:r>
            <a:br>
              <a:rPr lang="ru-RU" dirty="0"/>
            </a:br>
            <a:r>
              <a:rPr lang="ru-RU" b="1" dirty="0"/>
              <a:t>Объем:</a:t>
            </a:r>
            <a:r>
              <a:rPr lang="ru-RU" dirty="0"/>
              <a:t> поля имя, </a:t>
            </a:r>
            <a:r>
              <a:rPr lang="ru-RU" dirty="0" err="1"/>
              <a:t>email</a:t>
            </a:r>
            <a:r>
              <a:rPr lang="ru-RU" dirty="0"/>
              <a:t>, пароль, подтверждение пароля, кнопка регистрации.</a:t>
            </a:r>
            <a:br>
              <a:rPr lang="ru-RU" dirty="0"/>
            </a:br>
            <a:r>
              <a:rPr lang="ru-RU" b="1" dirty="0"/>
              <a:t>Виды тестирования:</a:t>
            </a:r>
            <a:r>
              <a:rPr lang="ru-RU" dirty="0"/>
              <a:t> функциональное, негативное, UI, </a:t>
            </a:r>
            <a:r>
              <a:rPr lang="ru-RU" dirty="0" err="1"/>
              <a:t>кроссбраузерное</a:t>
            </a:r>
            <a:r>
              <a:rPr lang="ru-RU" dirty="0"/>
              <a:t>.</a:t>
            </a:r>
            <a:br>
              <a:rPr lang="ru-RU" dirty="0"/>
            </a:br>
            <a:r>
              <a:rPr lang="ru-RU" b="1" dirty="0"/>
              <a:t>Инструменты:</a:t>
            </a:r>
            <a:r>
              <a:rPr lang="ru-RU" dirty="0"/>
              <a:t> браузер, </a:t>
            </a:r>
            <a:r>
              <a:rPr lang="ru-RU" dirty="0" err="1"/>
              <a:t>DevTools</a:t>
            </a:r>
            <a:r>
              <a:rPr lang="ru-RU" dirty="0"/>
              <a:t>, </a:t>
            </a:r>
            <a:r>
              <a:rPr lang="ru-RU" dirty="0" err="1"/>
              <a:t>TestRail</a:t>
            </a:r>
            <a:r>
              <a:rPr lang="ru-RU" dirty="0"/>
              <a:t>/</a:t>
            </a:r>
            <a:r>
              <a:rPr lang="ru-RU" dirty="0" err="1"/>
              <a:t>Qase</a:t>
            </a:r>
            <a:r>
              <a:rPr lang="ru-RU" dirty="0"/>
              <a:t>, </a:t>
            </a:r>
            <a:r>
              <a:rPr lang="ru-RU" dirty="0" err="1"/>
              <a:t>Jira</a:t>
            </a:r>
            <a:r>
              <a:rPr lang="ru-RU" dirty="0"/>
              <a:t>.</a:t>
            </a:r>
            <a:br>
              <a:rPr lang="ru-RU" dirty="0"/>
            </a:br>
            <a:r>
              <a:rPr lang="ru-RU" b="1" dirty="0"/>
              <a:t>Критерий завершения:</a:t>
            </a:r>
            <a:r>
              <a:rPr lang="ru-RU" dirty="0"/>
              <a:t> все критичные дефекты исправлены, основные тесты пройдены.</a:t>
            </a:r>
          </a:p>
        </p:txBody>
      </p:sp>
    </p:spTree>
    <p:extLst>
      <p:ext uri="{BB962C8B-B14F-4D97-AF65-F5344CB8AC3E}">
        <p14:creationId xmlns:p14="http://schemas.microsoft.com/office/powerpoint/2010/main" val="6495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1" y="1825625"/>
            <a:ext cx="56207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3. Разработка тестовой документации</a:t>
            </a:r>
          </a:p>
          <a:p>
            <a:pPr marL="0" indent="0">
              <a:buNone/>
            </a:pPr>
            <a:r>
              <a:rPr lang="ru-RU" dirty="0"/>
              <a:t>На этом этапе создаются:</a:t>
            </a:r>
          </a:p>
          <a:p>
            <a:r>
              <a:rPr lang="ru-RU" dirty="0"/>
              <a:t>тест-кейсы; </a:t>
            </a:r>
          </a:p>
          <a:p>
            <a:r>
              <a:rPr lang="ru-RU" dirty="0"/>
              <a:t>чек-листы; </a:t>
            </a:r>
          </a:p>
          <a:p>
            <a:r>
              <a:rPr lang="ru-RU" dirty="0"/>
              <a:t>тестовые сценарии; </a:t>
            </a:r>
          </a:p>
          <a:p>
            <a:r>
              <a:rPr lang="ru-RU" dirty="0"/>
              <a:t>тестовые данные; </a:t>
            </a:r>
          </a:p>
          <a:p>
            <a:r>
              <a:rPr lang="ru-RU" dirty="0"/>
              <a:t>матрица </a:t>
            </a:r>
            <a:r>
              <a:rPr lang="ru-RU" dirty="0" err="1"/>
              <a:t>трассируемости</a:t>
            </a:r>
            <a:r>
              <a:rPr lang="ru-RU" dirty="0"/>
              <a:t>; </a:t>
            </a:r>
          </a:p>
          <a:p>
            <a:r>
              <a:rPr lang="ru-RU" dirty="0"/>
              <a:t>тест-план.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77F4DE5-4DF2-4691-8248-60A01ABC93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6580940"/>
              </p:ext>
            </p:extLst>
          </p:nvPr>
        </p:nvGraphicFramePr>
        <p:xfrm>
          <a:off x="5191297" y="1825625"/>
          <a:ext cx="6601690" cy="46824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3779">
                  <a:extLst>
                    <a:ext uri="{9D8B030D-6E8A-4147-A177-3AD203B41FA5}">
                      <a16:colId xmlns:a16="http://schemas.microsoft.com/office/drawing/2014/main" val="4214334409"/>
                    </a:ext>
                  </a:extLst>
                </a:gridCol>
                <a:gridCol w="4427911">
                  <a:extLst>
                    <a:ext uri="{9D8B030D-6E8A-4147-A177-3AD203B41FA5}">
                      <a16:colId xmlns:a16="http://schemas.microsoft.com/office/drawing/2014/main" val="1396603242"/>
                    </a:ext>
                  </a:extLst>
                </a:gridCol>
              </a:tblGrid>
              <a:tr h="195525">
                <a:tc>
                  <a:txBody>
                    <a:bodyPr/>
                    <a:lstStyle/>
                    <a:p>
                      <a:r>
                        <a:rPr lang="kk-KZ" sz="2400"/>
                        <a:t>Поле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3466490378"/>
                  </a:ext>
                </a:extLst>
              </a:tr>
              <a:tr h="195525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TC-REG-001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3406075736"/>
                  </a:ext>
                </a:extLst>
              </a:tr>
              <a:tr h="195525">
                <a:tc>
                  <a:txBody>
                    <a:bodyPr/>
                    <a:lstStyle/>
                    <a:p>
                      <a:r>
                        <a:rPr lang="kk-KZ" sz="2400"/>
                        <a:t>Название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Успешная регистрация пользователя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330843898"/>
                  </a:ext>
                </a:extLst>
              </a:tr>
              <a:tr h="195525">
                <a:tc>
                  <a:txBody>
                    <a:bodyPr/>
                    <a:lstStyle/>
                    <a:p>
                      <a:r>
                        <a:rPr lang="kk-KZ" sz="2400"/>
                        <a:t>Предусловие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находится на странице регистрации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136872559"/>
                  </a:ext>
                </a:extLst>
              </a:tr>
              <a:tr h="342168">
                <a:tc>
                  <a:txBody>
                    <a:bodyPr/>
                    <a:lstStyle/>
                    <a:p>
                      <a:r>
                        <a:rPr lang="kk-KZ" sz="2400" dirty="0"/>
                        <a:t>Шаги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Ввести имя, email, пароль, подтверждение пароля, нажать «Зарегистрироваться»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1679083983"/>
                  </a:ext>
                </a:extLst>
              </a:tr>
              <a:tr h="342168"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marL="48881" marR="48881" marT="24441" marB="24441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Пользователь зарегистрирован, отображается сообщение об успехе</a:t>
                      </a:r>
                    </a:p>
                  </a:txBody>
                  <a:tcPr marL="48881" marR="48881" marT="24441" marB="24441" anchor="ctr"/>
                </a:tc>
                <a:extLst>
                  <a:ext uri="{0D108BD9-81ED-4DB2-BD59-A6C34878D82A}">
                    <a16:rowId xmlns:a16="http://schemas.microsoft.com/office/drawing/2014/main" val="246884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60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2" y="1825625"/>
            <a:ext cx="5885410" cy="466725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600" b="1" dirty="0"/>
              <a:t>4. Подготовка тестовой среды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b="1" dirty="0"/>
              <a:t>Тестовая среда</a:t>
            </a:r>
            <a:r>
              <a:rPr lang="ru-RU" sz="2600" dirty="0"/>
              <a:t> — это окружение, где проводится тестирование.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/>
              <a:t>Она может включать: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операционную систему;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браузер;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версию приложения;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базу данных;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сервер;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тестовые аккаунты;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тестовые данные;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инструменты тестирования;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настройки сети.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AE289F2-9FFC-499B-8DA9-AC307149F4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14407899"/>
              </p:ext>
            </p:extLst>
          </p:nvPr>
        </p:nvGraphicFramePr>
        <p:xfrm>
          <a:off x="6550428" y="1825625"/>
          <a:ext cx="5242559" cy="28757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8307">
                  <a:extLst>
                    <a:ext uri="{9D8B030D-6E8A-4147-A177-3AD203B41FA5}">
                      <a16:colId xmlns:a16="http://schemas.microsoft.com/office/drawing/2014/main" val="2543673032"/>
                    </a:ext>
                  </a:extLst>
                </a:gridCol>
                <a:gridCol w="3214252">
                  <a:extLst>
                    <a:ext uri="{9D8B030D-6E8A-4147-A177-3AD203B41FA5}">
                      <a16:colId xmlns:a16="http://schemas.microsoft.com/office/drawing/2014/main" val="1861480686"/>
                    </a:ext>
                  </a:extLst>
                </a:gridCol>
              </a:tblGrid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Компонент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93036285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ОС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Windows 10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42054705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Браузер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Chrome, Firefox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27789027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Сервер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 environment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895832939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База данных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PostgreSQL test DB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14073373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Инструменты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DevTools, Postman, Jira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326970319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Данные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Тестовые пользователи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01170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50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2" y="1825625"/>
            <a:ext cx="5885410" cy="466725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600" b="1" dirty="0"/>
              <a:t>4. Подготовка тестовой среды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b="1" dirty="0"/>
              <a:t>Тестовая среда</a:t>
            </a:r>
            <a:r>
              <a:rPr lang="ru-RU" sz="2600" dirty="0"/>
              <a:t> — это окружение, где проводится тестирование.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/>
              <a:t>Она может включать: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операционную систему;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браузер;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версию приложения;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базу данных;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сервер;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тестовые аккаунты;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тестовые данные;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инструменты тестирования;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настройки сети.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AE289F2-9FFC-499B-8DA9-AC307149F40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550428" y="1825625"/>
          <a:ext cx="5242559" cy="28757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8307">
                  <a:extLst>
                    <a:ext uri="{9D8B030D-6E8A-4147-A177-3AD203B41FA5}">
                      <a16:colId xmlns:a16="http://schemas.microsoft.com/office/drawing/2014/main" val="2543673032"/>
                    </a:ext>
                  </a:extLst>
                </a:gridCol>
                <a:gridCol w="3214252">
                  <a:extLst>
                    <a:ext uri="{9D8B030D-6E8A-4147-A177-3AD203B41FA5}">
                      <a16:colId xmlns:a16="http://schemas.microsoft.com/office/drawing/2014/main" val="1861480686"/>
                    </a:ext>
                  </a:extLst>
                </a:gridCol>
              </a:tblGrid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Компонент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93036285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ОС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Windows 10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42054705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Браузер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Chrome, Firefox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27789027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Сервер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 environment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895832939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База данных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PostgreSQL test DB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14073373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Инструменты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DevTools, Postman, Jira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326970319"/>
                  </a:ext>
                </a:extLst>
              </a:tr>
              <a:tr h="394714">
                <a:tc>
                  <a:txBody>
                    <a:bodyPr/>
                    <a:lstStyle/>
                    <a:p>
                      <a:r>
                        <a:rPr lang="kk-KZ" sz="2400"/>
                        <a:t>Данные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Тестовые пользователи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01170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49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2" y="1825625"/>
            <a:ext cx="588541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5. </a:t>
            </a:r>
            <a:r>
              <a:rPr lang="ru-RU" b="1" dirty="0"/>
              <a:t>Выполнение тестов</a:t>
            </a:r>
          </a:p>
          <a:p>
            <a:r>
              <a:rPr lang="ru-RU" dirty="0"/>
              <a:t>На этом этапе тестировщик выполняет проверки:</a:t>
            </a:r>
          </a:p>
          <a:p>
            <a:r>
              <a:rPr lang="ru-RU" dirty="0"/>
              <a:t>по тест-кейсам; </a:t>
            </a:r>
          </a:p>
          <a:p>
            <a:r>
              <a:rPr lang="ru-RU" dirty="0"/>
              <a:t>по чек-листам; </a:t>
            </a:r>
          </a:p>
          <a:p>
            <a:r>
              <a:rPr lang="ru-RU" dirty="0"/>
              <a:t>исследовательским способом; </a:t>
            </a:r>
          </a:p>
          <a:p>
            <a:r>
              <a:rPr lang="ru-RU" dirty="0"/>
              <a:t>вручную или с помощью инструментов.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F05B6BB-2724-4997-9963-6A13C6243B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kk-KZ" dirty="0"/>
              <a:t>Результаты фиксируются:</a:t>
            </a:r>
          </a:p>
          <a:p>
            <a:r>
              <a:rPr lang="en-US" dirty="0"/>
              <a:t>Passed — </a:t>
            </a:r>
            <a:r>
              <a:rPr lang="kk-KZ" dirty="0"/>
              <a:t>тест пройден; </a:t>
            </a:r>
          </a:p>
          <a:p>
            <a:r>
              <a:rPr lang="en-US" dirty="0"/>
              <a:t>Failed — </a:t>
            </a:r>
            <a:r>
              <a:rPr lang="kk-KZ" dirty="0"/>
              <a:t>тест не пройден; </a:t>
            </a:r>
          </a:p>
          <a:p>
            <a:r>
              <a:rPr lang="en-US" dirty="0"/>
              <a:t>Blocked — </a:t>
            </a:r>
            <a:r>
              <a:rPr lang="kk-KZ" dirty="0"/>
              <a:t>тест заблокирован; </a:t>
            </a:r>
          </a:p>
          <a:p>
            <a:r>
              <a:rPr lang="en-US" dirty="0"/>
              <a:t>Skipped — </a:t>
            </a:r>
            <a:r>
              <a:rPr lang="kk-KZ" dirty="0"/>
              <a:t>тест пропущен; </a:t>
            </a:r>
          </a:p>
          <a:p>
            <a:r>
              <a:rPr lang="en-US" dirty="0"/>
              <a:t>Not run — </a:t>
            </a:r>
            <a:r>
              <a:rPr lang="kk-KZ" dirty="0"/>
              <a:t>тест еще не запускался.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6055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3F439-61A5-4B24-A92A-58ADD0AF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AAAF479-D6BF-40AE-9E5F-F55450E09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1509377"/>
              </p:ext>
            </p:extLst>
          </p:nvPr>
        </p:nvGraphicFramePr>
        <p:xfrm>
          <a:off x="3061855" y="1920875"/>
          <a:ext cx="8941723" cy="457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76398">
                  <a:extLst>
                    <a:ext uri="{9D8B030D-6E8A-4147-A177-3AD203B41FA5}">
                      <a16:colId xmlns:a16="http://schemas.microsoft.com/office/drawing/2014/main" val="1175825650"/>
                    </a:ext>
                  </a:extLst>
                </a:gridCol>
                <a:gridCol w="5265325">
                  <a:extLst>
                    <a:ext uri="{9D8B030D-6E8A-4147-A177-3AD203B41FA5}">
                      <a16:colId xmlns:a16="http://schemas.microsoft.com/office/drawing/2014/main" val="633051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Содержание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89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Уникальный номер дефекта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527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Заголовок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Краткое описание проблемы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12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Окружение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ОС, браузер, версия приложения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374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Шаги воспроизведения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Как повторить ошибку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701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Фактический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Что произошло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19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Что должно было произойти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55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Серьезность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Насколько ошибка влияет на систему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33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Приоритет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Насколько срочно исправлять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59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Скриншоты / логи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Доказательства дефекта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87004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EF858B0-60FE-4FA1-BB42-23D864DD8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1" y="2527877"/>
            <a:ext cx="259357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Регистрация дефектов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Если фактический результат не совпадает с ожидаемым, оформляется баг-репорт.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Баг-репорт обычно содержит:</a:t>
            </a:r>
          </a:p>
        </p:txBody>
      </p:sp>
    </p:spTree>
    <p:extLst>
      <p:ext uri="{BB962C8B-B14F-4D97-AF65-F5344CB8AC3E}">
        <p14:creationId xmlns:p14="http://schemas.microsoft.com/office/powerpoint/2010/main" val="204300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74C65-F67D-4B78-84A9-E52C136A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7" y="365125"/>
            <a:ext cx="11255433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FBFA99-3124-4578-9F83-F2EA65321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83" y="1690688"/>
            <a:ext cx="11255433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/>
              <a:t>7. Повторное тестирование и регрессия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После исправления дефекта проводится:</a:t>
            </a:r>
            <a:r>
              <a:rPr lang="en-US" sz="2200" dirty="0"/>
              <a:t> </a:t>
            </a:r>
            <a:r>
              <a:rPr lang="ru-RU" sz="2200" b="1" dirty="0" err="1"/>
              <a:t>Retesting</a:t>
            </a:r>
            <a:r>
              <a:rPr lang="ru-RU" sz="2200" b="1" dirty="0"/>
              <a:t> — повторное тестирование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Проверяется конкретный исправленный дефект.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Пример: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Была ошибка: пользователь не может зарегистрироваться с корректным </a:t>
            </a:r>
            <a:r>
              <a:rPr lang="ru-RU" sz="2200" dirty="0" err="1"/>
              <a:t>email</a:t>
            </a:r>
            <a:r>
              <a:rPr lang="ru-RU" sz="2200" dirty="0"/>
              <a:t>.</a:t>
            </a:r>
            <a:br>
              <a:rPr lang="ru-RU" sz="2200" dirty="0"/>
            </a:br>
            <a:r>
              <a:rPr lang="ru-RU" sz="2200" dirty="0"/>
              <a:t>Разработчик исправил код.</a:t>
            </a:r>
            <a:br>
              <a:rPr lang="ru-RU" sz="2200" dirty="0"/>
            </a:br>
            <a:r>
              <a:rPr lang="ru-RU" sz="2200" dirty="0"/>
              <a:t>Тестировщик повторяет те же шаги и проверяет, устранена ли ошибка.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 err="1"/>
              <a:t>Regression</a:t>
            </a:r>
            <a:r>
              <a:rPr lang="ru-RU" sz="2200" b="1" dirty="0"/>
              <a:t> </a:t>
            </a:r>
            <a:r>
              <a:rPr lang="ru-RU" sz="2200" b="1" dirty="0" err="1"/>
              <a:t>testing</a:t>
            </a:r>
            <a:r>
              <a:rPr lang="ru-RU" sz="2200" b="1" dirty="0"/>
              <a:t> — регрессионное тестирование</a:t>
            </a:r>
            <a:r>
              <a:rPr lang="en-US" sz="2200" b="1" dirty="0"/>
              <a:t>. </a:t>
            </a:r>
            <a:r>
              <a:rPr lang="ru-RU" sz="2200" dirty="0"/>
              <a:t>Проверяется, не сломало ли исправление другие части системы.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Пример: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После исправления регистрации нужно проверить: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авторизацию;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восстановление пароля;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профиль пользователя;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отправку </a:t>
            </a:r>
            <a:r>
              <a:rPr lang="ru-RU" sz="2200" dirty="0" err="1"/>
              <a:t>email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5186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9012" y="1825625"/>
            <a:ext cx="588541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8. Анализ результатов</a:t>
            </a:r>
          </a:p>
          <a:p>
            <a:pPr marL="0" indent="0">
              <a:buNone/>
            </a:pPr>
            <a:r>
              <a:rPr lang="ru-RU" dirty="0"/>
              <a:t>После выполнения тестов анализируются:</a:t>
            </a:r>
          </a:p>
          <a:p>
            <a:r>
              <a:rPr lang="ru-RU" dirty="0"/>
              <a:t>сколько тестов пройдено; </a:t>
            </a:r>
          </a:p>
          <a:p>
            <a:r>
              <a:rPr lang="ru-RU" dirty="0"/>
              <a:t>сколько тестов упало; </a:t>
            </a:r>
          </a:p>
          <a:p>
            <a:r>
              <a:rPr lang="ru-RU" dirty="0"/>
              <a:t>сколько дефектов найдено; </a:t>
            </a:r>
          </a:p>
          <a:p>
            <a:r>
              <a:rPr lang="ru-RU" dirty="0"/>
              <a:t>какие дефекты критичные; </a:t>
            </a:r>
          </a:p>
          <a:p>
            <a:r>
              <a:rPr lang="ru-RU" dirty="0"/>
              <a:t>какие функции не готовы; </a:t>
            </a:r>
          </a:p>
          <a:p>
            <a:r>
              <a:rPr lang="ru-RU" dirty="0"/>
              <a:t>есть ли блокирующие проблемы; </a:t>
            </a:r>
          </a:p>
          <a:p>
            <a:r>
              <a:rPr lang="ru-RU" dirty="0"/>
              <a:t>можно ли выпускать продукт.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3BF68B4-BEA7-47E9-A809-A87B725EB2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84156367"/>
              </p:ext>
            </p:extLst>
          </p:nvPr>
        </p:nvGraphicFramePr>
        <p:xfrm>
          <a:off x="5956068" y="1950367"/>
          <a:ext cx="5698376" cy="33024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19947">
                  <a:extLst>
                    <a:ext uri="{9D8B030D-6E8A-4147-A177-3AD203B41FA5}">
                      <a16:colId xmlns:a16="http://schemas.microsoft.com/office/drawing/2014/main" val="2686399271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2487114419"/>
                    </a:ext>
                  </a:extLst>
                </a:gridCol>
              </a:tblGrid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Показатель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k-KZ" sz="2800"/>
                        <a:t>Значение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38808341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Всего тест-кейсов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/>
                        <a:t>100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60954772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Пройдено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/>
                        <a:t>82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224512574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Провалено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/>
                        <a:t>12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99595993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Заблокировано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/>
                        <a:t>6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532786326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 dirty="0"/>
                        <a:t>Найдено дефектов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/>
                        <a:t>18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942042790"/>
                  </a:ext>
                </a:extLst>
              </a:tr>
              <a:tr h="284267">
                <a:tc>
                  <a:txBody>
                    <a:bodyPr/>
                    <a:lstStyle/>
                    <a:p>
                      <a:r>
                        <a:rPr lang="kk-KZ" sz="2800"/>
                        <a:t>Критичных дефектов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800" dirty="0"/>
                        <a:t>2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41681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983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974DE-0AF9-492E-BD1B-C3DE1388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процесса тестирования программного модуля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E25142-EF28-4307-B904-09F0DAAF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/>
              <a:t>9. Оформление результатов тестирования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Результаты тестирования оформляются в виде отчета.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Отчет может содержать: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цель тестирования;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объект тестирования;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тестовую среду;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список выполненных тестов;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результаты прохождения;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найденные дефекты;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метрики;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риски;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вывод о готовности продукта;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рекомендации.</a:t>
            </a:r>
          </a:p>
        </p:txBody>
      </p:sp>
    </p:spTree>
    <p:extLst>
      <p:ext uri="{BB962C8B-B14F-4D97-AF65-F5344CB8AC3E}">
        <p14:creationId xmlns:p14="http://schemas.microsoft.com/office/powerpoint/2010/main" val="1078315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D3611-1959-467B-BC03-32501EE6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Роли в процессе тестирования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EAE7088-B022-428B-8000-A5C05EB278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283872"/>
              </p:ext>
            </p:extLst>
          </p:nvPr>
        </p:nvGraphicFramePr>
        <p:xfrm>
          <a:off x="838200" y="1372235"/>
          <a:ext cx="10515600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66556">
                  <a:extLst>
                    <a:ext uri="{9D8B030D-6E8A-4147-A177-3AD203B41FA5}">
                      <a16:colId xmlns:a16="http://schemas.microsoft.com/office/drawing/2014/main" val="1647670874"/>
                    </a:ext>
                  </a:extLst>
                </a:gridCol>
                <a:gridCol w="6549044">
                  <a:extLst>
                    <a:ext uri="{9D8B030D-6E8A-4147-A177-3AD203B41FA5}">
                      <a16:colId xmlns:a16="http://schemas.microsoft.com/office/drawing/2014/main" val="3612089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Ответственность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4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QA-</a:t>
                      </a:r>
                      <a:r>
                        <a:rPr lang="kk-KZ" sz="2400" b="1" dirty="0"/>
                        <a:t>инженер / тестировщик</a:t>
                      </a:r>
                      <a:endParaRPr lang="kk-KZ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Анализирует требования, пишет тесты, выполняет проверки, оформляет дефекты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981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b="1"/>
                        <a:t>Разработчик</a:t>
                      </a:r>
                      <a:endParaRPr lang="kk-KZ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Исправляет дефекты, пишет </a:t>
                      </a:r>
                      <a:r>
                        <a:rPr lang="en-US" sz="2400" dirty="0"/>
                        <a:t>unit-</a:t>
                      </a:r>
                      <a:r>
                        <a:rPr lang="kk-KZ" sz="2400" dirty="0"/>
                        <a:t>тесты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097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b="1"/>
                        <a:t>Бизнес-аналитик</a:t>
                      </a:r>
                      <a:endParaRPr lang="kk-KZ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Описывает требования и уточняет бизнес-логику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57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Project Manager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Планирует сроки, ресурсы и контролирует процесс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844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Product Owner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Определяет приоритеты продукта и критерии приемки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212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DevOps-</a:t>
                      </a:r>
                      <a:r>
                        <a:rPr lang="kk-KZ" sz="2400" b="1"/>
                        <a:t>инженер</a:t>
                      </a:r>
                      <a:endParaRPr lang="kk-KZ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Настраивает окружение, CI/CD, серверы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278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b="1"/>
                        <a:t>Заказчик / пользователь</a:t>
                      </a:r>
                      <a:endParaRPr lang="kk-KZ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Участвует в приемочном тестировании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89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776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B2E2B5-0907-4D5A-8B37-657BD4EF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полного процесса тестирования</a:t>
            </a:r>
            <a:r>
              <a:rPr lang="ru-KZ" dirty="0"/>
              <a:t> «</a:t>
            </a:r>
            <a:r>
              <a:rPr lang="kk-KZ" dirty="0"/>
              <a:t>Авторизация пользователя</a:t>
            </a:r>
            <a:r>
              <a:rPr lang="ru-KZ" dirty="0"/>
              <a:t>»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6B42E2-9ABC-4B57-A243-6C885A4290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Этап 1. Анализ требований</a:t>
            </a:r>
          </a:p>
          <a:p>
            <a:pPr marL="0" indent="0">
              <a:buNone/>
            </a:pPr>
            <a:r>
              <a:rPr lang="ru-RU" dirty="0"/>
              <a:t>Требования:</a:t>
            </a:r>
          </a:p>
          <a:p>
            <a:r>
              <a:rPr lang="ru-RU" dirty="0"/>
              <a:t>пользователь входит по </a:t>
            </a:r>
            <a:r>
              <a:rPr lang="ru-RU" dirty="0" err="1"/>
              <a:t>email</a:t>
            </a:r>
            <a:r>
              <a:rPr lang="ru-RU" dirty="0"/>
              <a:t> и паролю; </a:t>
            </a:r>
          </a:p>
          <a:p>
            <a:r>
              <a:rPr lang="ru-RU" dirty="0"/>
              <a:t>пустые поля запрещены; </a:t>
            </a:r>
          </a:p>
          <a:p>
            <a:r>
              <a:rPr lang="ru-RU" dirty="0"/>
              <a:t>при неверных данных выводится ошибка; </a:t>
            </a:r>
          </a:p>
          <a:p>
            <a:r>
              <a:rPr lang="ru-RU" dirty="0"/>
              <a:t>после 5 неудачных попыток аккаунт блокируется; </a:t>
            </a:r>
          </a:p>
          <a:p>
            <a:r>
              <a:rPr lang="ru-RU" dirty="0"/>
              <a:t>пароль должен быть скрыт.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978166-9D85-4A5B-AF39-9810A7C183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Этап 2. Планирование</a:t>
            </a:r>
          </a:p>
          <a:p>
            <a:pPr marL="0" indent="0">
              <a:buNone/>
            </a:pPr>
            <a:r>
              <a:rPr lang="ru-RU" dirty="0"/>
              <a:t>Проверить:</a:t>
            </a:r>
          </a:p>
          <a:p>
            <a:r>
              <a:rPr lang="ru-RU" dirty="0"/>
              <a:t>позитивный вход; </a:t>
            </a:r>
          </a:p>
          <a:p>
            <a:r>
              <a:rPr lang="ru-RU" dirty="0"/>
              <a:t>негативный вход; </a:t>
            </a:r>
          </a:p>
          <a:p>
            <a:r>
              <a:rPr lang="ru-RU" dirty="0"/>
              <a:t>пустые поля; </a:t>
            </a:r>
          </a:p>
          <a:p>
            <a:r>
              <a:rPr lang="ru-RU" dirty="0"/>
              <a:t>блокировку; </a:t>
            </a:r>
          </a:p>
          <a:p>
            <a:r>
              <a:rPr lang="ru-RU" dirty="0"/>
              <a:t>UI; </a:t>
            </a:r>
          </a:p>
          <a:p>
            <a:r>
              <a:rPr lang="ru-RU" dirty="0"/>
              <a:t>безопасность пароля.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1295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B2E2B5-0907-4D5A-8B37-657BD4EF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полного процесса тестирования</a:t>
            </a:r>
            <a:r>
              <a:rPr lang="ru-KZ" dirty="0"/>
              <a:t> «</a:t>
            </a:r>
            <a:r>
              <a:rPr lang="kk-KZ" dirty="0"/>
              <a:t>Авторизация пользователя</a:t>
            </a:r>
            <a:r>
              <a:rPr lang="ru-KZ" dirty="0"/>
              <a:t>»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6B42E2-9ABC-4B57-A243-6C885A4290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Этап 3. Тест-кейсы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r>
              <a:rPr lang="ru-RU" dirty="0"/>
              <a:t>Вход с корректным </a:t>
            </a:r>
            <a:r>
              <a:rPr lang="ru-RU" dirty="0" err="1"/>
              <a:t>email</a:t>
            </a:r>
            <a:r>
              <a:rPr lang="ru-RU" dirty="0"/>
              <a:t> и паролем. </a:t>
            </a:r>
          </a:p>
          <a:p>
            <a:r>
              <a:rPr lang="ru-RU" dirty="0"/>
              <a:t>Вход с неверным паролем. </a:t>
            </a:r>
          </a:p>
          <a:p>
            <a:r>
              <a:rPr lang="ru-RU" dirty="0"/>
              <a:t>Вход с пустым </a:t>
            </a:r>
            <a:r>
              <a:rPr lang="ru-RU" dirty="0" err="1"/>
              <a:t>email</a:t>
            </a:r>
            <a:r>
              <a:rPr lang="ru-RU" dirty="0"/>
              <a:t>. </a:t>
            </a:r>
          </a:p>
          <a:p>
            <a:r>
              <a:rPr lang="ru-RU" dirty="0"/>
              <a:t>Вход с пустым паролем. </a:t>
            </a:r>
          </a:p>
          <a:p>
            <a:r>
              <a:rPr lang="ru-RU" dirty="0"/>
              <a:t>Блокировка после 5 попыток.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978166-9D85-4A5B-AF39-9810A7C183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Этап 4. Среда</a:t>
            </a:r>
          </a:p>
          <a:p>
            <a:r>
              <a:rPr lang="ru-RU" dirty="0" err="1"/>
              <a:t>Chrome</a:t>
            </a:r>
            <a:r>
              <a:rPr lang="ru-RU" dirty="0"/>
              <a:t>; </a:t>
            </a:r>
          </a:p>
          <a:p>
            <a:r>
              <a:rPr lang="ru-RU" dirty="0" err="1"/>
              <a:t>Windows</a:t>
            </a:r>
            <a:r>
              <a:rPr lang="ru-RU" dirty="0"/>
              <a:t> 10; </a:t>
            </a:r>
          </a:p>
          <a:p>
            <a:r>
              <a:rPr lang="ru-RU" dirty="0"/>
              <a:t>тестовый сервер; </a:t>
            </a:r>
          </a:p>
          <a:p>
            <a:r>
              <a:rPr lang="ru-RU" dirty="0"/>
              <a:t>тестовый аккаунт; </a:t>
            </a:r>
          </a:p>
          <a:p>
            <a:r>
              <a:rPr lang="ru-RU" dirty="0" err="1"/>
              <a:t>DevTools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27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B2E2B5-0907-4D5A-8B37-657BD4EF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полного процесса тестирования</a:t>
            </a:r>
            <a:r>
              <a:rPr lang="ru-KZ" dirty="0"/>
              <a:t> «</a:t>
            </a:r>
            <a:r>
              <a:rPr lang="kk-KZ" dirty="0"/>
              <a:t>Авторизация пользователя</a:t>
            </a:r>
            <a:r>
              <a:rPr lang="ru-KZ" dirty="0"/>
              <a:t>»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978166-9D85-4A5B-AF39-9810A7C18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82244" cy="485780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/>
              <a:t>Этап 8. </a:t>
            </a:r>
            <a:r>
              <a:rPr lang="ru-RU" b="1" dirty="0" err="1"/>
              <a:t>Regression</a:t>
            </a:r>
            <a:endParaRPr lang="ru-RU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Проверяются другие функции: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успешный вход;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восстановление пароля;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выход из аккаунта.</a:t>
            </a:r>
            <a:endParaRPr lang="ru-KZ" dirty="0"/>
          </a:p>
          <a:p>
            <a:pPr marL="0" indent="0">
              <a:buNone/>
            </a:pPr>
            <a:r>
              <a:rPr lang="ru-RU" b="1" dirty="0"/>
              <a:t>Этап 9. Отчет</a:t>
            </a:r>
          </a:p>
          <a:p>
            <a:pPr marL="0" indent="0">
              <a:buNone/>
            </a:pPr>
            <a:r>
              <a:rPr lang="ru-RU" dirty="0"/>
              <a:t>Формируется отчет:</a:t>
            </a:r>
          </a:p>
          <a:p>
            <a:r>
              <a:rPr lang="ru-RU" dirty="0"/>
              <a:t>5 тестов выполнено; </a:t>
            </a:r>
          </a:p>
          <a:p>
            <a:r>
              <a:rPr lang="ru-RU" dirty="0"/>
              <a:t>4 пройдено; </a:t>
            </a:r>
          </a:p>
          <a:p>
            <a:r>
              <a:rPr lang="ru-RU" dirty="0"/>
              <a:t>1 дефект найден и исправлен; </a:t>
            </a:r>
          </a:p>
          <a:p>
            <a:r>
              <a:rPr lang="ru-RU" dirty="0"/>
              <a:t>критичных дефектов нет; </a:t>
            </a:r>
          </a:p>
          <a:p>
            <a:r>
              <a:rPr lang="ru-RU" dirty="0"/>
              <a:t>модуль готов.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960F7A-32B2-41AC-92D6-1BA6FCBA04D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39682" y="1825625"/>
            <a:ext cx="491420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5. Выполнение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Тестировщик выполняет тест-кейсы и фиксирует результаты.</a:t>
            </a:r>
            <a:endParaRPr kumimoji="0" lang="ru-KZ" altLang="ru-K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6. Дефекты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Найден дефект: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После 5 неверных попыток аккаунт не блокируется.</a:t>
            </a:r>
            <a:endParaRPr kumimoji="0" lang="ru-KZ" altLang="ru-K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7.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Retesting</a:t>
            </a:r>
            <a:endParaRPr kumimoji="0" lang="ru-KZ" altLang="ru-K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После исправления тестировщик повторяет проверку блокировки.</a:t>
            </a:r>
          </a:p>
        </p:txBody>
      </p:sp>
    </p:spTree>
    <p:extLst>
      <p:ext uri="{BB962C8B-B14F-4D97-AF65-F5344CB8AC3E}">
        <p14:creationId xmlns:p14="http://schemas.microsoft.com/office/powerpoint/2010/main" val="128323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5"/>
            <a:ext cx="11959244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. </a:t>
            </a:r>
            <a:r>
              <a:rPr lang="ru-RU" dirty="0"/>
              <a:t>Для модуля </a:t>
            </a:r>
            <a:r>
              <a:rPr lang="ru-RU" b="1" dirty="0"/>
              <a:t>«Корзина интернет-магазина»</a:t>
            </a:r>
            <a:r>
              <a:rPr lang="ru-RU" dirty="0"/>
              <a:t> описать процесс тестирования по этапам:</a:t>
            </a: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308EFB2-68CE-454D-BA8D-84518168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251406"/>
              </p:ext>
            </p:extLst>
          </p:nvPr>
        </p:nvGraphicFramePr>
        <p:xfrm>
          <a:off x="622069" y="1956363"/>
          <a:ext cx="10515600" cy="4145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01538">
                  <a:extLst>
                    <a:ext uri="{9D8B030D-6E8A-4147-A177-3AD203B41FA5}">
                      <a16:colId xmlns:a16="http://schemas.microsoft.com/office/drawing/2014/main" val="3671185151"/>
                    </a:ext>
                  </a:extLst>
                </a:gridCol>
                <a:gridCol w="7214062">
                  <a:extLst>
                    <a:ext uri="{9D8B030D-6E8A-4147-A177-3AD203B41FA5}">
                      <a16:colId xmlns:a16="http://schemas.microsoft.com/office/drawing/2014/main" val="418211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Этап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100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Анализ требований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414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 dirty="0"/>
                        <a:t>Планирование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61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Тест-кейсы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57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Тестовая среда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631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Выполнение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75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Дефекты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28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Отчет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KZ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14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A84369D-E075-42DC-8874-6ED912981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5610"/>
            <a:ext cx="11049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процесс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SDLC?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STLC?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 SDLC отличается от STLC?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Какие этапы включает жизненный цикл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делает тестировщик на этапе анализа требований?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входит в планирование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тестовая среда?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 </a:t>
            </a:r>
            <a:r>
              <a:rPr kumimoji="0" lang="ru-KZ" altLang="ru-KZ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retesting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отличается от </a:t>
            </a:r>
            <a:r>
              <a:rPr kumimoji="0" lang="ru-KZ" altLang="ru-KZ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KZ" altLang="ru-KZ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Какие данные включаются в отчет о тестировании?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Какие роли участвуют в процессе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Почему тестирование должно начинаться с анализа требований? </a:t>
            </a:r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1626</Words>
  <Application>Microsoft Office PowerPoint</Application>
  <PresentationFormat>Широкоэкранный</PresentationFormat>
  <Paragraphs>376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Процесс тестирования и жизненный цикл STLC</vt:lpstr>
      <vt:lpstr>Цель лекции</vt:lpstr>
      <vt:lpstr>Что такое процесс тестирования</vt:lpstr>
      <vt:lpstr>SDLC и STLC</vt:lpstr>
      <vt:lpstr>SDLC и STLC</vt:lpstr>
      <vt:lpstr>Связь SDLC и STLC</vt:lpstr>
      <vt:lpstr>Связь SDLC и STLC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Этапы процесса тестирования программного модуля</vt:lpstr>
      <vt:lpstr>Роли в процессе тестирования</vt:lpstr>
      <vt:lpstr>Пример полного процесса тестирования «Авторизация пользователя»</vt:lpstr>
      <vt:lpstr>Пример полного процесса тестирования «Авторизация пользователя»</vt:lpstr>
      <vt:lpstr>Пример полного процесса тестирования «Авторизация пользователя»</vt:lpstr>
      <vt:lpstr>Задание. Для модуля «Корзина интернет-магазина» описать процесс тестирования по этапам: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6</cp:revision>
  <dcterms:created xsi:type="dcterms:W3CDTF">2026-05-17T16:20:39Z</dcterms:created>
  <dcterms:modified xsi:type="dcterms:W3CDTF">2026-05-19T02:53:39Z</dcterms:modified>
</cp:coreProperties>
</file>