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50" autoAdjust="0"/>
  </p:normalViewPr>
  <p:slideViewPr>
    <p:cSldViewPr snapToGrid="0">
      <p:cViewPr varScale="1">
        <p:scale>
          <a:sx n="72" d="100"/>
          <a:sy n="72" d="100"/>
        </p:scale>
        <p:origin x="10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227DF-E6DD-4BB1-83E0-BA8017E7A36C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B634A-D13B-4807-A024-9C2D2D9949CA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5096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1333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2406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3033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49034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8253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44141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10463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209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0357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58919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7427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B634A-D13B-4807-A024-9C2D2D9949CA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7884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DE3F2-B698-4579-AFA9-136982B3C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2AE722-9C99-409A-850C-CE2D05107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666668-B399-44B4-B85E-8D50637C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4FBEE5-C408-4925-AA45-7D6FC29A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96BDC9-62E8-4216-95AD-42093F39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0269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62BE3-67CA-4312-8C25-C3645724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7D20E7-8F73-4D3E-9141-A2AA0582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22CDA-EA17-4046-A18C-312FF807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C80F4C-7467-46FB-B69C-DBF42C05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63BAD-8CB2-4416-A40E-FE4233D5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435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53BED-9D88-4B92-9FFE-1BF4BC7C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6801F5-A6D6-4384-B3E2-C82FA8A3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5D3BD8-C46F-4913-851D-4B8BFBB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F8F96-D732-4688-A559-0FD2FF2A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9E842-C849-49EB-80E8-F33AD204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1356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F847C-50FC-4B40-8610-B1521DAE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6466A-4F05-4F55-B66C-B2B8C9222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50F240-9DD5-4492-A59A-1470A235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FEC49E-DE16-467C-8DC9-704AAC61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E23614-E149-4FA2-9B51-D848E557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7E1A06-A913-4443-8306-BF492DE3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232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57D27-EC3E-4180-BADD-AF041B49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E475EF-F989-4DE3-99C0-35FC43861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94FD67-7246-4ED2-8580-7658FEBBC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84D95A3-9C74-4C72-AC4B-48FBBD62E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07F4151-3539-49C0-B7EC-BABC021E2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37E4B4-E7C7-4E37-B7D6-B3719564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F3FBB5-4A23-407D-A728-93F9A56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7369D5-D24F-43BD-8497-8B1D37E1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4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C7B6A-5991-4B29-BE03-6C2C56A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4AAD6D-2967-4E2B-9549-873946F0C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AB8F6F-CCD4-44B5-8034-56699651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9FF16A-933A-479A-9EE9-F0BE5BB3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5330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88DA71-D936-417C-948E-128DC16A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71AE77-3916-4F76-A3D8-8F729780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1FF955-5758-4D65-8FA1-EE73C8DC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4297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2CF63-542E-4138-8468-738A2527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3FE53C-69AA-4E8C-97E7-669AEDA9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3C0BD3-9EB2-409B-BA45-5D5A81B52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5E37BB-863B-4D83-8290-90C2C0B1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2E1A03-9F84-4968-A680-7B6FD9CB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0D2F00-DC32-45FC-9C61-40DEC63E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2950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7C4CD-3B3C-4999-A232-758C5F1C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D128C5-B170-4F2A-9DA7-8A323DB51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2FB2EA-B103-488B-8778-4F3AF5D5D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6D0D2E-B2E7-4321-A389-245178E3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54F084-1A26-4651-84EF-E881229D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1A11A-A9F3-4285-AAEC-8317AFA9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19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5E2E4-5366-43AF-BAAC-3D5C0FE5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293861-95B4-4305-BE46-EABCEE7A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83A23-BC22-4D68-8D08-08CF7C5B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B9031-2F6B-4A0F-B7AB-461A8BE2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EDD63D-AF25-40C3-BDBE-176BF468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8030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2F5AC2-018D-4E72-B734-4DE032B46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3B5BDC-714A-4525-B897-02D096648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ABDB01-4122-4231-A380-0B615B13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B5E40A-6E82-4735-A3D2-93056755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BEECD-029F-488E-BBAD-8DCD42F7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499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EF228-8EA5-417A-BE95-A1A887D3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57A4A1-DF63-4C9D-85AE-D0602A8C9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55ECCD-AB59-45D8-8DA5-B103AD958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A8477-1C02-4070-AD50-E01800D3EAFE}" type="datetimeFigureOut">
              <a:rPr lang="ru-KZ" smtClean="0"/>
              <a:t>20.05.2026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B3731-BB4F-47F1-9FB1-300879789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2D49FC-526C-4F40-9258-3426AB2BB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1D534-EB57-4F57-843A-D78328CFEBC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39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A2FEB-9BE9-4955-92D3-AEA9A30D8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Black-box, White-box и Gray-box </a:t>
            </a:r>
            <a:r>
              <a:rPr lang="en-US" sz="5400" dirty="0" err="1"/>
              <a:t>тестирование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BC3EC1-046E-4404-94D9-2606A1340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0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74782-858C-4CD2-976E-4035E43B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89C4B-6E69-40AC-B175-CA88C393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понимание трех ключевых подходов к тестированию по степени знания внутренней структуры программы: </a:t>
            </a:r>
            <a:r>
              <a:rPr lang="ru-RU" b="1" dirty="0" err="1"/>
              <a:t>black-box</a:t>
            </a:r>
            <a:r>
              <a:rPr lang="ru-RU" dirty="0"/>
              <a:t>, </a:t>
            </a:r>
            <a:r>
              <a:rPr lang="ru-RU" b="1" dirty="0" err="1"/>
              <a:t>white-box</a:t>
            </a:r>
            <a:r>
              <a:rPr lang="ru-RU" dirty="0"/>
              <a:t> и </a:t>
            </a:r>
            <a:r>
              <a:rPr lang="ru-RU" b="1" dirty="0" err="1"/>
              <a:t>gray-box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После лекции студент должен уметь:</a:t>
            </a:r>
          </a:p>
          <a:p>
            <a:r>
              <a:rPr lang="ru-RU" dirty="0"/>
              <a:t>объяснять различия между </a:t>
            </a:r>
            <a:r>
              <a:rPr lang="ru-RU" dirty="0" err="1"/>
              <a:t>black-box</a:t>
            </a:r>
            <a:r>
              <a:rPr lang="ru-RU" dirty="0"/>
              <a:t>, </a:t>
            </a:r>
            <a:r>
              <a:rPr lang="ru-RU" dirty="0" err="1"/>
              <a:t>white-box</a:t>
            </a:r>
            <a:r>
              <a:rPr lang="ru-RU" dirty="0"/>
              <a:t> и </a:t>
            </a:r>
            <a:r>
              <a:rPr lang="ru-RU" dirty="0" err="1"/>
              <a:t>gray-box</a:t>
            </a:r>
            <a:r>
              <a:rPr lang="ru-RU" dirty="0"/>
              <a:t>; </a:t>
            </a:r>
          </a:p>
          <a:p>
            <a:r>
              <a:rPr lang="ru-RU" dirty="0"/>
              <a:t>понимать, когда применяется каждый подход; </a:t>
            </a:r>
          </a:p>
          <a:p>
            <a:r>
              <a:rPr lang="ru-RU" dirty="0"/>
              <a:t>приводить примеры тестов для каждого подхода; </a:t>
            </a:r>
          </a:p>
          <a:p>
            <a:r>
              <a:rPr lang="ru-RU" dirty="0"/>
              <a:t>связывать эти подходы с функциональным, нефункциональным, модульным, интеграционным и системным тестированием;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14988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2FC9D-0A0F-4078-8D88-E2F7BC15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означает классификация по доступу к коду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280A2A-C708-4792-B22A-45A4B7762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Тестирование можно классифицировать по тому, </a:t>
            </a:r>
            <a:r>
              <a:rPr lang="ru-RU" b="1" dirty="0"/>
              <a:t>знает ли тестировщик внутреннюю структуру программы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Есть три основных подхода:</a:t>
            </a:r>
          </a:p>
          <a:p>
            <a:r>
              <a:rPr lang="ru-RU" b="1" dirty="0" err="1"/>
              <a:t>Black-box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тестирование «черного ящика». </a:t>
            </a:r>
          </a:p>
          <a:p>
            <a:r>
              <a:rPr lang="ru-RU" b="1" dirty="0" err="1"/>
              <a:t>White-box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тестирование «белого ящика». </a:t>
            </a:r>
          </a:p>
          <a:p>
            <a:r>
              <a:rPr lang="ru-RU" b="1" dirty="0" err="1"/>
              <a:t>Gray-box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тестирование «серого ящика». </a:t>
            </a:r>
          </a:p>
          <a:p>
            <a:pPr marL="0" indent="0">
              <a:buNone/>
            </a:pPr>
            <a:r>
              <a:rPr lang="ru-RU" dirty="0"/>
              <a:t>Эти подходы отличаются тем, насколько тестировщик понимает внутреннюю логику системы, код, архитектуру, структуру базы данных, алгоритмы и связи между модулями.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10578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1C6C7-EA00-45A5-A17D-69D424A9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Общая схема подходов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EF1656D-1F56-44B3-B391-6CC8008C9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425452"/>
              </p:ext>
            </p:extLst>
          </p:nvPr>
        </p:nvGraphicFramePr>
        <p:xfrm>
          <a:off x="216131" y="1374472"/>
          <a:ext cx="1170432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29294">
                  <a:extLst>
                    <a:ext uri="{9D8B030D-6E8A-4147-A177-3AD203B41FA5}">
                      <a16:colId xmlns:a16="http://schemas.microsoft.com/office/drawing/2014/main" val="2613965326"/>
                    </a:ext>
                  </a:extLst>
                </a:gridCol>
                <a:gridCol w="2510444">
                  <a:extLst>
                    <a:ext uri="{9D8B030D-6E8A-4147-A177-3AD203B41FA5}">
                      <a16:colId xmlns:a16="http://schemas.microsoft.com/office/drawing/2014/main" val="3744121996"/>
                    </a:ext>
                  </a:extLst>
                </a:gridCol>
                <a:gridCol w="4638502">
                  <a:extLst>
                    <a:ext uri="{9D8B030D-6E8A-4147-A177-3AD203B41FA5}">
                      <a16:colId xmlns:a16="http://schemas.microsoft.com/office/drawing/2014/main" val="199241305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4042551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Подход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Знание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Что проверяется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Кто чаще выполняет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50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Black-box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Нет знания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Поведение системы снаружи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QA-</a:t>
                      </a:r>
                      <a:r>
                        <a:rPr lang="kk-KZ" sz="2400"/>
                        <a:t>тестировщик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307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White-box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Есть знание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Внутренняя логика программы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Разработчик, </a:t>
                      </a:r>
                      <a:r>
                        <a:rPr lang="en-US" sz="2400"/>
                        <a:t>QA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1457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Gray-box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Частичное знание системы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Поведение системы + понимание внутренней структуры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QA, </a:t>
                      </a:r>
                      <a:r>
                        <a:rPr lang="kk-KZ" sz="2400" dirty="0"/>
                        <a:t>технический тестировщик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48083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1CB38DA-9401-4490-84DB-5F5B06999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88939"/>
              </p:ext>
            </p:extLst>
          </p:nvPr>
        </p:nvGraphicFramePr>
        <p:xfrm>
          <a:off x="216131" y="4294808"/>
          <a:ext cx="1170432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174390971"/>
                    </a:ext>
                  </a:extLst>
                </a:gridCol>
                <a:gridCol w="10241280">
                  <a:extLst>
                    <a:ext uri="{9D8B030D-6E8A-4147-A177-3AD203B41FA5}">
                      <a16:colId xmlns:a16="http://schemas.microsoft.com/office/drawing/2014/main" val="1035515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Подход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Аналогия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79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Black-box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Мы нажимаем кнопки банкомата и смотрим, выдал ли он деньги, но не знаем, как он устроен внутри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53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White-box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/>
                        <a:t>Мы открыли банкомат и изучаем внутренние механизмы, схемы и логику работы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37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200"/>
                        <a:t>Gray-box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Мы не видим весь механизм, но знаем, какие модули внутри взаимодействуют и где хранится информация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000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94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CAF1DCD-DE12-4B4F-9AC4-CDD8BD9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525792-925B-4C53-9DF4-7F01B131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20933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B628F-4BA6-42AF-8189-96176F71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95410-09D6-40E4-912A-1E7247CF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err="1"/>
              <a:t>Black-box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подход к тестированию, при котором тестировщик проверяет систему без знания внутренней структуры кода.</a:t>
            </a:r>
          </a:p>
          <a:p>
            <a:pPr marL="0" indent="0">
              <a:buNone/>
            </a:pPr>
            <a:r>
              <a:rPr lang="ru-RU" dirty="0"/>
              <a:t>Тестировщик работает с системой как пользователь:</a:t>
            </a:r>
          </a:p>
          <a:p>
            <a:r>
              <a:rPr lang="ru-RU" dirty="0"/>
              <a:t>вводит данные; </a:t>
            </a:r>
          </a:p>
          <a:p>
            <a:r>
              <a:rPr lang="ru-RU" dirty="0"/>
              <a:t>нажимает кнопки; </a:t>
            </a:r>
          </a:p>
          <a:p>
            <a:r>
              <a:rPr lang="ru-RU" dirty="0"/>
              <a:t>отправляет запросы; </a:t>
            </a:r>
          </a:p>
          <a:p>
            <a:r>
              <a:rPr lang="ru-RU" dirty="0"/>
              <a:t>проверяет ответы; </a:t>
            </a:r>
          </a:p>
          <a:p>
            <a:r>
              <a:rPr lang="ru-RU" dirty="0"/>
              <a:t>сравнивает фактический результат с ожидаемым. 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black-box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Правильно ли система работает с точки зрения пользователя и требований?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8275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A25D25-2088-4236-874D-CF56B332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знает тестировщик при </a:t>
            </a:r>
            <a:r>
              <a:rPr lang="ru-RU" dirty="0" err="1"/>
              <a:t>black-box</a:t>
            </a:r>
            <a:r>
              <a:rPr lang="ru-RU" dirty="0"/>
              <a:t> </a:t>
            </a:r>
            <a:r>
              <a:rPr lang="ru-RU" dirty="0" err="1"/>
              <a:t>testing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85BF3C8-F088-484D-9238-010E3ED657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Тестировщик знает:</a:t>
            </a:r>
          </a:p>
          <a:p>
            <a:r>
              <a:rPr lang="ru-RU" dirty="0"/>
              <a:t>требования; </a:t>
            </a:r>
          </a:p>
          <a:p>
            <a:r>
              <a:rPr lang="ru-RU" dirty="0"/>
              <a:t>пользовательские сценарии; </a:t>
            </a:r>
          </a:p>
          <a:p>
            <a:r>
              <a:rPr lang="ru-RU" dirty="0"/>
              <a:t>входные данные; </a:t>
            </a:r>
          </a:p>
          <a:p>
            <a:r>
              <a:rPr lang="ru-RU" dirty="0"/>
              <a:t>ожидаемые результаты; </a:t>
            </a:r>
          </a:p>
          <a:p>
            <a:r>
              <a:rPr lang="ru-RU" dirty="0"/>
              <a:t>бизнес-правила; </a:t>
            </a:r>
          </a:p>
          <a:p>
            <a:r>
              <a:rPr lang="ru-RU" dirty="0"/>
              <a:t>интерфейс системы; </a:t>
            </a:r>
          </a:p>
          <a:p>
            <a:r>
              <a:rPr lang="ru-RU" dirty="0"/>
              <a:t>документацию API, если тестируется API.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8A4E43-A7E4-4B05-A25F-BEF2D42DB0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Тестировщик не знает:</a:t>
            </a:r>
          </a:p>
          <a:p>
            <a:r>
              <a:rPr lang="ru-RU" dirty="0"/>
              <a:t>как написан код; </a:t>
            </a:r>
          </a:p>
          <a:p>
            <a:r>
              <a:rPr lang="ru-RU" dirty="0"/>
              <a:t>какие классы и методы используются; </a:t>
            </a:r>
          </a:p>
          <a:p>
            <a:r>
              <a:rPr lang="ru-RU" dirty="0"/>
              <a:t>как устроены алгоритмы; </a:t>
            </a:r>
          </a:p>
          <a:p>
            <a:r>
              <a:rPr lang="ru-RU" dirty="0"/>
              <a:t>какие SQL-запросы выполняются; </a:t>
            </a:r>
          </a:p>
          <a:p>
            <a:r>
              <a:rPr lang="ru-RU" dirty="0"/>
              <a:t>какие внутренние условия есть в коде; </a:t>
            </a:r>
          </a:p>
          <a:p>
            <a:r>
              <a:rPr lang="ru-RU" dirty="0"/>
              <a:t>какие ветвления используются.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60547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FBF15-E7B9-43AD-8F94-EA0F8D53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851B40-1A24-4C11-AB66-DDC2A2759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807" y="1526367"/>
            <a:ext cx="4066309" cy="49665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Объект: форма авторизации.</a:t>
            </a:r>
          </a:p>
          <a:p>
            <a:pPr marL="0" indent="0">
              <a:buNone/>
            </a:pPr>
            <a:r>
              <a:rPr lang="ru-RU" dirty="0"/>
              <a:t>Требования:</a:t>
            </a:r>
          </a:p>
          <a:p>
            <a:r>
              <a:rPr lang="ru-RU" dirty="0"/>
              <a:t>Пользователь входит по </a:t>
            </a:r>
            <a:r>
              <a:rPr lang="ru-RU" dirty="0" err="1"/>
              <a:t>email</a:t>
            </a:r>
            <a:r>
              <a:rPr lang="ru-RU" dirty="0"/>
              <a:t> и паролю. </a:t>
            </a:r>
          </a:p>
          <a:p>
            <a:r>
              <a:rPr lang="ru-RU" dirty="0" err="1"/>
              <a:t>Email</a:t>
            </a:r>
            <a:r>
              <a:rPr lang="ru-RU" dirty="0"/>
              <a:t> обязателен. </a:t>
            </a:r>
          </a:p>
          <a:p>
            <a:r>
              <a:rPr lang="ru-RU" dirty="0"/>
              <a:t>Пароль обязателен. </a:t>
            </a:r>
          </a:p>
          <a:p>
            <a:r>
              <a:rPr lang="ru-RU" dirty="0"/>
              <a:t>При неверных данных отображается ошибка. </a:t>
            </a:r>
          </a:p>
          <a:p>
            <a:r>
              <a:rPr lang="ru-RU" dirty="0"/>
              <a:t>При правильных данных пользователь попадает в личный кабинет. </a:t>
            </a:r>
          </a:p>
          <a:p>
            <a:pPr marL="0" indent="0">
              <a:buNone/>
            </a:pPr>
            <a:r>
              <a:rPr lang="ru-RU" dirty="0"/>
              <a:t>Тестировщик не смотрит код. Он проверяет поведение формы.</a:t>
            </a:r>
          </a:p>
          <a:p>
            <a:pPr marL="0" indent="0">
              <a:buNone/>
            </a:pPr>
            <a:endParaRPr lang="ru-KZ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5BDF255F-38C5-4164-AC6C-7A0D7D9933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45739935"/>
              </p:ext>
            </p:extLst>
          </p:nvPr>
        </p:nvGraphicFramePr>
        <p:xfrm>
          <a:off x="4094017" y="1526367"/>
          <a:ext cx="7710056" cy="46594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77488">
                  <a:extLst>
                    <a:ext uri="{9D8B030D-6E8A-4147-A177-3AD203B41FA5}">
                      <a16:colId xmlns:a16="http://schemas.microsoft.com/office/drawing/2014/main" val="2423736022"/>
                    </a:ext>
                  </a:extLst>
                </a:gridCol>
                <a:gridCol w="1778924">
                  <a:extLst>
                    <a:ext uri="{9D8B030D-6E8A-4147-A177-3AD203B41FA5}">
                      <a16:colId xmlns:a16="http://schemas.microsoft.com/office/drawing/2014/main" val="362576853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3779725801"/>
                    </a:ext>
                  </a:extLst>
                </a:gridCol>
                <a:gridCol w="3175462">
                  <a:extLst>
                    <a:ext uri="{9D8B030D-6E8A-4147-A177-3AD203B41FA5}">
                      <a16:colId xmlns:a16="http://schemas.microsoft.com/office/drawing/2014/main" val="3949672737"/>
                    </a:ext>
                  </a:extLst>
                </a:gridCol>
              </a:tblGrid>
              <a:tr h="380882">
                <a:tc>
                  <a:txBody>
                    <a:bodyPr/>
                    <a:lstStyle/>
                    <a:p>
                      <a:pPr algn="r"/>
                      <a:r>
                        <a:rPr lang="ru-KZ" sz="2400" b="1" dirty="0"/>
                        <a:t>№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Проверка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Входные данные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96448252"/>
                  </a:ext>
                </a:extLst>
              </a:tr>
              <a:tr h="380882">
                <a:tc>
                  <a:txBody>
                    <a:bodyPr/>
                    <a:lstStyle/>
                    <a:p>
                      <a:pPr algn="r"/>
                      <a:r>
                        <a:rPr lang="ru-KZ" sz="2400"/>
                        <a:t>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Успешный вход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user@test.com, Pass1234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Открыт личный кабинет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83342226"/>
                  </a:ext>
                </a:extLst>
              </a:tr>
              <a:tr h="667580">
                <a:tc>
                  <a:txBody>
                    <a:bodyPr/>
                    <a:lstStyle/>
                    <a:p>
                      <a:pPr algn="r"/>
                      <a:r>
                        <a:rPr lang="ru-KZ" sz="2400"/>
                        <a:t>2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Неверный пароль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user@test.com, wrongpass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Сообщение об ошибке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950804882"/>
                  </a:ext>
                </a:extLst>
              </a:tr>
              <a:tr h="667580">
                <a:tc>
                  <a:txBody>
                    <a:bodyPr/>
                    <a:lstStyle/>
                    <a:p>
                      <a:pPr algn="r"/>
                      <a:r>
                        <a:rPr lang="ru-KZ" sz="2400"/>
                        <a:t>3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Пустой </a:t>
                      </a:r>
                      <a:r>
                        <a:rPr lang="en-US" sz="2400"/>
                        <a:t>email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"", Pass1234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Ошибка: </a:t>
                      </a:r>
                      <a:r>
                        <a:rPr lang="en-US" sz="2400"/>
                        <a:t>email </a:t>
                      </a:r>
                      <a:r>
                        <a:rPr lang="kk-KZ" sz="2400"/>
                        <a:t>обязателен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575160583"/>
                  </a:ext>
                </a:extLst>
              </a:tr>
              <a:tr h="667580">
                <a:tc>
                  <a:txBody>
                    <a:bodyPr/>
                    <a:lstStyle/>
                    <a:p>
                      <a:pPr algn="r"/>
                      <a:r>
                        <a:rPr lang="ru-KZ" sz="2400"/>
                        <a:t>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Пустой пароль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user@test.com, ""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Ошибка: пароль обязателен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897358380"/>
                  </a:ext>
                </a:extLst>
              </a:tr>
              <a:tr h="380882">
                <a:tc>
                  <a:txBody>
                    <a:bodyPr/>
                    <a:lstStyle/>
                    <a:p>
                      <a:pPr algn="r"/>
                      <a:r>
                        <a:rPr lang="ru-KZ" sz="2400"/>
                        <a:t>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Невалидный </a:t>
                      </a:r>
                      <a:r>
                        <a:rPr lang="en-US" sz="2400"/>
                        <a:t>email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usertest.com, Pass1234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Ошибка формата </a:t>
                      </a:r>
                      <a:r>
                        <a:rPr lang="en-US" sz="2400" dirty="0"/>
                        <a:t>email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173310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52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F8C14-CB24-4A3D-9415-38FAF0B51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4" y="1378339"/>
            <a:ext cx="11238806" cy="16033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/>
              <a:t>Классы эквивалентности</a:t>
            </a:r>
            <a:r>
              <a:rPr lang="ru-RU" dirty="0"/>
              <a:t> — это метод, при котором все возможные входные данные делятся на группы, внутри которых система должна вести себя одинаково.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/>
              <a:t>Пример требования: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/>
              <a:t>Возраст пользователя должен быть от 18 до 65.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5C7F16C-165E-41E2-9F2F-BBF7450C50E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1608336"/>
              </p:ext>
            </p:extLst>
          </p:nvPr>
        </p:nvGraphicFramePr>
        <p:xfrm>
          <a:off x="5087388" y="3876287"/>
          <a:ext cx="5800062" cy="13994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33354">
                  <a:extLst>
                    <a:ext uri="{9D8B030D-6E8A-4147-A177-3AD203B41FA5}">
                      <a16:colId xmlns:a16="http://schemas.microsoft.com/office/drawing/2014/main" val="2352634492"/>
                    </a:ext>
                  </a:extLst>
                </a:gridCol>
                <a:gridCol w="1933354">
                  <a:extLst>
                    <a:ext uri="{9D8B030D-6E8A-4147-A177-3AD203B41FA5}">
                      <a16:colId xmlns:a16="http://schemas.microsoft.com/office/drawing/2014/main" val="493223044"/>
                    </a:ext>
                  </a:extLst>
                </a:gridCol>
                <a:gridCol w="1933354">
                  <a:extLst>
                    <a:ext uri="{9D8B030D-6E8A-4147-A177-3AD203B41FA5}">
                      <a16:colId xmlns:a16="http://schemas.microsoft.com/office/drawing/2014/main" val="3655525212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pPr algn="ctr"/>
                      <a:r>
                        <a:rPr lang="kk-KZ" sz="2000" b="1" dirty="0"/>
                        <a:t>Класс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2000" b="1" dirty="0"/>
                        <a:t>Диапазон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2000" b="1" dirty="0"/>
                        <a:t>Пример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031989485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Невалидный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Меньше 18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KZ" sz="2000"/>
                        <a:t>17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386544674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От 18 до 65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KZ" sz="2000"/>
                        <a:t>30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394875471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Невалидный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k-KZ" sz="2000"/>
                        <a:t>Больше 65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KZ" sz="2000" dirty="0"/>
                        <a:t>66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42331817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53E226B7-A727-42EE-8639-57478CEE0768}"/>
              </a:ext>
            </a:extLst>
          </p:cNvPr>
          <p:cNvSpPr txBox="1">
            <a:spLocks/>
          </p:cNvSpPr>
          <p:nvPr/>
        </p:nvSpPr>
        <p:spPr>
          <a:xfrm>
            <a:off x="221674" y="4889500"/>
            <a:ext cx="11238806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Идея метода:</a:t>
            </a:r>
          </a:p>
          <a:p>
            <a:pPr marL="0" indent="0">
              <a:buNone/>
            </a:pPr>
            <a:r>
              <a:rPr lang="ru-RU" dirty="0"/>
              <a:t>Не нужно проверять все возможные значения. Достаточно выбрать представителей каждого класса.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12347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F8C14-CB24-4A3D-9415-38FAF0B51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4" y="1378339"/>
            <a:ext cx="11238806" cy="16033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/>
              <a:t>Анализ граничных значений</a:t>
            </a:r>
            <a:r>
              <a:rPr lang="ru-RU" sz="2400" dirty="0"/>
              <a:t> — это метод, при котором проверяются значения на границах допустимого диапазона и рядом с ними.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Пример: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Пароль должен быть от 8 до 20 символов.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/>
              <a:t>Тестовые </a:t>
            </a:r>
            <a:r>
              <a:rPr lang="ru-RU" dirty="0"/>
              <a:t>данные: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3E226B7-A727-42EE-8639-57478CEE0768}"/>
              </a:ext>
            </a:extLst>
          </p:cNvPr>
          <p:cNvSpPr txBox="1">
            <a:spLocks/>
          </p:cNvSpPr>
          <p:nvPr/>
        </p:nvSpPr>
        <p:spPr>
          <a:xfrm>
            <a:off x="221674" y="4655128"/>
            <a:ext cx="11238806" cy="1837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Почему это важно:</a:t>
            </a:r>
          </a:p>
          <a:p>
            <a:pPr marL="0" indent="0">
              <a:buNone/>
            </a:pPr>
            <a:r>
              <a:rPr lang="ru-RU" dirty="0"/>
              <a:t>Ошибки часто появляются именно на границах:</a:t>
            </a:r>
          </a:p>
          <a:p>
            <a:r>
              <a:rPr lang="ru-RU" dirty="0"/>
              <a:t>вместо &gt;= 8 разработчик мог написать &gt; 8; </a:t>
            </a:r>
          </a:p>
          <a:p>
            <a:r>
              <a:rPr lang="ru-RU" dirty="0"/>
              <a:t>вместо &lt;= 20 мог написать &lt; 20; </a:t>
            </a:r>
          </a:p>
          <a:p>
            <a:r>
              <a:rPr lang="ru-RU" dirty="0"/>
              <a:t>могла быть неправильная проверка длины строки.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292992AC-EBD2-45BA-AC01-DB308838F4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30228112"/>
              </p:ext>
            </p:extLst>
          </p:nvPr>
        </p:nvGraphicFramePr>
        <p:xfrm>
          <a:off x="8163096" y="2221571"/>
          <a:ext cx="3064628" cy="27538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2314">
                  <a:extLst>
                    <a:ext uri="{9D8B030D-6E8A-4147-A177-3AD203B41FA5}">
                      <a16:colId xmlns:a16="http://schemas.microsoft.com/office/drawing/2014/main" val="609969070"/>
                    </a:ext>
                  </a:extLst>
                </a:gridCol>
                <a:gridCol w="1532314">
                  <a:extLst>
                    <a:ext uri="{9D8B030D-6E8A-4147-A177-3AD203B41FA5}">
                      <a16:colId xmlns:a16="http://schemas.microsoft.com/office/drawing/2014/main" val="623286148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kk-KZ" sz="2000"/>
                        <a:t>Длина пароля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76585645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7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039118042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8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946724205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9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70919517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19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34831903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20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Принято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847714639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pPr algn="r"/>
                      <a:r>
                        <a:rPr lang="ru-KZ" sz="2000"/>
                        <a:t>21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115229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77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F8C14-CB24-4A3D-9415-38FAF0B51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5" y="1378339"/>
            <a:ext cx="4898966" cy="511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/>
              <a:t>Таблица решений</a:t>
            </a:r>
            <a:r>
              <a:rPr lang="ru-RU" sz="2400" dirty="0"/>
              <a:t> используется, когда результат зависит от комбинации нескольких условий.</a:t>
            </a:r>
          </a:p>
          <a:p>
            <a:pPr marL="0" indent="0">
              <a:buNone/>
            </a:pPr>
            <a:r>
              <a:rPr lang="ru-RU" sz="2400" dirty="0"/>
              <a:t>Пример: оформление заказа.</a:t>
            </a:r>
          </a:p>
          <a:p>
            <a:pPr marL="0" indent="0">
              <a:buNone/>
            </a:pPr>
            <a:r>
              <a:rPr lang="ru-RU" sz="2400" dirty="0"/>
              <a:t>Условия:</a:t>
            </a:r>
          </a:p>
          <a:p>
            <a:r>
              <a:rPr lang="ru-RU" sz="2400" dirty="0"/>
              <a:t>Пользователь авторизован. </a:t>
            </a:r>
          </a:p>
          <a:p>
            <a:r>
              <a:rPr lang="ru-RU" sz="2400" dirty="0"/>
              <a:t>Корзина не пустая. </a:t>
            </a:r>
          </a:p>
          <a:p>
            <a:r>
              <a:rPr lang="ru-RU" sz="2400" dirty="0"/>
              <a:t>Оплата успешна.</a:t>
            </a:r>
            <a:endParaRPr lang="ru-KZ" sz="2400" dirty="0"/>
          </a:p>
          <a:p>
            <a:pPr marL="0" indent="0">
              <a:buNone/>
            </a:pPr>
            <a:r>
              <a:rPr lang="ru-KZ" sz="2400" dirty="0"/>
              <a:t>Т</a:t>
            </a:r>
            <a:r>
              <a:rPr lang="ru-RU" sz="2400" dirty="0" err="1"/>
              <a:t>аблицы</a:t>
            </a:r>
            <a:r>
              <a:rPr lang="ru-RU" sz="2400" dirty="0"/>
              <a:t> решений помогают не пропустить важные комбинации условий.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4E82684-16A0-4FA0-926C-54C1A1EFD31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48503672"/>
              </p:ext>
            </p:extLst>
          </p:nvPr>
        </p:nvGraphicFramePr>
        <p:xfrm>
          <a:off x="5291742" y="2123004"/>
          <a:ext cx="6395948" cy="32732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98987">
                  <a:extLst>
                    <a:ext uri="{9D8B030D-6E8A-4147-A177-3AD203B41FA5}">
                      <a16:colId xmlns:a16="http://schemas.microsoft.com/office/drawing/2014/main" val="1347734607"/>
                    </a:ext>
                  </a:extLst>
                </a:gridCol>
                <a:gridCol w="1598987">
                  <a:extLst>
                    <a:ext uri="{9D8B030D-6E8A-4147-A177-3AD203B41FA5}">
                      <a16:colId xmlns:a16="http://schemas.microsoft.com/office/drawing/2014/main" val="1259341956"/>
                    </a:ext>
                  </a:extLst>
                </a:gridCol>
                <a:gridCol w="1598987">
                  <a:extLst>
                    <a:ext uri="{9D8B030D-6E8A-4147-A177-3AD203B41FA5}">
                      <a16:colId xmlns:a16="http://schemas.microsoft.com/office/drawing/2014/main" val="2421875892"/>
                    </a:ext>
                  </a:extLst>
                </a:gridCol>
                <a:gridCol w="1598987">
                  <a:extLst>
                    <a:ext uri="{9D8B030D-6E8A-4147-A177-3AD203B41FA5}">
                      <a16:colId xmlns:a16="http://schemas.microsoft.com/office/drawing/2014/main" val="3509874717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r>
                        <a:rPr lang="kk-KZ" sz="2000" b="1" dirty="0"/>
                        <a:t>Авторизован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Корзина не пустая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Оплата успешна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553809782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 создан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911111999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Нет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Переход на вход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100553936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Ошибка: корзина пуста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86567035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Нет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Ошибка оплаты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42540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493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021274-0441-45D5-A825-B67C8DB3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686" y="1466743"/>
            <a:ext cx="8271336" cy="513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99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DA2BE-00AB-4457-A166-526CBB94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err="1"/>
              <a:t>Pairwise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метод, при котором проверяются пары значений параметров вместо всех возможных комбинаций.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r>
              <a:rPr lang="ru-RU" dirty="0"/>
              <a:t>Форма поиска имеет параметры:</a:t>
            </a:r>
          </a:p>
          <a:p>
            <a:r>
              <a:rPr lang="ru-RU" dirty="0"/>
              <a:t>браузер: </a:t>
            </a:r>
            <a:r>
              <a:rPr lang="ru-RU" dirty="0" err="1"/>
              <a:t>Chrome</a:t>
            </a:r>
            <a:r>
              <a:rPr lang="ru-RU" dirty="0"/>
              <a:t>, </a:t>
            </a:r>
            <a:r>
              <a:rPr lang="ru-RU" dirty="0" err="1"/>
              <a:t>Firefox</a:t>
            </a:r>
            <a:r>
              <a:rPr lang="ru-RU" dirty="0"/>
              <a:t>, </a:t>
            </a:r>
            <a:r>
              <a:rPr lang="ru-RU" dirty="0" err="1"/>
              <a:t>Safari</a:t>
            </a:r>
            <a:r>
              <a:rPr lang="ru-RU" dirty="0"/>
              <a:t>; </a:t>
            </a:r>
          </a:p>
          <a:p>
            <a:r>
              <a:rPr lang="ru-RU" dirty="0"/>
              <a:t>устройство: </a:t>
            </a:r>
            <a:r>
              <a:rPr lang="ru-RU" dirty="0" err="1"/>
              <a:t>Desktop</a:t>
            </a:r>
            <a:r>
              <a:rPr lang="ru-RU" dirty="0"/>
              <a:t>, </a:t>
            </a:r>
            <a:r>
              <a:rPr lang="ru-RU" dirty="0" err="1"/>
              <a:t>Mobile</a:t>
            </a:r>
            <a:r>
              <a:rPr lang="ru-RU" dirty="0"/>
              <a:t>; </a:t>
            </a:r>
          </a:p>
          <a:p>
            <a:r>
              <a:rPr lang="ru-RU" dirty="0"/>
              <a:t>язык: RU, EN; </a:t>
            </a:r>
          </a:p>
          <a:p>
            <a:r>
              <a:rPr lang="ru-RU" dirty="0"/>
              <a:t>роль: </a:t>
            </a:r>
            <a:r>
              <a:rPr lang="ru-RU" dirty="0" err="1"/>
              <a:t>Guest</a:t>
            </a:r>
            <a:r>
              <a:rPr lang="ru-RU" dirty="0"/>
              <a:t>, </a:t>
            </a:r>
            <a:r>
              <a:rPr lang="ru-RU" dirty="0" err="1"/>
              <a:t>User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Полная комбинация может дать много тестов. </a:t>
            </a:r>
            <a:r>
              <a:rPr lang="ru-RU" dirty="0" err="1"/>
              <a:t>Pairwise</a:t>
            </a:r>
            <a:r>
              <a:rPr lang="ru-RU" dirty="0"/>
              <a:t> позволяет сократить количество проверок, но сохранить разумное покрытие комбинаций.</a:t>
            </a:r>
          </a:p>
          <a:p>
            <a:pPr marL="0" indent="0">
              <a:buNone/>
            </a:pPr>
            <a:r>
              <a:rPr lang="ru-RU" dirty="0"/>
              <a:t>Этот метод полезен, когда параметров много, а проверять все комбинации слишком долго.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748138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7813E-3A5B-4653-9601-1EA2433C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методы </a:t>
            </a:r>
            <a:r>
              <a:rPr lang="en-US" dirty="0"/>
              <a:t>black-box testing</a:t>
            </a:r>
            <a:endParaRPr lang="ru-KZ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80D823B-FF44-4F1E-8F9B-19788DAE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err="1"/>
              <a:t>Error</a:t>
            </a:r>
            <a:r>
              <a:rPr lang="ru-RU" b="1" dirty="0"/>
              <a:t> </a:t>
            </a:r>
            <a:r>
              <a:rPr lang="ru-RU" b="1" dirty="0" err="1"/>
              <a:t>guessing</a:t>
            </a:r>
            <a:r>
              <a:rPr lang="ru-RU" dirty="0"/>
              <a:t> — это метод, основанный на опыте тестировщика и предположении, где система может сломаться.</a:t>
            </a:r>
          </a:p>
          <a:p>
            <a:pPr marL="0" indent="0">
              <a:buNone/>
            </a:pPr>
            <a:r>
              <a:rPr lang="ru-RU" dirty="0"/>
              <a:t>Примеры типичных проверок:</a:t>
            </a:r>
          </a:p>
          <a:p>
            <a:r>
              <a:rPr lang="ru-RU" dirty="0"/>
              <a:t>пустые поля; </a:t>
            </a:r>
          </a:p>
          <a:p>
            <a:r>
              <a:rPr lang="ru-RU" dirty="0"/>
              <a:t>слишком длинные строки; </a:t>
            </a:r>
          </a:p>
          <a:p>
            <a:r>
              <a:rPr lang="ru-RU" dirty="0"/>
              <a:t>спецсимволы; </a:t>
            </a:r>
          </a:p>
          <a:p>
            <a:r>
              <a:rPr lang="ru-RU" dirty="0"/>
              <a:t>двойной клик по кнопке; </a:t>
            </a:r>
          </a:p>
          <a:p>
            <a:r>
              <a:rPr lang="ru-RU" dirty="0"/>
              <a:t>обновление страницы во время оплаты; </a:t>
            </a:r>
          </a:p>
          <a:p>
            <a:r>
              <a:rPr lang="ru-RU" dirty="0"/>
              <a:t>отправка формы без интернета; </a:t>
            </a:r>
          </a:p>
          <a:p>
            <a:r>
              <a:rPr lang="ru-RU" dirty="0"/>
              <a:t>ввод SQL-инъекции; </a:t>
            </a:r>
          </a:p>
          <a:p>
            <a:r>
              <a:rPr lang="ru-RU" dirty="0"/>
              <a:t>загрузка файла неправильного формата.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24329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93204DF-A102-458A-AEAA-7A534513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992"/>
            <a:ext cx="5157787" cy="823912"/>
          </a:xfrm>
        </p:spPr>
        <p:txBody>
          <a:bodyPr/>
          <a:lstStyle/>
          <a:p>
            <a:r>
              <a:rPr lang="kk-KZ" dirty="0"/>
              <a:t>Преимущества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210FF4A-8802-4B59-9D9B-BE69E4C715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583360"/>
              </p:ext>
            </p:extLst>
          </p:nvPr>
        </p:nvGraphicFramePr>
        <p:xfrm>
          <a:off x="199506" y="1117700"/>
          <a:ext cx="5648440" cy="48859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24220">
                  <a:extLst>
                    <a:ext uri="{9D8B030D-6E8A-4147-A177-3AD203B41FA5}">
                      <a16:colId xmlns:a16="http://schemas.microsoft.com/office/drawing/2014/main" val="4158193033"/>
                    </a:ext>
                  </a:extLst>
                </a:gridCol>
                <a:gridCol w="2824220">
                  <a:extLst>
                    <a:ext uri="{9D8B030D-6E8A-4147-A177-3AD203B41FA5}">
                      <a16:colId xmlns:a16="http://schemas.microsoft.com/office/drawing/2014/main" val="2953164922"/>
                    </a:ext>
                  </a:extLst>
                </a:gridCol>
              </a:tblGrid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Преимущество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961986199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Не требует знания кода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Тестировать может ручной </a:t>
                      </a:r>
                      <a:r>
                        <a:rPr lang="en-US" sz="2000"/>
                        <a:t>QA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15301226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Близко к пользовательскому поведению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Проверяется система глазами пользователя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464642101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Основано на требованиях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Легко связать тесты с бизнес-логикой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12913643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Подходит для функционального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Регистрация, вход, корзина, оплата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332374834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Подходит для </a:t>
                      </a:r>
                      <a:r>
                        <a:rPr lang="en-US" sz="2000"/>
                        <a:t>API-</a:t>
                      </a:r>
                      <a:r>
                        <a:rPr lang="kk-KZ" sz="2000"/>
                        <a:t>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Можно проверять запросы и ответы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945108462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r>
                        <a:rPr lang="kk-KZ" sz="2000"/>
                        <a:t>Удобно для приемочного тестирования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Заказчик тоже проверяет систему как </a:t>
                      </a:r>
                      <a:r>
                        <a:rPr lang="ru-RU" sz="2000" dirty="0" err="1"/>
                        <a:t>black-box</a:t>
                      </a:r>
                      <a:endParaRPr lang="ru-RU" sz="2000" dirty="0"/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626813253"/>
                  </a:ext>
                </a:extLst>
              </a:tr>
            </a:tbl>
          </a:graphicData>
        </a:graphic>
      </p:graphicFrame>
      <p:sp>
        <p:nvSpPr>
          <p:cNvPr id="7" name="Текст 6">
            <a:extLst>
              <a:ext uri="{FF2B5EF4-FFF2-40B4-BE49-F238E27FC236}">
                <a16:creationId xmlns:a16="http://schemas.microsoft.com/office/drawing/2014/main" id="{36271141-E352-43E1-86D3-2F8C2DD45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4992"/>
            <a:ext cx="5183188" cy="823912"/>
          </a:xfrm>
        </p:spPr>
        <p:txBody>
          <a:bodyPr/>
          <a:lstStyle/>
          <a:p>
            <a:r>
              <a:rPr lang="kk-KZ" dirty="0"/>
              <a:t>Недостатки</a:t>
            </a:r>
            <a:endParaRPr lang="ru-KZ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FD8B100D-34D4-4C40-921E-5E686DFF27D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26749890"/>
              </p:ext>
            </p:extLst>
          </p:nvPr>
        </p:nvGraphicFramePr>
        <p:xfrm>
          <a:off x="6238760" y="1117700"/>
          <a:ext cx="5753734" cy="36232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76867">
                  <a:extLst>
                    <a:ext uri="{9D8B030D-6E8A-4147-A177-3AD203B41FA5}">
                      <a16:colId xmlns:a16="http://schemas.microsoft.com/office/drawing/2014/main" val="3959831645"/>
                    </a:ext>
                  </a:extLst>
                </a:gridCol>
                <a:gridCol w="2876867">
                  <a:extLst>
                    <a:ext uri="{9D8B030D-6E8A-4147-A177-3AD203B41FA5}">
                      <a16:colId xmlns:a16="http://schemas.microsoft.com/office/drawing/2014/main" val="4024793298"/>
                    </a:ext>
                  </a:extLst>
                </a:gridCol>
              </a:tblGrid>
              <a:tr h="273160">
                <a:tc>
                  <a:txBody>
                    <a:bodyPr/>
                    <a:lstStyle/>
                    <a:p>
                      <a:r>
                        <a:rPr lang="kk-KZ" sz="2000"/>
                        <a:t>Недостаток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293239428"/>
                  </a:ext>
                </a:extLst>
              </a:tr>
              <a:tr h="273160">
                <a:tc>
                  <a:txBody>
                    <a:bodyPr/>
                    <a:lstStyle/>
                    <a:p>
                      <a:r>
                        <a:rPr lang="kk-KZ" sz="2000"/>
                        <a:t>Не видно внутреннюю логику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Можно не заметить скрытые ошибки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4644180"/>
                  </a:ext>
                </a:extLst>
              </a:tr>
              <a:tr h="273160">
                <a:tc>
                  <a:txBody>
                    <a:bodyPr/>
                    <a:lstStyle/>
                    <a:p>
                      <a:r>
                        <a:rPr lang="kk-KZ" sz="2000"/>
                        <a:t>Трудно оценить покрытие кода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Неясно, какие ветви кода проверены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234021101"/>
                  </a:ext>
                </a:extLst>
              </a:tr>
              <a:tr h="273160">
                <a:tc>
                  <a:txBody>
                    <a:bodyPr/>
                    <a:lstStyle/>
                    <a:p>
                      <a:r>
                        <a:rPr lang="kk-KZ" sz="2000"/>
                        <a:t>Можно пропустить внутренние условия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Особенно если требования неполные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213876423"/>
                  </a:ext>
                </a:extLst>
              </a:tr>
              <a:tr h="273160">
                <a:tc>
                  <a:txBody>
                    <a:bodyPr/>
                    <a:lstStyle/>
                    <a:p>
                      <a:r>
                        <a:rPr lang="kk-KZ" sz="2000"/>
                        <a:t>Зависит от качества требований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Плохие требования дают слабые тесты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555602836"/>
                  </a:ext>
                </a:extLst>
              </a:tr>
              <a:tr h="273160">
                <a:tc>
                  <a:txBody>
                    <a:bodyPr/>
                    <a:lstStyle/>
                    <a:p>
                      <a:r>
                        <a:rPr lang="ru-RU" sz="2000"/>
                        <a:t>Не всегда помогает найти причину дефекта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Видно только проявление ошибки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989417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105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521E4EE-1329-484A-A5FB-E1D8B2D1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testing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48DF0E1-1D4F-4AB9-A603-94B02BA8A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99053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328EF13-51E1-43FE-B798-23E8677B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D03D7F4-7AA0-4705-A7CD-05E3E675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White-box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подход к тестированию, при котором проверка строится на знании внутренней структуры программы: кода, условий, циклов, ветвлений, алгоритмов и путей выполнения.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Правильно ли работает внутренняя логика программы?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2045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10034F38-FA45-473E-941C-AF92F00BF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498764"/>
            <a:ext cx="5654040" cy="5678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Что знает тестировщик при </a:t>
            </a:r>
            <a:r>
              <a:rPr lang="ru-RU" b="1" dirty="0" err="1"/>
              <a:t>white-box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Тестировщик или разработчик знает:</a:t>
            </a:r>
          </a:p>
          <a:p>
            <a:r>
              <a:rPr lang="ru-RU" dirty="0"/>
              <a:t>код программы; </a:t>
            </a:r>
          </a:p>
          <a:p>
            <a:r>
              <a:rPr lang="ru-RU" dirty="0"/>
              <a:t>функции и методы; </a:t>
            </a:r>
          </a:p>
          <a:p>
            <a:r>
              <a:rPr lang="ru-RU" dirty="0"/>
              <a:t>условия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else</a:t>
            </a:r>
            <a:r>
              <a:rPr lang="ru-RU" dirty="0"/>
              <a:t>; </a:t>
            </a:r>
          </a:p>
          <a:p>
            <a:r>
              <a:rPr lang="ru-RU" dirty="0"/>
              <a:t>циклы; </a:t>
            </a:r>
          </a:p>
          <a:p>
            <a:r>
              <a:rPr lang="ru-RU" dirty="0"/>
              <a:t>алгоритмы; </a:t>
            </a:r>
          </a:p>
          <a:p>
            <a:r>
              <a:rPr lang="ru-RU" dirty="0"/>
              <a:t>внутренние зависимости; </a:t>
            </a:r>
          </a:p>
          <a:p>
            <a:r>
              <a:rPr lang="ru-RU" dirty="0"/>
              <a:t>структуру данных; </a:t>
            </a:r>
          </a:p>
          <a:p>
            <a:r>
              <a:rPr lang="ru-RU" dirty="0"/>
              <a:t>исключения; </a:t>
            </a:r>
          </a:p>
          <a:p>
            <a:r>
              <a:rPr lang="ru-RU" dirty="0"/>
              <a:t>возможные ветви выполнения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32ACAD-97B2-4F21-BCC9-91A5C6256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8764"/>
            <a:ext cx="5654040" cy="5678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Где применяется </a:t>
            </a:r>
            <a:r>
              <a:rPr lang="ru-RU" b="1" dirty="0" err="1"/>
              <a:t>white-box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применяется:</a:t>
            </a:r>
          </a:p>
          <a:p>
            <a:r>
              <a:rPr lang="ru-RU" dirty="0"/>
              <a:t>при модульном тестировании; </a:t>
            </a:r>
          </a:p>
          <a:p>
            <a:r>
              <a:rPr lang="ru-RU" dirty="0"/>
              <a:t>при </a:t>
            </a:r>
            <a:r>
              <a:rPr lang="ru-RU" dirty="0" err="1"/>
              <a:t>unit</a:t>
            </a:r>
            <a:r>
              <a:rPr lang="ru-RU" dirty="0"/>
              <a:t>-тестировании; </a:t>
            </a:r>
          </a:p>
          <a:p>
            <a:r>
              <a:rPr lang="ru-RU" dirty="0"/>
              <a:t>при проверке логики функций; </a:t>
            </a:r>
          </a:p>
          <a:p>
            <a:r>
              <a:rPr lang="ru-RU" dirty="0"/>
              <a:t>при анализе покрытия кода; </a:t>
            </a:r>
          </a:p>
          <a:p>
            <a:r>
              <a:rPr lang="ru-RU" dirty="0"/>
              <a:t>при проверке ветвлений; </a:t>
            </a:r>
          </a:p>
          <a:p>
            <a:r>
              <a:rPr lang="ru-RU" dirty="0"/>
              <a:t>при проверке циклов; </a:t>
            </a:r>
          </a:p>
          <a:p>
            <a:r>
              <a:rPr lang="ru-RU" dirty="0"/>
              <a:t>при тестировании алгоритмов; </a:t>
            </a:r>
          </a:p>
          <a:p>
            <a:r>
              <a:rPr lang="ru-RU" dirty="0"/>
              <a:t>при </a:t>
            </a:r>
            <a:r>
              <a:rPr lang="ru-RU" dirty="0" err="1"/>
              <a:t>security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; </a:t>
            </a:r>
          </a:p>
          <a:p>
            <a:r>
              <a:rPr lang="ru-RU" dirty="0"/>
              <a:t>при </a:t>
            </a:r>
            <a:r>
              <a:rPr lang="ru-RU" dirty="0" err="1"/>
              <a:t>code</a:t>
            </a:r>
            <a:r>
              <a:rPr lang="ru-RU" dirty="0"/>
              <a:t> </a:t>
            </a:r>
            <a:r>
              <a:rPr lang="ru-RU" dirty="0" err="1"/>
              <a:t>review</a:t>
            </a:r>
            <a:r>
              <a:rPr lang="ru-RU" dirty="0"/>
              <a:t>; </a:t>
            </a:r>
          </a:p>
          <a:p>
            <a:r>
              <a:rPr lang="ru-RU" dirty="0"/>
              <a:t>при статическом анализе кода.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81587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17D14FC-DDDB-423D-AF44-8AA02914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</a:t>
            </a:r>
            <a:r>
              <a:rPr lang="en-US" dirty="0"/>
              <a:t>white-box testing</a:t>
            </a:r>
            <a:endParaRPr lang="ru-KZ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C7D25C5-CF34-41A1-87C6-9B2DCB87D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3448" y="1333071"/>
            <a:ext cx="6467302" cy="532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27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ru-RU" sz="2800" dirty="0"/>
              <a:t>Покрытие операторов</a:t>
            </a:r>
            <a:endParaRPr lang="ru-KZ" sz="28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5FC1E1F-FEA1-4E11-902D-22A013BE3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483" y="1978429"/>
            <a:ext cx="9401171" cy="390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90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ru-RU" sz="2800" dirty="0"/>
              <a:t>Покрытие </a:t>
            </a:r>
            <a:r>
              <a:rPr lang="ru-KZ" sz="2800" dirty="0"/>
              <a:t>в</a:t>
            </a:r>
            <a:r>
              <a:rPr lang="kk-KZ" sz="2800" dirty="0"/>
              <a:t>е</a:t>
            </a:r>
            <a:r>
              <a:rPr lang="ru-KZ" sz="2800" dirty="0"/>
              <a:t>т</a:t>
            </a:r>
            <a:r>
              <a:rPr lang="kk-KZ" sz="2800" dirty="0"/>
              <a:t>в</a:t>
            </a:r>
            <a:r>
              <a:rPr lang="ru-KZ" sz="2800" dirty="0"/>
              <a:t>е</a:t>
            </a:r>
            <a:r>
              <a:rPr lang="kk-KZ" sz="2800" dirty="0"/>
              <a:t>й</a:t>
            </a:r>
            <a:endParaRPr lang="ru-KZ" sz="28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3039110-06E0-43C0-886E-61F19EB51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3353" y="1690689"/>
            <a:ext cx="6646008" cy="436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50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ru-RU" sz="2800" dirty="0"/>
              <a:t>Покрытие </a:t>
            </a:r>
            <a:r>
              <a:rPr lang="kk-KZ" sz="2800" dirty="0"/>
              <a:t>у</a:t>
            </a:r>
            <a:r>
              <a:rPr lang="ru-KZ" sz="2800" dirty="0"/>
              <a:t>с</a:t>
            </a:r>
            <a:r>
              <a:rPr lang="kk-KZ" sz="2800" dirty="0"/>
              <a:t>л</a:t>
            </a:r>
            <a:r>
              <a:rPr lang="ru-KZ" sz="2800" dirty="0"/>
              <a:t>о</a:t>
            </a:r>
            <a:r>
              <a:rPr lang="kk-KZ" sz="2800" dirty="0"/>
              <a:t>в</a:t>
            </a:r>
            <a:r>
              <a:rPr lang="ru-KZ" sz="2800" dirty="0"/>
              <a:t>и</a:t>
            </a:r>
            <a:r>
              <a:rPr lang="kk-KZ" sz="2800" dirty="0"/>
              <a:t>й</a:t>
            </a:r>
            <a:endParaRPr lang="ru-KZ" sz="28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4162837-EE08-44EC-840C-116DDBD8B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091" y="1673987"/>
            <a:ext cx="5885107" cy="494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33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ru-RU" sz="2800" dirty="0"/>
              <a:t>Покрытие </a:t>
            </a:r>
            <a:r>
              <a:rPr lang="ru-KZ" sz="2800" dirty="0"/>
              <a:t>п</a:t>
            </a:r>
            <a:r>
              <a:rPr lang="kk-KZ" sz="2800" dirty="0"/>
              <a:t>у</a:t>
            </a:r>
            <a:r>
              <a:rPr lang="ru-KZ" sz="2800" dirty="0"/>
              <a:t>т</a:t>
            </a:r>
            <a:r>
              <a:rPr lang="kk-KZ" sz="2800" dirty="0"/>
              <a:t>е</a:t>
            </a:r>
            <a:r>
              <a:rPr lang="ru-KZ" sz="2800" dirty="0"/>
              <a:t>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B34130F-5F8A-47A7-B361-04413BD92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687" y="1690688"/>
            <a:ext cx="588022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54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ru-RU" sz="2800" dirty="0"/>
              <a:t>Т</a:t>
            </a:r>
            <a:r>
              <a:rPr lang="ru-KZ" sz="2800" dirty="0"/>
              <a:t>е</a:t>
            </a:r>
            <a:r>
              <a:rPr lang="kk-KZ" sz="2800" dirty="0"/>
              <a:t>с</a:t>
            </a:r>
            <a:r>
              <a:rPr lang="ru-KZ" sz="2800" dirty="0"/>
              <a:t>т</a:t>
            </a:r>
            <a:r>
              <a:rPr lang="kk-KZ" sz="2800" dirty="0"/>
              <a:t>и</a:t>
            </a:r>
            <a:r>
              <a:rPr lang="ru-KZ" sz="2800" dirty="0"/>
              <a:t>р</a:t>
            </a:r>
            <a:r>
              <a:rPr lang="kk-KZ" sz="2800" dirty="0"/>
              <a:t>о</a:t>
            </a:r>
            <a:r>
              <a:rPr lang="ru-KZ" sz="2800" dirty="0"/>
              <a:t>в</a:t>
            </a:r>
            <a:r>
              <a:rPr lang="kk-KZ" sz="2800" dirty="0"/>
              <a:t>а</a:t>
            </a:r>
            <a:r>
              <a:rPr lang="ru-KZ" sz="2800" dirty="0"/>
              <a:t>н</a:t>
            </a:r>
            <a:r>
              <a:rPr lang="kk-KZ" sz="2800" dirty="0"/>
              <a:t>и</a:t>
            </a:r>
            <a:r>
              <a:rPr lang="ru-KZ" sz="2800" dirty="0"/>
              <a:t>е </a:t>
            </a:r>
            <a:r>
              <a:rPr lang="kk-KZ" sz="2800" dirty="0"/>
              <a:t>ц</a:t>
            </a:r>
            <a:r>
              <a:rPr lang="ru-KZ" sz="2800" dirty="0"/>
              <a:t>и</a:t>
            </a:r>
            <a:r>
              <a:rPr lang="kk-KZ" sz="2800" dirty="0"/>
              <a:t>к</a:t>
            </a:r>
            <a:r>
              <a:rPr lang="ru-KZ" sz="2800" dirty="0"/>
              <a:t>л</a:t>
            </a:r>
            <a:r>
              <a:rPr lang="kk-KZ" sz="2800" dirty="0"/>
              <a:t>о</a:t>
            </a:r>
            <a:r>
              <a:rPr lang="ru-KZ" sz="2800" dirty="0"/>
              <a:t>в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87AA97A7-FBBA-4CA1-B6F6-E49EB8F60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1784" y="1690688"/>
            <a:ext cx="6568432" cy="496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94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391-A4A7-4ADE-BF35-FD204C41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методы </a:t>
            </a:r>
            <a:r>
              <a:rPr lang="ru-RU" dirty="0" err="1"/>
              <a:t>white-box</a:t>
            </a:r>
            <a:r>
              <a:rPr lang="ru-RU" dirty="0"/>
              <a:t> </a:t>
            </a:r>
            <a:r>
              <a:rPr lang="ru-RU" dirty="0" err="1"/>
              <a:t>testing</a:t>
            </a:r>
            <a:br>
              <a:rPr lang="ru-RU" dirty="0"/>
            </a:br>
            <a:r>
              <a:rPr lang="en-US" sz="2800" dirty="0"/>
              <a:t>Unit testing</a:t>
            </a:r>
            <a:endParaRPr lang="ru-KZ" sz="28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3B350D0-F48B-4F5D-AF98-558C90378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5215" y="1411720"/>
            <a:ext cx="5536276" cy="508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13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93204DF-A102-458A-AEAA-7A534513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992"/>
            <a:ext cx="5157787" cy="823912"/>
          </a:xfrm>
        </p:spPr>
        <p:txBody>
          <a:bodyPr/>
          <a:lstStyle/>
          <a:p>
            <a:r>
              <a:rPr lang="kk-KZ" dirty="0"/>
              <a:t>Преимущества</a:t>
            </a:r>
            <a:endParaRPr lang="ru-KZ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6271141-E352-43E1-86D3-2F8C2DD45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4992"/>
            <a:ext cx="5183188" cy="823912"/>
          </a:xfrm>
        </p:spPr>
        <p:txBody>
          <a:bodyPr/>
          <a:lstStyle/>
          <a:p>
            <a:r>
              <a:rPr lang="kk-KZ" dirty="0"/>
              <a:t>Недостатки</a:t>
            </a:r>
            <a:endParaRPr lang="ru-KZ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8B61826A-C0F1-4D2E-AF9F-45B24F29B14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7198096"/>
              </p:ext>
            </p:extLst>
          </p:nvPr>
        </p:nvGraphicFramePr>
        <p:xfrm>
          <a:off x="324399" y="1019727"/>
          <a:ext cx="5157786" cy="53536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78893">
                  <a:extLst>
                    <a:ext uri="{9D8B030D-6E8A-4147-A177-3AD203B41FA5}">
                      <a16:colId xmlns:a16="http://schemas.microsoft.com/office/drawing/2014/main" val="1647351032"/>
                    </a:ext>
                  </a:extLst>
                </a:gridCol>
                <a:gridCol w="2578893">
                  <a:extLst>
                    <a:ext uri="{9D8B030D-6E8A-4147-A177-3AD203B41FA5}">
                      <a16:colId xmlns:a16="http://schemas.microsoft.com/office/drawing/2014/main" val="902682457"/>
                    </a:ext>
                  </a:extLst>
                </a:gridCol>
              </a:tblGrid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Преимущество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50675195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Глубокая проверка логики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Проверяются условия, ветви, алгоритмы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245477825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 dirty="0"/>
                        <a:t>Можно измерять покрытие кода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Видно, какие части кода проверены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84070017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Ошибки находятся рано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Особенно на этапе разработки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007628981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Легко локализовать дефект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Понятно, в каком участке кода проблема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537970088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Подходит для автоматизации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Unit-</a:t>
                      </a:r>
                      <a:r>
                        <a:rPr lang="kk-KZ" sz="2000"/>
                        <a:t>тесты легко запускать автоматически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04148734"/>
                  </a:ext>
                </a:extLst>
              </a:tr>
              <a:tr h="512552">
                <a:tc>
                  <a:txBody>
                    <a:bodyPr/>
                    <a:lstStyle/>
                    <a:p>
                      <a:r>
                        <a:rPr lang="kk-KZ" sz="2000"/>
                        <a:t>Повышает качество кода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Разработчики лучше контролируют изменения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471867049"/>
                  </a:ext>
                </a:extLst>
              </a:tr>
            </a:tbl>
          </a:graphicData>
        </a:graphic>
      </p:graphicFrame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A92B074E-C565-4943-AF11-924589284BD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38637915"/>
              </p:ext>
            </p:extLst>
          </p:nvPr>
        </p:nvGraphicFramePr>
        <p:xfrm>
          <a:off x="5997575" y="1019727"/>
          <a:ext cx="5183188" cy="49768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1594">
                  <a:extLst>
                    <a:ext uri="{9D8B030D-6E8A-4147-A177-3AD203B41FA5}">
                      <a16:colId xmlns:a16="http://schemas.microsoft.com/office/drawing/2014/main" val="3935947386"/>
                    </a:ext>
                  </a:extLst>
                </a:gridCol>
                <a:gridCol w="2591594">
                  <a:extLst>
                    <a:ext uri="{9D8B030D-6E8A-4147-A177-3AD203B41FA5}">
                      <a16:colId xmlns:a16="http://schemas.microsoft.com/office/drawing/2014/main" val="1986516506"/>
                    </a:ext>
                  </a:extLst>
                </a:gridCol>
              </a:tblGrid>
              <a:tr h="484281">
                <a:tc>
                  <a:txBody>
                    <a:bodyPr/>
                    <a:lstStyle/>
                    <a:p>
                      <a:r>
                        <a:rPr lang="kk-KZ" sz="2000"/>
                        <a:t>Недостаток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405961458"/>
                  </a:ext>
                </a:extLst>
              </a:tr>
              <a:tr h="484281">
                <a:tc>
                  <a:txBody>
                    <a:bodyPr/>
                    <a:lstStyle/>
                    <a:p>
                      <a:r>
                        <a:rPr lang="kk-KZ" sz="2000"/>
                        <a:t>Требует знания программирования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Нужны технические навыки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769627490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2000"/>
                        <a:t>Не всегда проверяет пользовательский сценарий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Код может быть покрыт, но пользовательский путь сломан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008737160"/>
                  </a:ext>
                </a:extLst>
              </a:tr>
              <a:tr h="848782">
                <a:tc>
                  <a:txBody>
                    <a:bodyPr/>
                    <a:lstStyle/>
                    <a:p>
                      <a:r>
                        <a:rPr lang="ru-RU" sz="2000"/>
                        <a:t>Может не выявить пропущенные требования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Если функция вообще не реализована, но код покрыт тестами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540580044"/>
                  </a:ext>
                </a:extLst>
              </a:tr>
              <a:tr h="484281">
                <a:tc>
                  <a:txBody>
                    <a:bodyPr/>
                    <a:lstStyle/>
                    <a:p>
                      <a:r>
                        <a:rPr lang="kk-KZ" sz="2000"/>
                        <a:t>Требует поддержки тестов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При изменении кода тесты нужно обновлять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005048347"/>
                  </a:ext>
                </a:extLst>
              </a:tr>
              <a:tr h="484281">
                <a:tc>
                  <a:txBody>
                    <a:bodyPr/>
                    <a:lstStyle/>
                    <a:p>
                      <a:r>
                        <a:rPr lang="kk-KZ" sz="2000"/>
                        <a:t>Не заменяет </a:t>
                      </a:r>
                      <a:r>
                        <a:rPr lang="en-US" sz="2000"/>
                        <a:t>black-box testing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Внешнее поведение тоже нужно проверять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301441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686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119F61B-4AD2-4EE3-8BBB-38F5D683E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Gray-box testing</a:t>
            </a:r>
            <a:endParaRPr lang="ru-KZ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7CEA2A6-4CD5-4F0D-BA9F-30FE7A6A0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45279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68DD3CE4-3A8D-4CB6-8FD6-B0C9BDBB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4DCD5DE4-E87B-47E9-AA3D-43EDFA22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Gray-box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подход, при котором тестировщик частично знает внутреннюю структуру системы, но проверяет ее преимущественно через внешний интерфейс, API или пользовательские сценарии.</a:t>
            </a:r>
          </a:p>
          <a:p>
            <a:pPr marL="0" indent="0">
              <a:buNone/>
            </a:pPr>
            <a:r>
              <a:rPr lang="ru-RU" dirty="0"/>
              <a:t>Главный вопрос </a:t>
            </a:r>
            <a:r>
              <a:rPr lang="ru-RU" dirty="0" err="1"/>
              <a:t>gray-box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Правильно ли система работает снаружи, если учитывать известные внутренние связи и структуру?</a:t>
            </a:r>
          </a:p>
          <a:p>
            <a:pPr marL="0" indent="0">
              <a:buNone/>
            </a:pPr>
            <a:r>
              <a:rPr lang="ru-RU" dirty="0" err="1"/>
              <a:t>Gray-box</a:t>
            </a:r>
            <a:r>
              <a:rPr lang="ru-RU" dirty="0"/>
              <a:t> находится между </a:t>
            </a:r>
            <a:r>
              <a:rPr lang="ru-RU" dirty="0" err="1"/>
              <a:t>black-box</a:t>
            </a:r>
            <a:r>
              <a:rPr lang="ru-RU" dirty="0"/>
              <a:t> и </a:t>
            </a:r>
            <a:r>
              <a:rPr lang="ru-RU" dirty="0" err="1"/>
              <a:t>white-box</a:t>
            </a:r>
            <a:r>
              <a:rPr lang="ru-RU" dirty="0"/>
              <a:t>.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630359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10034F38-FA45-473E-941C-AF92F00BF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9" y="498764"/>
            <a:ext cx="11139055" cy="5678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Что знает тестировщик при </a:t>
            </a:r>
            <a:r>
              <a:rPr lang="ru-RU" b="1" dirty="0" err="1"/>
              <a:t>gray-box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Тестировщик может знать:</a:t>
            </a:r>
          </a:p>
          <a:p>
            <a:r>
              <a:rPr lang="ru-RU" dirty="0"/>
              <a:t>архитектуру системы; </a:t>
            </a:r>
          </a:p>
          <a:p>
            <a:r>
              <a:rPr lang="ru-RU" dirty="0"/>
              <a:t>структуру базы данных; </a:t>
            </a:r>
          </a:p>
          <a:p>
            <a:r>
              <a:rPr lang="ru-RU" dirty="0"/>
              <a:t>основные модули; </a:t>
            </a:r>
          </a:p>
          <a:p>
            <a:r>
              <a:rPr lang="ru-RU" dirty="0"/>
              <a:t>API-контракты; </a:t>
            </a:r>
          </a:p>
          <a:p>
            <a:r>
              <a:rPr lang="ru-RU" dirty="0"/>
              <a:t>логику интеграции; </a:t>
            </a:r>
          </a:p>
          <a:p>
            <a:r>
              <a:rPr lang="ru-RU" dirty="0"/>
              <a:t>роли пользователей; </a:t>
            </a:r>
          </a:p>
          <a:p>
            <a:r>
              <a:rPr lang="ru-RU" dirty="0"/>
              <a:t>формат сообщений; </a:t>
            </a:r>
          </a:p>
          <a:p>
            <a:r>
              <a:rPr lang="ru-RU" dirty="0"/>
              <a:t>таблицы, где сохраняются данные; </a:t>
            </a:r>
          </a:p>
          <a:p>
            <a:r>
              <a:rPr lang="ru-RU" dirty="0"/>
              <a:t>какие сервисы участвуют в сценарии. </a:t>
            </a:r>
          </a:p>
          <a:p>
            <a:pPr marL="0" indent="0">
              <a:buNone/>
            </a:pPr>
            <a:r>
              <a:rPr lang="ru-RU" dirty="0"/>
              <a:t>Но при этом он не обязательно читает весь исходный код.</a:t>
            </a:r>
          </a:p>
          <a:p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899614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731F89-491C-4183-962B-23CA26FD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 </a:t>
            </a:r>
            <a:r>
              <a:rPr lang="en-US" dirty="0"/>
              <a:t>gray-box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2753C-380D-425B-9DF0-71E441F28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1379913"/>
            <a:ext cx="11405061" cy="51129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Объект: регистрация пользователя.</a:t>
            </a:r>
          </a:p>
          <a:p>
            <a:pPr marL="0" indent="0">
              <a:buNone/>
            </a:pPr>
            <a:r>
              <a:rPr lang="ru-RU" dirty="0"/>
              <a:t>Тестировщик знает:</a:t>
            </a:r>
          </a:p>
          <a:p>
            <a:r>
              <a:rPr lang="ru-RU" dirty="0"/>
              <a:t>данные сохраняются в таблицу </a:t>
            </a:r>
            <a:r>
              <a:rPr lang="ru-RU" dirty="0" err="1"/>
              <a:t>users</a:t>
            </a:r>
            <a:r>
              <a:rPr lang="ru-RU" dirty="0"/>
              <a:t>; </a:t>
            </a:r>
          </a:p>
          <a:p>
            <a:r>
              <a:rPr lang="ru-RU" dirty="0"/>
              <a:t>после регистрации отправляется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API возвращает статус 201; </a:t>
            </a:r>
          </a:p>
          <a:p>
            <a:r>
              <a:rPr lang="ru-RU" dirty="0"/>
              <a:t>пароль должен храниться в зашифрованном виде. </a:t>
            </a:r>
          </a:p>
          <a:p>
            <a:pPr marL="0" indent="0">
              <a:buNone/>
            </a:pPr>
            <a:r>
              <a:rPr lang="ru-RU" dirty="0"/>
              <a:t>Проверка:</a:t>
            </a:r>
          </a:p>
          <a:p>
            <a:r>
              <a:rPr lang="ru-RU" dirty="0"/>
              <a:t>Заполнить форму регистрации. </a:t>
            </a:r>
          </a:p>
          <a:p>
            <a:r>
              <a:rPr lang="ru-RU" dirty="0"/>
              <a:t>Нажать «Зарегистрироваться». </a:t>
            </a:r>
          </a:p>
          <a:p>
            <a:r>
              <a:rPr lang="ru-RU" dirty="0"/>
              <a:t>Проверить сообщение в интерфейсе. </a:t>
            </a:r>
          </a:p>
          <a:p>
            <a:r>
              <a:rPr lang="ru-RU" dirty="0"/>
              <a:t>Проверить ответ API. </a:t>
            </a:r>
          </a:p>
          <a:p>
            <a:r>
              <a:rPr lang="ru-RU" dirty="0"/>
              <a:t>Проверить запись в базе данных. </a:t>
            </a:r>
          </a:p>
          <a:p>
            <a:r>
              <a:rPr lang="ru-RU" dirty="0"/>
              <a:t>Проверить, что пароль не хранится открытым текстом. </a:t>
            </a:r>
          </a:p>
          <a:p>
            <a:r>
              <a:rPr lang="ru-RU" dirty="0"/>
              <a:t>Проверить, что письмо отправлено. </a:t>
            </a:r>
          </a:p>
          <a:p>
            <a:pPr marL="0" indent="0">
              <a:buNone/>
            </a:pPr>
            <a:r>
              <a:rPr lang="ru-RU" dirty="0"/>
              <a:t>Это </a:t>
            </a:r>
            <a:r>
              <a:rPr lang="ru-RU" dirty="0" err="1"/>
              <a:t>gray-box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, потому что тестировщик проверяет поведение системы снаружи, но использует знание внутренней 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2557099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9A98E-84CC-42B7-ABFD-0021C659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Где применяется </a:t>
            </a:r>
            <a:r>
              <a:rPr lang="en-US" dirty="0"/>
              <a:t>gray-box testing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8991C-EBB0-4C8A-9326-A29332EE3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err="1"/>
              <a:t>Gray-box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 применяется при:</a:t>
            </a:r>
          </a:p>
          <a:p>
            <a:r>
              <a:rPr lang="ru-RU" dirty="0"/>
              <a:t>интеграционном тестировании; </a:t>
            </a:r>
          </a:p>
          <a:p>
            <a:r>
              <a:rPr lang="ru-RU" dirty="0"/>
              <a:t>API-тестировании; </a:t>
            </a:r>
          </a:p>
          <a:p>
            <a:r>
              <a:rPr lang="ru-RU" dirty="0"/>
              <a:t>системном тестировании; </a:t>
            </a:r>
          </a:p>
          <a:p>
            <a:r>
              <a:rPr lang="ru-RU" dirty="0"/>
              <a:t>тестировании баз данных; </a:t>
            </a:r>
          </a:p>
          <a:p>
            <a:r>
              <a:rPr lang="ru-RU" dirty="0"/>
              <a:t>тестировании безопасности; </a:t>
            </a:r>
          </a:p>
          <a:p>
            <a:r>
              <a:rPr lang="ru-RU" dirty="0"/>
              <a:t>проверке логов; </a:t>
            </a:r>
          </a:p>
          <a:p>
            <a:r>
              <a:rPr lang="ru-RU" dirty="0"/>
              <a:t>проверке </a:t>
            </a:r>
            <a:r>
              <a:rPr lang="ru-RU" dirty="0" err="1"/>
              <a:t>микросервисов</a:t>
            </a:r>
            <a:r>
              <a:rPr lang="ru-RU" dirty="0"/>
              <a:t>; </a:t>
            </a:r>
          </a:p>
          <a:p>
            <a:r>
              <a:rPr lang="ru-RU" dirty="0"/>
              <a:t>тестировании клиент-серверных приложений; </a:t>
            </a:r>
          </a:p>
          <a:p>
            <a:r>
              <a:rPr lang="ru-RU" dirty="0"/>
              <a:t>проверке веб-сервисов; </a:t>
            </a:r>
          </a:p>
          <a:p>
            <a:r>
              <a:rPr lang="ru-RU" dirty="0"/>
              <a:t>проверке мобильного приложения + </a:t>
            </a:r>
            <a:r>
              <a:rPr lang="ru-RU" dirty="0" err="1"/>
              <a:t>backend</a:t>
            </a:r>
            <a:r>
              <a:rPr lang="ru-RU" dirty="0"/>
              <a:t>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797865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CCFA2-6FCA-4E40-A243-C45DBD85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Примеры </a:t>
            </a:r>
            <a:r>
              <a:rPr lang="en-US" dirty="0"/>
              <a:t>gray-box </a:t>
            </a:r>
            <a:r>
              <a:rPr lang="en-US" dirty="0" err="1"/>
              <a:t>testin</a:t>
            </a:r>
            <a:endParaRPr lang="ru-KZ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60B2D4-DFC5-499C-AC2F-019A9B29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9" y="1415322"/>
            <a:ext cx="2113463" cy="2753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8B9C63-E4DD-41CA-AC78-DFE7BA664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6" y="1690688"/>
            <a:ext cx="4586186" cy="17383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6B7225-8B90-485F-9C6C-54B7FE70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8" y="3690812"/>
            <a:ext cx="3022822" cy="3595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F93050-0364-4220-8E89-4690927DD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35" y="4112701"/>
            <a:ext cx="5068965" cy="17383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647899-184F-43BE-A5D7-B3E4F7A8E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839" y="1250175"/>
            <a:ext cx="5201447" cy="4405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CEFCD2-96BB-4A23-A6B7-44195B9EB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6839" y="1723937"/>
            <a:ext cx="4192637" cy="211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03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A93204DF-A102-458A-AEAA-7A534513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9382" y="544487"/>
            <a:ext cx="5157787" cy="823912"/>
          </a:xfrm>
        </p:spPr>
        <p:txBody>
          <a:bodyPr/>
          <a:lstStyle/>
          <a:p>
            <a:r>
              <a:rPr lang="kk-KZ" dirty="0"/>
              <a:t>Преимущества</a:t>
            </a:r>
            <a:endParaRPr lang="ru-KZ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6271141-E352-43E1-86D3-2F8C2DD45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520028"/>
            <a:ext cx="5183188" cy="823912"/>
          </a:xfrm>
        </p:spPr>
        <p:txBody>
          <a:bodyPr/>
          <a:lstStyle/>
          <a:p>
            <a:r>
              <a:rPr lang="kk-KZ" dirty="0"/>
              <a:t>Недостатки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8A74C4DE-84B0-4F41-A890-FA63E971621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1119090"/>
              </p:ext>
            </p:extLst>
          </p:nvPr>
        </p:nvGraphicFramePr>
        <p:xfrm>
          <a:off x="249382" y="1368399"/>
          <a:ext cx="5748192" cy="47067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74096">
                  <a:extLst>
                    <a:ext uri="{9D8B030D-6E8A-4147-A177-3AD203B41FA5}">
                      <a16:colId xmlns:a16="http://schemas.microsoft.com/office/drawing/2014/main" val="941735437"/>
                    </a:ext>
                  </a:extLst>
                </a:gridCol>
                <a:gridCol w="2874096">
                  <a:extLst>
                    <a:ext uri="{9D8B030D-6E8A-4147-A177-3AD203B41FA5}">
                      <a16:colId xmlns:a16="http://schemas.microsoft.com/office/drawing/2014/main" val="2424025659"/>
                    </a:ext>
                  </a:extLst>
                </a:gridCol>
              </a:tblGrid>
              <a:tr h="475211">
                <a:tc>
                  <a:txBody>
                    <a:bodyPr/>
                    <a:lstStyle/>
                    <a:p>
                      <a:r>
                        <a:rPr lang="kk-KZ" sz="2000"/>
                        <a:t>Преимущество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921617151"/>
                  </a:ext>
                </a:extLst>
              </a:tr>
              <a:tr h="475211">
                <a:tc>
                  <a:txBody>
                    <a:bodyPr/>
                    <a:lstStyle/>
                    <a:p>
                      <a:r>
                        <a:rPr lang="ru-RU" sz="2000"/>
                        <a:t>Лучше black-box при поиске причин дефектов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Тестировщик знает внутренние связи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537425763"/>
                  </a:ext>
                </a:extLst>
              </a:tr>
              <a:tr h="475211">
                <a:tc>
                  <a:txBody>
                    <a:bodyPr/>
                    <a:lstStyle/>
                    <a:p>
                      <a:r>
                        <a:rPr lang="ru-RU" sz="2000"/>
                        <a:t>Не требует полного знания кода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Достаточно архитектуры или </a:t>
                      </a:r>
                      <a:r>
                        <a:rPr lang="en-US" sz="2000"/>
                        <a:t>API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572698884"/>
                  </a:ext>
                </a:extLst>
              </a:tr>
              <a:tr h="833322">
                <a:tc>
                  <a:txBody>
                    <a:bodyPr/>
                    <a:lstStyle/>
                    <a:p>
                      <a:r>
                        <a:rPr lang="kk-KZ" sz="2000"/>
                        <a:t>Хорошо подходит для интеграций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Можно проверить передачу данных между модулями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682656131"/>
                  </a:ext>
                </a:extLst>
              </a:tr>
              <a:tr h="475211">
                <a:tc>
                  <a:txBody>
                    <a:bodyPr/>
                    <a:lstStyle/>
                    <a:p>
                      <a:r>
                        <a:rPr lang="kk-KZ" sz="2000"/>
                        <a:t>Помогает проверять безопасность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Например, хранение паролей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703000897"/>
                  </a:ext>
                </a:extLst>
              </a:tr>
              <a:tr h="475211">
                <a:tc>
                  <a:txBody>
                    <a:bodyPr/>
                    <a:lstStyle/>
                    <a:p>
                      <a:r>
                        <a:rPr lang="ru-RU" sz="2000"/>
                        <a:t>Удобен для API и БД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Можно проверять ответы и сохранение данных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57040676"/>
                  </a:ext>
                </a:extLst>
              </a:tr>
              <a:tr h="475211">
                <a:tc>
                  <a:txBody>
                    <a:bodyPr/>
                    <a:lstStyle/>
                    <a:p>
                      <a:r>
                        <a:rPr lang="kk-KZ" sz="2000"/>
                        <a:t>Повышает качество системных проверок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Тесты становятся глубже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13373930"/>
                  </a:ext>
                </a:extLst>
              </a:tr>
            </a:tbl>
          </a:graphicData>
        </a:graphic>
      </p:graphicFrame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2D07D399-2C09-4AD3-899C-83C69847570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18887493"/>
              </p:ext>
            </p:extLst>
          </p:nvPr>
        </p:nvGraphicFramePr>
        <p:xfrm>
          <a:off x="6172199" y="1368400"/>
          <a:ext cx="5748192" cy="41104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74096">
                  <a:extLst>
                    <a:ext uri="{9D8B030D-6E8A-4147-A177-3AD203B41FA5}">
                      <a16:colId xmlns:a16="http://schemas.microsoft.com/office/drawing/2014/main" val="3002141367"/>
                    </a:ext>
                  </a:extLst>
                </a:gridCol>
                <a:gridCol w="2874096">
                  <a:extLst>
                    <a:ext uri="{9D8B030D-6E8A-4147-A177-3AD203B41FA5}">
                      <a16:colId xmlns:a16="http://schemas.microsoft.com/office/drawing/2014/main" val="3307749396"/>
                    </a:ext>
                  </a:extLst>
                </a:gridCol>
              </a:tblGrid>
              <a:tr h="532271">
                <a:tc>
                  <a:txBody>
                    <a:bodyPr/>
                    <a:lstStyle/>
                    <a:p>
                      <a:r>
                        <a:rPr lang="kk-KZ" sz="2000"/>
                        <a:t>Недостаток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69740633"/>
                  </a:ext>
                </a:extLst>
              </a:tr>
              <a:tr h="532271">
                <a:tc>
                  <a:txBody>
                    <a:bodyPr/>
                    <a:lstStyle/>
                    <a:p>
                      <a:r>
                        <a:rPr lang="kk-KZ" sz="2000" dirty="0"/>
                        <a:t>Требует технических знаний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Нужно понимать API, БД, архитектуру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41983005"/>
                  </a:ext>
                </a:extLst>
              </a:tr>
              <a:tr h="532271">
                <a:tc>
                  <a:txBody>
                    <a:bodyPr/>
                    <a:lstStyle/>
                    <a:p>
                      <a:r>
                        <a:rPr lang="ru-RU" sz="2000"/>
                        <a:t>Может быть сложнее для начинающих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Нужно больше подготовки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245650480"/>
                  </a:ext>
                </a:extLst>
              </a:tr>
              <a:tr h="532271">
                <a:tc>
                  <a:txBody>
                    <a:bodyPr/>
                    <a:lstStyle/>
                    <a:p>
                      <a:r>
                        <a:rPr lang="ru-RU" sz="2000"/>
                        <a:t>Нет полного контроля над кодом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Это не полноценный </a:t>
                      </a:r>
                      <a:r>
                        <a:rPr lang="en-US" sz="2000"/>
                        <a:t>white-box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612184801"/>
                  </a:ext>
                </a:extLst>
              </a:tr>
              <a:tr h="532271">
                <a:tc>
                  <a:txBody>
                    <a:bodyPr/>
                    <a:lstStyle/>
                    <a:p>
                      <a:r>
                        <a:rPr lang="kk-KZ" sz="2000"/>
                        <a:t>Может занимать больше времени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Проверяются и внешние, и внутренние аспекты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35127639"/>
                  </a:ext>
                </a:extLst>
              </a:tr>
              <a:tr h="932894">
                <a:tc>
                  <a:txBody>
                    <a:bodyPr/>
                    <a:lstStyle/>
                    <a:p>
                      <a:r>
                        <a:rPr lang="ru-RU" sz="2000"/>
                        <a:t>Есть риск зависимости от реализации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 изменении архитектуры тесты нужно обновлять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96012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404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01FAF26-9D4C-4798-A314-A191124A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995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kk-KZ" dirty="0"/>
              <a:t>Сравнение </a:t>
            </a:r>
            <a:r>
              <a:rPr lang="en-US" dirty="0"/>
              <a:t>black-box, white-box </a:t>
            </a:r>
            <a:r>
              <a:rPr lang="kk-KZ" dirty="0"/>
              <a:t>и </a:t>
            </a:r>
            <a:r>
              <a:rPr lang="en-US" dirty="0"/>
              <a:t>gray-box</a:t>
            </a:r>
            <a:endParaRPr lang="ru-KZ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6FD5AA3-1710-49ED-BE24-624933794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53833"/>
              </p:ext>
            </p:extLst>
          </p:nvPr>
        </p:nvGraphicFramePr>
        <p:xfrm>
          <a:off x="293716" y="714895"/>
          <a:ext cx="11604568" cy="5834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2686">
                  <a:extLst>
                    <a:ext uri="{9D8B030D-6E8A-4147-A177-3AD203B41FA5}">
                      <a16:colId xmlns:a16="http://schemas.microsoft.com/office/drawing/2014/main" val="1751308128"/>
                    </a:ext>
                  </a:extLst>
                </a:gridCol>
                <a:gridCol w="3440960">
                  <a:extLst>
                    <a:ext uri="{9D8B030D-6E8A-4147-A177-3AD203B41FA5}">
                      <a16:colId xmlns:a16="http://schemas.microsoft.com/office/drawing/2014/main" val="1500567101"/>
                    </a:ext>
                  </a:extLst>
                </a:gridCol>
                <a:gridCol w="2747482">
                  <a:extLst>
                    <a:ext uri="{9D8B030D-6E8A-4147-A177-3AD203B41FA5}">
                      <a16:colId xmlns:a16="http://schemas.microsoft.com/office/drawing/2014/main" val="381014833"/>
                    </a:ext>
                  </a:extLst>
                </a:gridCol>
                <a:gridCol w="3603440">
                  <a:extLst>
                    <a:ext uri="{9D8B030D-6E8A-4147-A177-3AD203B41FA5}">
                      <a16:colId xmlns:a16="http://schemas.microsoft.com/office/drawing/2014/main" val="2049420583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r>
                        <a:rPr lang="kk-KZ" sz="2000"/>
                        <a:t>Критерий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Black-box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White-box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Gray-box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545372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kk-KZ" sz="2000"/>
                        <a:t>Доступ к коду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Частичный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2862500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 dirty="0"/>
                        <a:t>Основа тестирования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Требования и поведение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Код и внутренняя логика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Требования + архитектура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043256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kk-KZ" sz="2000"/>
                        <a:t>Главный вопрос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Правильно ли система работает для пользователя?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Правильно ли работает код?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Правильно ли система работает с учетом внутренних связей?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7446252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/>
                        <a:t>Кто выполняет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QA, </a:t>
                      </a:r>
                      <a:r>
                        <a:rPr lang="kk-KZ" sz="2000" dirty="0"/>
                        <a:t>тестировщик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Разработчик, </a:t>
                      </a:r>
                      <a:r>
                        <a:rPr lang="en-US" sz="2000"/>
                        <a:t>QA Automation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QA, </a:t>
                      </a:r>
                      <a:r>
                        <a:rPr lang="kk-KZ" sz="2000"/>
                        <a:t>технический тестировщик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9597153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/>
                        <a:t>Пример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вход в систему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Проверить ветви функции авторизации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Проверить вход + токен + запись в БД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18198596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/>
                        <a:t>Уровни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Системное, приемочное, функциональное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Модульное, </a:t>
                      </a:r>
                      <a:r>
                        <a:rPr lang="en-US" sz="2000"/>
                        <a:t>unit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Интеграционное, </a:t>
                      </a:r>
                      <a:r>
                        <a:rPr lang="en-US" sz="2000"/>
                        <a:t>API, </a:t>
                      </a:r>
                      <a:r>
                        <a:rPr lang="kk-KZ" sz="2000"/>
                        <a:t>системное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1430488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/>
                        <a:t>Плюсы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Просто, близко к пользователю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Глубокая проверка кода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Баланс внешней и внутренней проверки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884053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kk-KZ" sz="2000" dirty="0"/>
                        <a:t>Минусы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Не видна внутренняя логика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Требует кода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Требует технического понимания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3753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40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1B310DF-AEA3-41D8-A5A6-4DB30C2C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подходов с другими видами тестирования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BCFB8A-2ECC-4770-9B3D-43DF9AA5A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29" y="1825625"/>
            <a:ext cx="4355869" cy="46672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Важно: </a:t>
            </a:r>
            <a:r>
              <a:rPr lang="ru-RU" dirty="0" err="1"/>
              <a:t>black-box</a:t>
            </a:r>
            <a:r>
              <a:rPr lang="ru-RU" dirty="0"/>
              <a:t>, </a:t>
            </a:r>
            <a:r>
              <a:rPr lang="ru-RU" dirty="0" err="1"/>
              <a:t>white-box</a:t>
            </a:r>
            <a:r>
              <a:rPr lang="ru-RU" dirty="0"/>
              <a:t> и </a:t>
            </a:r>
            <a:r>
              <a:rPr lang="ru-RU" dirty="0" err="1"/>
              <a:t>gray-box</a:t>
            </a:r>
            <a:r>
              <a:rPr lang="ru-RU" dirty="0"/>
              <a:t> — это не отдельные «темы изолированно». Они могут применяться внутри разных видов тестирования.</a:t>
            </a:r>
            <a:endParaRPr lang="ru-KZ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7F6EEE1-9B06-4152-BFB2-74E72833EB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0938814"/>
              </p:ext>
            </p:extLst>
          </p:nvPr>
        </p:nvGraphicFramePr>
        <p:xfrm>
          <a:off x="4655127" y="1246909"/>
          <a:ext cx="7237616" cy="54819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18808">
                  <a:extLst>
                    <a:ext uri="{9D8B030D-6E8A-4147-A177-3AD203B41FA5}">
                      <a16:colId xmlns:a16="http://schemas.microsoft.com/office/drawing/2014/main" val="224089912"/>
                    </a:ext>
                  </a:extLst>
                </a:gridCol>
                <a:gridCol w="3618808">
                  <a:extLst>
                    <a:ext uri="{9D8B030D-6E8A-4147-A177-3AD203B41FA5}">
                      <a16:colId xmlns:a16="http://schemas.microsoft.com/office/drawing/2014/main" val="3225066495"/>
                    </a:ext>
                  </a:extLst>
                </a:gridCol>
              </a:tblGrid>
              <a:tr h="712501">
                <a:tc>
                  <a:txBody>
                    <a:bodyPr/>
                    <a:lstStyle/>
                    <a:p>
                      <a:r>
                        <a:rPr lang="kk-KZ" sz="2200"/>
                        <a:t>Вид тестирования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Какой подход может использоваться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981781128"/>
                  </a:ext>
                </a:extLst>
              </a:tr>
              <a:tr h="712501">
                <a:tc>
                  <a:txBody>
                    <a:bodyPr/>
                    <a:lstStyle/>
                    <a:p>
                      <a:r>
                        <a:rPr lang="kk-KZ" sz="2200"/>
                        <a:t>Функциональное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Black-box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500500110"/>
                  </a:ext>
                </a:extLst>
              </a:tr>
              <a:tr h="712501">
                <a:tc>
                  <a:txBody>
                    <a:bodyPr/>
                    <a:lstStyle/>
                    <a:p>
                      <a:r>
                        <a:rPr lang="kk-KZ" sz="2200" dirty="0"/>
                        <a:t>Нефункциональное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Black-box / Gray-box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391564529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kk-KZ" sz="2200"/>
                        <a:t>Модульное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White-box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38857682"/>
                  </a:ext>
                </a:extLst>
              </a:tr>
              <a:tr h="712501">
                <a:tc>
                  <a:txBody>
                    <a:bodyPr/>
                    <a:lstStyle/>
                    <a:p>
                      <a:r>
                        <a:rPr lang="kk-KZ" sz="2200"/>
                        <a:t>Интеграционное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Gray-box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11389695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kk-KZ" sz="2200"/>
                        <a:t>Системное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Black-box / Gray-box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161199802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en-US" sz="2200" dirty="0"/>
                        <a:t>API-</a:t>
                      </a:r>
                      <a:r>
                        <a:rPr lang="kk-KZ" sz="2200" dirty="0"/>
                        <a:t>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Black-box / Gray-box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2620127054"/>
                  </a:ext>
                </a:extLst>
              </a:tr>
              <a:tr h="712501">
                <a:tc>
                  <a:txBody>
                    <a:bodyPr/>
                    <a:lstStyle/>
                    <a:p>
                      <a:r>
                        <a:rPr lang="en-US" sz="2200"/>
                        <a:t>Security testing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Black-box / White-box / Gray-box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61182974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kk-KZ" sz="2200"/>
                        <a:t>Регрессионное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Любой подход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9980448"/>
                  </a:ext>
                </a:extLst>
              </a:tr>
              <a:tr h="380770">
                <a:tc>
                  <a:txBody>
                    <a:bodyPr/>
                    <a:lstStyle/>
                    <a:p>
                      <a:r>
                        <a:rPr lang="kk-KZ" sz="2200"/>
                        <a:t>Приемочное тестирование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200" dirty="0"/>
                        <a:t>Обычно </a:t>
                      </a:r>
                      <a:r>
                        <a:rPr lang="en-US" sz="2200" dirty="0"/>
                        <a:t>black-box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961635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492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8F14C-9C35-4C49-95E8-AF40C046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Подробный пример на одной функции</a:t>
            </a:r>
            <a:br>
              <a:rPr lang="ru-KZ" dirty="0"/>
            </a:br>
            <a:r>
              <a:rPr lang="en-US" sz="2800" dirty="0"/>
              <a:t>White-box </a:t>
            </a:r>
            <a:r>
              <a:rPr lang="kk-KZ" sz="2800" dirty="0"/>
              <a:t>проверки</a:t>
            </a:r>
            <a:endParaRPr lang="ru-KZ" sz="2800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896F9C8-DF4A-4CC2-B1D3-8AE4B50A70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2733" y="1690688"/>
            <a:ext cx="5034161" cy="3280323"/>
          </a:xfrm>
          <a:prstGeom prst="rect">
            <a:avLst/>
          </a:prstGeom>
        </p:spPr>
      </p:pic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A708B7D4-26B0-4770-8E82-A8C50892CA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31726" y="2025492"/>
            <a:ext cx="6087541" cy="26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45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8F14C-9C35-4C49-95E8-AF40C046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Подробный пример на одной функции</a:t>
            </a:r>
            <a:br>
              <a:rPr lang="ru-KZ" dirty="0"/>
            </a:br>
            <a:r>
              <a:rPr lang="en-US" sz="2800" dirty="0"/>
              <a:t>Gray-box </a:t>
            </a:r>
            <a:r>
              <a:rPr lang="kk-KZ" sz="2800" dirty="0"/>
              <a:t>проверки</a:t>
            </a:r>
            <a:endParaRPr lang="ru-KZ" sz="28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5803DB0-04EC-46F9-98AB-7F4BAD7310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7583" y="1864193"/>
            <a:ext cx="4720687" cy="2178778"/>
          </a:xfrm>
          <a:prstGeom prst="rect">
            <a:avLst/>
          </a:prstGeo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B58772DE-452C-4632-9960-7C746E9C5D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01936" y="1864193"/>
            <a:ext cx="6707519" cy="237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69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1882</Words>
  <Application>Microsoft Office PowerPoint</Application>
  <PresentationFormat>Широкоэкранный</PresentationFormat>
  <Paragraphs>429</Paragraphs>
  <Slides>37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Тема Office</vt:lpstr>
      <vt:lpstr>Black-box, White-box и Gray-box тестирование</vt:lpstr>
      <vt:lpstr>Цель лекции</vt:lpstr>
      <vt:lpstr>Что означает классификация по доступу к коду</vt:lpstr>
      <vt:lpstr>Общая схема подходов</vt:lpstr>
      <vt:lpstr>Black-box testing</vt:lpstr>
      <vt:lpstr>Презентация PowerPoint</vt:lpstr>
      <vt:lpstr>Что знает тестировщик при black-box testing</vt:lpstr>
      <vt:lpstr>Пример black-box testing</vt:lpstr>
      <vt:lpstr>Основные методы black-box testing</vt:lpstr>
      <vt:lpstr>Основные методы black-box testing</vt:lpstr>
      <vt:lpstr>Основные методы black-box testing</vt:lpstr>
      <vt:lpstr>Основные методы black-box testing</vt:lpstr>
      <vt:lpstr>Основные методы black-box testing</vt:lpstr>
      <vt:lpstr>Основные методы black-box testing</vt:lpstr>
      <vt:lpstr>Презентация PowerPoint</vt:lpstr>
      <vt:lpstr>White-box testing</vt:lpstr>
      <vt:lpstr>Презентация PowerPoint</vt:lpstr>
      <vt:lpstr>Презентация PowerPoint</vt:lpstr>
      <vt:lpstr>Пример white-box testing</vt:lpstr>
      <vt:lpstr>Основные методы white-box testing Покрытие операторов</vt:lpstr>
      <vt:lpstr>Основные методы white-box testing Покрытие ветвей</vt:lpstr>
      <vt:lpstr>Основные методы white-box testing Покрытие условий</vt:lpstr>
      <vt:lpstr>Основные методы white-box testing Покрытие путей</vt:lpstr>
      <vt:lpstr>Основные методы white-box testing Тестирование циклов</vt:lpstr>
      <vt:lpstr>Основные методы white-box testing Unit testing</vt:lpstr>
      <vt:lpstr>Презентация PowerPoint</vt:lpstr>
      <vt:lpstr>Gray-box testing</vt:lpstr>
      <vt:lpstr>Презентация PowerPoint</vt:lpstr>
      <vt:lpstr>Презентация PowerPoint</vt:lpstr>
      <vt:lpstr>Пример gray-box testing</vt:lpstr>
      <vt:lpstr>Где применяется gray-box testing</vt:lpstr>
      <vt:lpstr>Примеры gray-box testin</vt:lpstr>
      <vt:lpstr>Презентация PowerPoint</vt:lpstr>
      <vt:lpstr>Сравнение black-box, white-box и gray-box</vt:lpstr>
      <vt:lpstr>Связь подходов с другими видами тестирования</vt:lpstr>
      <vt:lpstr>Подробный пример на одной функции White-box проверки</vt:lpstr>
      <vt:lpstr>Подробный пример на одной функции Gray-box проверки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Black-box, White-box и Gray-box тестирование</dc:title>
  <dc:creator>raigul_almaty@mail.ru</dc:creator>
  <cp:lastModifiedBy>raigul_almaty@mail.ru</cp:lastModifiedBy>
  <cp:revision>2</cp:revision>
  <dcterms:created xsi:type="dcterms:W3CDTF">2026-05-20T03:44:57Z</dcterms:created>
  <dcterms:modified xsi:type="dcterms:W3CDTF">2026-05-20T07:32:33Z</dcterms:modified>
</cp:coreProperties>
</file>