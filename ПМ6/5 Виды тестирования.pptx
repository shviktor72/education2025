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337" r:id="rId4"/>
    <p:sldId id="290" r:id="rId5"/>
    <p:sldId id="339" r:id="rId6"/>
    <p:sldId id="340" r:id="rId7"/>
    <p:sldId id="341" r:id="rId8"/>
    <p:sldId id="342" r:id="rId9"/>
    <p:sldId id="343" r:id="rId10"/>
    <p:sldId id="344" r:id="rId11"/>
    <p:sldId id="345" r:id="rId12"/>
    <p:sldId id="346" r:id="rId13"/>
    <p:sldId id="347" r:id="rId14"/>
    <p:sldId id="348" r:id="rId15"/>
    <p:sldId id="349" r:id="rId16"/>
    <p:sldId id="350" r:id="rId17"/>
    <p:sldId id="351" r:id="rId18"/>
    <p:sldId id="352" r:id="rId19"/>
    <p:sldId id="353" r:id="rId20"/>
    <p:sldId id="355" r:id="rId21"/>
    <p:sldId id="354" r:id="rId22"/>
    <p:sldId id="356" r:id="rId23"/>
    <p:sldId id="357" r:id="rId24"/>
    <p:sldId id="358" r:id="rId25"/>
    <p:sldId id="359" r:id="rId26"/>
    <p:sldId id="360" r:id="rId27"/>
    <p:sldId id="361" r:id="rId28"/>
    <p:sldId id="362" r:id="rId29"/>
    <p:sldId id="363" r:id="rId30"/>
    <p:sldId id="289" r:id="rId31"/>
    <p:sldId id="270" r:id="rId32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0429" autoAdjust="0"/>
  </p:normalViewPr>
  <p:slideViewPr>
    <p:cSldViewPr snapToGrid="0">
      <p:cViewPr varScale="1">
        <p:scale>
          <a:sx n="61" d="100"/>
          <a:sy n="61" d="100"/>
        </p:scale>
        <p:origin x="144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896B4-902B-4A8C-8A1B-D2DC11FE0451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E29F4B-E19A-40B0-BD71-22A954E6346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7808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63846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90045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42170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7245147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98478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33396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499286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14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763673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22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1436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23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9134549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24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543392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25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35319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26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569758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27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3597739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28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6050265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KZ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E29F4B-E19A-40B0-BD71-22A954E63468}" type="slidenum">
              <a:rPr lang="ru-KZ" smtClean="0"/>
              <a:t>31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820395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A47E1E-BBF0-4F01-92A3-DC885B743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3929F19-6ACA-45B0-BAEB-EDCEAA4734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BEB61D-B270-406E-99C9-0D350030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32A2AC-41C7-49E3-B21D-53AB5CD65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784B4E-4052-418B-9BEF-DA4569E12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91868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FF563-DC16-475F-B73E-104C55E00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708892-2A08-4CC4-8952-A30348621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636221-7DEA-4997-ADF2-16ADF53EF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8CD7C6-C113-4AB8-8907-118D32EA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C6EB98-B8F4-42E9-8484-D36832EB8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83089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DFA4F4-6431-4E73-B28F-BC76AA026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264017-1F2D-413F-B869-B9B07BA9F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36D718-6551-4472-BB83-EB99E34AB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AF361B-BD15-4DB9-81A3-C07699CE0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851FDA-D796-45E4-B6CF-B3DC513CB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72333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86F2CA-C8B8-479E-9FF6-7D1B567DA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7F563D-CC55-46B4-919A-A8661CC251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A3AE65-67FD-488B-B82B-10A2CA0FB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663D80-6B84-4B85-A18E-AC750530A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593B55-887D-4E40-8E38-BAEB59B91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C7527D-C511-4DDB-B5EF-2B9058256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54054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286BCC-3C5C-4F5A-AB46-F3E1AE600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6271C4-D120-41BF-836B-9902D5691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946691E-F214-41B6-B983-F5D1FC39D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77B9105-0F26-43AC-BB86-D465C4F16B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FA6D395-ED80-43CE-A7F6-2D9E9B693D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E9A3792-0A89-4A0F-A976-A55DA0CB2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D60E94D-4BA2-4706-B981-31227E9A9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23AFA38-D1A5-4868-8EF2-1B092CFC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90470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072961-CDFD-478A-A436-659708DDA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EFD0378-2F4B-4254-8D0A-427EB63C0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C528FDA-AE66-4FEC-A0F2-A10734EA9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CE31020-6810-4124-9F3E-D181839DF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03453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75715DA-BD0D-4ACD-9F96-150BB67F7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0E3595C-4F7F-42CD-BAF9-64DE774AC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FFDD28-905F-4E98-8762-2D5C8CCAD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01289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802B6-CF25-4533-9F51-1690C546C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029A4C-5DF8-4A44-8AE3-141B307A5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15813F-1FD2-4FD7-8E40-0816827E3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88025F-D252-439C-B151-C8EE9A178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700EF2C-4D5F-4BC8-99AE-A7D880EDD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10B441-7B8A-41D4-8F17-E3859641A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737977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3ACEF2-401B-43F8-80CD-E3776B484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C6C4737-A95F-4E1A-9111-770E6574A6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6FAFE1-650F-418D-84AC-AAC266D10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72002E-61CB-4C5F-9FDE-D92BCFB9E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F0B6A4-66B9-4358-8F8B-5E4A0105E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66058F-A28D-440A-B2F7-C44B02338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80498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0A5600-AEB5-46D4-A36A-6FCEF061C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1F75AA7-55D8-4EED-9367-CB9B673D9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2E55E3-0B21-4A5F-8621-C302183B5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FF0EE2-2100-4C8E-9BBC-029CE1821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43CED3-B427-4775-B55A-0D2BB6FD8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58339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D4C357C-7F87-4933-B26E-51D229D2E5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15EF265-5E4E-4672-82E2-0FE3F23DA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300F02-07E4-4AA2-804B-04042D3B7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12D65A-D49E-45FA-A03B-DBBF71264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581291-4A5F-4743-935C-A91F9F427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67936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583B85-9AB5-4850-984A-092AC26D5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999896-89BB-4072-89D1-FD9ACE626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9BCD95-2248-485B-9CCA-1C7CD26BFF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5F523-CBA6-4B9A-95D0-FCF8F96AD0FA}" type="datetimeFigureOut">
              <a:rPr lang="ru-KZ" smtClean="0"/>
              <a:t>19.05.2026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3F9833-AEA6-4FA7-831A-FDF014C93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00B27F-CAD4-41B7-A6C5-2B3DBC277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41207-B0A4-45C6-B346-D0E42348FB14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27854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D674CD-6999-4DF3-81AB-205FF45BA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1680" y="1764407"/>
            <a:ext cx="8063345" cy="2310312"/>
          </a:xfrm>
        </p:spPr>
        <p:txBody>
          <a:bodyPr>
            <a:normAutofit/>
          </a:bodyPr>
          <a:lstStyle/>
          <a:p>
            <a:r>
              <a:rPr lang="kk-KZ" sz="5400" dirty="0"/>
              <a:t>Виды тестирования: базовая классификация</a:t>
            </a:r>
            <a:endParaRPr lang="ru-KZ" sz="5200" dirty="0">
              <a:solidFill>
                <a:schemeClr val="tx2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8B3BE75-DC7B-4962-950C-59FF530CA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729" y="4165152"/>
            <a:ext cx="5760846" cy="682079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Поддержка и тестирование программных модулей</a:t>
            </a:r>
            <a:endParaRPr lang="ru-KZ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008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99B04D-1631-4467-B1F6-B1E48B3E3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Цель лекции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616E1D-ABC9-42E8-8BE8-120CD1777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Сформировать у студентов системное понимание основных видов тестирования программного обеспечения: по объекту проверки, по назначению, по степени автоматизации, по доступу к коду, по уровню изолированности компонентов, по времени проведения и по глубине проверки.</a:t>
            </a:r>
          </a:p>
          <a:p>
            <a:pPr marL="0" indent="0">
              <a:buNone/>
            </a:pPr>
            <a:r>
              <a:rPr lang="ru-RU" dirty="0"/>
              <a:t>Главная задача лекции — научить студентов не просто перечислять виды тестирования, а </a:t>
            </a:r>
            <a:r>
              <a:rPr lang="ru-RU" b="1" dirty="0"/>
              <a:t>объяснять, чем они отличаются и когда применяются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48734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Тестирование производительности">
            <a:extLst>
              <a:ext uri="{FF2B5EF4-FFF2-40B4-BE49-F238E27FC236}">
                <a16:creationId xmlns:a16="http://schemas.microsoft.com/office/drawing/2014/main" id="{C30345C7-D754-4EEE-A092-AFDE65DD2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7688"/>
            <a:ext cx="12192000" cy="57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9190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7971C4-11B7-474E-90B8-9ED90148A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KZ" dirty="0"/>
              <a:t>Ч</a:t>
            </a:r>
            <a:r>
              <a:rPr lang="kk-KZ" dirty="0"/>
              <a:t>то такое вид тестирования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9E6559-DD52-454F-9C0F-035EE4C7D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39" y="1690688"/>
            <a:ext cx="11006051" cy="48021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Вид тестирования</a:t>
            </a:r>
            <a:r>
              <a:rPr lang="ru-RU" dirty="0"/>
              <a:t> — это способ классификации проверки программного обеспечения по определенному признаку.</a:t>
            </a:r>
          </a:p>
          <a:p>
            <a:pPr marL="0" indent="0">
              <a:buNone/>
            </a:pPr>
            <a:r>
              <a:rPr lang="ru-RU" dirty="0"/>
              <a:t>Тестирование можно классифицировать по разным основаниям:</a:t>
            </a:r>
          </a:p>
          <a:p>
            <a:r>
              <a:rPr lang="ru-RU" dirty="0"/>
              <a:t>по объекту проверки; </a:t>
            </a:r>
          </a:p>
          <a:p>
            <a:r>
              <a:rPr lang="ru-RU" dirty="0"/>
              <a:t>по цели проверки; </a:t>
            </a:r>
          </a:p>
          <a:p>
            <a:r>
              <a:rPr lang="ru-RU" dirty="0"/>
              <a:t>по уровню доступа к коду; </a:t>
            </a:r>
          </a:p>
          <a:p>
            <a:r>
              <a:rPr lang="ru-RU" dirty="0"/>
              <a:t>по степени автоматизации; </a:t>
            </a:r>
          </a:p>
          <a:p>
            <a:r>
              <a:rPr lang="ru-RU" dirty="0"/>
              <a:t>по уровню изолированности компонентов; </a:t>
            </a:r>
          </a:p>
          <a:p>
            <a:r>
              <a:rPr lang="ru-RU" dirty="0"/>
              <a:t>по времени и месту проведения; </a:t>
            </a:r>
          </a:p>
          <a:p>
            <a:r>
              <a:rPr lang="ru-RU" dirty="0"/>
              <a:t>по глубине покрытия; </a:t>
            </a:r>
          </a:p>
          <a:p>
            <a:r>
              <a:rPr lang="ru-RU" dirty="0"/>
              <a:t>по этапу разработки.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754795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4DD354-5295-411B-8663-1687238D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Общая классификация видов тестирования</a:t>
            </a:r>
            <a:br>
              <a:rPr lang="ru-RU" dirty="0"/>
            </a:br>
            <a:r>
              <a:rPr lang="ru-RU" dirty="0"/>
              <a:t>1. Классификация по объекту проверки</a:t>
            </a:r>
            <a:endParaRPr lang="ru-KZ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9E8A7C95-5B36-4BD3-B0B9-2252F56B7C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6764244"/>
              </p:ext>
            </p:extLst>
          </p:nvPr>
        </p:nvGraphicFramePr>
        <p:xfrm>
          <a:off x="521623" y="1690688"/>
          <a:ext cx="11348952" cy="5029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783925">
                  <a:extLst>
                    <a:ext uri="{9D8B030D-6E8A-4147-A177-3AD203B41FA5}">
                      <a16:colId xmlns:a16="http://schemas.microsoft.com/office/drawing/2014/main" val="1938401055"/>
                    </a:ext>
                  </a:extLst>
                </a:gridCol>
                <a:gridCol w="7565027">
                  <a:extLst>
                    <a:ext uri="{9D8B030D-6E8A-4147-A177-3AD203B41FA5}">
                      <a16:colId xmlns:a16="http://schemas.microsoft.com/office/drawing/2014/main" val="12553604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400" b="1" dirty="0"/>
                        <a:t>Вид тестирования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Что проверяет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0021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Функциональное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Выполнение функций системы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9465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Нефункциональное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Качество работы системы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6716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GUI-</a:t>
                      </a:r>
                      <a:r>
                        <a:rPr lang="kk-KZ" sz="2400"/>
                        <a:t>тестирование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Графический интерфейс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0598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Usability-</a:t>
                      </a:r>
                      <a:r>
                        <a:rPr lang="kk-KZ" sz="2400"/>
                        <a:t>тестирование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Удобство использования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2833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Accessibility-</a:t>
                      </a:r>
                      <a:r>
                        <a:rPr lang="kk-KZ" sz="2400"/>
                        <a:t>тестирование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Доступность для пользователей с ограничениями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7573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Security-</a:t>
                      </a:r>
                      <a:r>
                        <a:rPr lang="kk-KZ" sz="2400"/>
                        <a:t>тестирование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Безопасность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881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Performance-</a:t>
                      </a:r>
                      <a:r>
                        <a:rPr lang="kk-KZ" sz="2400"/>
                        <a:t>тестирование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Производительность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035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Compatibility-</a:t>
                      </a:r>
                      <a:r>
                        <a:rPr lang="kk-KZ" sz="2400"/>
                        <a:t>тестирование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Совместимость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4947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Installation-</a:t>
                      </a:r>
                      <a:r>
                        <a:rPr lang="kk-KZ" sz="2400"/>
                        <a:t>тестирование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Установку приложения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569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Localization-</a:t>
                      </a:r>
                      <a:r>
                        <a:rPr lang="kk-KZ" sz="2400"/>
                        <a:t>тестирование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Локализацию и перевод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0307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9743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4DD354-5295-411B-8663-1687238D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Общая классификация видов тестирования</a:t>
            </a:r>
            <a:br>
              <a:rPr lang="ru-RU" dirty="0"/>
            </a:br>
            <a:r>
              <a:rPr lang="ru-KZ" dirty="0"/>
              <a:t>2</a:t>
            </a:r>
            <a:r>
              <a:rPr lang="ru-RU" dirty="0"/>
              <a:t>. Классификация по доступу к коду</a:t>
            </a:r>
            <a:endParaRPr lang="ru-KZ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18BD07C6-D828-4FD4-8FA3-006B19B4B8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3683256"/>
              </p:ext>
            </p:extLst>
          </p:nvPr>
        </p:nvGraphicFramePr>
        <p:xfrm>
          <a:off x="838200" y="1690688"/>
          <a:ext cx="1051560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35778">
                  <a:extLst>
                    <a:ext uri="{9D8B030D-6E8A-4147-A177-3AD203B41FA5}">
                      <a16:colId xmlns:a16="http://schemas.microsoft.com/office/drawing/2014/main" val="1523519714"/>
                    </a:ext>
                  </a:extLst>
                </a:gridCol>
                <a:gridCol w="7579822">
                  <a:extLst>
                    <a:ext uri="{9D8B030D-6E8A-4147-A177-3AD203B41FA5}">
                      <a16:colId xmlns:a16="http://schemas.microsoft.com/office/drawing/2014/main" val="88078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400" b="1" dirty="0"/>
                        <a:t>Вид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Особенность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2248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Black-box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Тестировщик не знает внутреннюю структуру кода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5243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White-box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Тестировщик анализирует внутреннюю структуру кода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4142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Gray-box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Тестировщик частично знает внутреннюю структуру системы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2679586"/>
                  </a:ext>
                </a:extLst>
              </a:tr>
            </a:tbl>
          </a:graphicData>
        </a:graphic>
      </p:graphicFrame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C1DBD12C-5287-468A-ACDF-5C3A00CBB15D}"/>
              </a:ext>
            </a:extLst>
          </p:cNvPr>
          <p:cNvSpPr txBox="1">
            <a:spLocks/>
          </p:cNvSpPr>
          <p:nvPr/>
        </p:nvSpPr>
        <p:spPr>
          <a:xfrm>
            <a:off x="838200" y="3885248"/>
            <a:ext cx="11198628" cy="6012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3. Классификация по степени автоматизации</a:t>
            </a:r>
            <a:endParaRPr lang="ru-KZ" dirty="0"/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ACB83DFC-743E-4836-9FF4-8997487314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648828"/>
              </p:ext>
            </p:extLst>
          </p:nvPr>
        </p:nvGraphicFramePr>
        <p:xfrm>
          <a:off x="838200" y="4486535"/>
          <a:ext cx="10515600" cy="1371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72475308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08948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400" b="1" dirty="0"/>
                        <a:t>Вид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Кто выполняет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4649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Ручное тестирование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Человек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9372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Автоматизированное тестирование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Скрипты, инструменты, автотесты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8332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986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4DD354-5295-411B-8663-1687238DF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Общая классификация видов тестирования</a:t>
            </a:r>
            <a:br>
              <a:rPr lang="ru-RU" dirty="0"/>
            </a:br>
            <a:r>
              <a:rPr lang="ru-RU" dirty="0"/>
              <a:t>4. Классификация по уровню тестирования</a:t>
            </a:r>
            <a:endParaRPr lang="ru-KZ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C1DBD12C-5287-468A-ACDF-5C3A00CBB15D}"/>
              </a:ext>
            </a:extLst>
          </p:cNvPr>
          <p:cNvSpPr txBox="1">
            <a:spLocks/>
          </p:cNvSpPr>
          <p:nvPr/>
        </p:nvSpPr>
        <p:spPr>
          <a:xfrm>
            <a:off x="838200" y="3885248"/>
            <a:ext cx="11198628" cy="6012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5. Классификация по времени проведения</a:t>
            </a:r>
            <a:endParaRPr lang="ru-KZ" dirty="0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6122DBBF-11E9-4AA7-9589-322FA1D97E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1146412"/>
              </p:ext>
            </p:extLst>
          </p:nvPr>
        </p:nvGraphicFramePr>
        <p:xfrm>
          <a:off x="811876" y="1736408"/>
          <a:ext cx="10515600" cy="2133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427615">
                  <a:extLst>
                    <a:ext uri="{9D8B030D-6E8A-4147-A177-3AD203B41FA5}">
                      <a16:colId xmlns:a16="http://schemas.microsoft.com/office/drawing/2014/main" val="3800259625"/>
                    </a:ext>
                  </a:extLst>
                </a:gridCol>
                <a:gridCol w="7087985">
                  <a:extLst>
                    <a:ext uri="{9D8B030D-6E8A-4147-A177-3AD203B41FA5}">
                      <a16:colId xmlns:a16="http://schemas.microsoft.com/office/drawing/2014/main" val="4928720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200" b="1" dirty="0"/>
                        <a:t>Вид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200" b="1" dirty="0"/>
                        <a:t>Что проверяет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1642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200"/>
                        <a:t>Модульное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200"/>
                        <a:t>Отдельный модуль или функцию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3977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200"/>
                        <a:t>Интеграционное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200"/>
                        <a:t>Взаимодействие модулей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2749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200"/>
                        <a:t>Системное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200"/>
                        <a:t>Всю систему целиком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3843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200"/>
                        <a:t>Приемочное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Готовность продукта для заказчика или пользователя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554929"/>
                  </a:ext>
                </a:extLst>
              </a:tr>
            </a:tbl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2C94355A-A967-4B6B-AAB5-5086850C0B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424967"/>
              </p:ext>
            </p:extLst>
          </p:nvPr>
        </p:nvGraphicFramePr>
        <p:xfrm>
          <a:off x="171798" y="4386785"/>
          <a:ext cx="11855330" cy="2377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920538">
                  <a:extLst>
                    <a:ext uri="{9D8B030D-6E8A-4147-A177-3AD203B41FA5}">
                      <a16:colId xmlns:a16="http://schemas.microsoft.com/office/drawing/2014/main" val="1313959026"/>
                    </a:ext>
                  </a:extLst>
                </a:gridCol>
                <a:gridCol w="7934792">
                  <a:extLst>
                    <a:ext uri="{9D8B030D-6E8A-4147-A177-3AD203B41FA5}">
                      <a16:colId xmlns:a16="http://schemas.microsoft.com/office/drawing/2014/main" val="32040109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000" b="1" dirty="0"/>
                        <a:t>Вид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Когда проводится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572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Alpha-</a:t>
                      </a:r>
                      <a:r>
                        <a:rPr lang="kk-KZ" sz="2000"/>
                        <a:t>тестирование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До выпуска, обычно внутри компании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0580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Beta-</a:t>
                      </a:r>
                      <a:r>
                        <a:rPr lang="kk-KZ" sz="2000"/>
                        <a:t>тестирование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До финального релиза, с участием внешних пользователей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8451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Регрессионное тестирование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После изменений в коде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411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/>
                        <a:t>Smoke-</a:t>
                      </a:r>
                      <a:r>
                        <a:rPr lang="kk-KZ" sz="2000"/>
                        <a:t>тестирование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После сборки, для быстрой проверки работоспособности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087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000"/>
                        <a:t>Приемочное тестирование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Перед передачей продукта заказчику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4400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895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8B0225-24DD-413F-ABB4-7C62D3BFF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387"/>
            <a:ext cx="10515600" cy="532650"/>
          </a:xfrm>
        </p:spPr>
        <p:txBody>
          <a:bodyPr>
            <a:normAutofit fontScale="90000"/>
          </a:bodyPr>
          <a:lstStyle/>
          <a:p>
            <a:r>
              <a:rPr lang="kk-KZ" dirty="0"/>
              <a:t>Функциональное тестирование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3A382E-C738-43DC-A842-77B279EDD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1025"/>
            <a:ext cx="10515600" cy="5245938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1. Определение</a:t>
            </a:r>
          </a:p>
          <a:p>
            <a:pPr marL="0" indent="0">
              <a:buNone/>
            </a:pPr>
            <a:r>
              <a:rPr lang="ru-RU" b="1" dirty="0"/>
              <a:t>Функциональное тестирование</a:t>
            </a:r>
            <a:r>
              <a:rPr lang="ru-RU" dirty="0"/>
              <a:t> — это вид тестирования, направленный на проверку того, выполняет ли система заявленные функции.</a:t>
            </a:r>
          </a:p>
          <a:p>
            <a:pPr marL="0" indent="0">
              <a:buNone/>
            </a:pPr>
            <a:r>
              <a:rPr lang="ru-RU" dirty="0"/>
              <a:t>Главный вопрос функционального тестирования:</a:t>
            </a:r>
          </a:p>
          <a:p>
            <a:pPr marL="0" indent="0">
              <a:buNone/>
            </a:pPr>
            <a:r>
              <a:rPr lang="ru-RU" dirty="0"/>
              <a:t>Делает ли система то, что должна делать?</a:t>
            </a:r>
          </a:p>
          <a:p>
            <a:endParaRPr lang="ru-KZ" dirty="0"/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1725742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8B0225-24DD-413F-ABB4-7C62D3BFF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387"/>
            <a:ext cx="10515600" cy="532650"/>
          </a:xfrm>
        </p:spPr>
        <p:txBody>
          <a:bodyPr>
            <a:normAutofit fontScale="90000"/>
          </a:bodyPr>
          <a:lstStyle/>
          <a:p>
            <a:r>
              <a:rPr lang="kk-KZ" dirty="0"/>
              <a:t>Функциональное тестирование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3A382E-C738-43DC-A842-77B279EDD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1025"/>
            <a:ext cx="10515600" cy="52459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2. Что проверяет функциональное тестирование</a:t>
            </a:r>
          </a:p>
          <a:p>
            <a:pPr marL="0" indent="0">
              <a:buNone/>
            </a:pPr>
            <a:r>
              <a:rPr lang="ru-RU" dirty="0"/>
              <a:t>Функциональное тестирование проверяет:</a:t>
            </a:r>
          </a:p>
          <a:p>
            <a:r>
              <a:rPr lang="ru-RU" dirty="0"/>
              <a:t>регистрацию пользователя; </a:t>
            </a:r>
          </a:p>
          <a:p>
            <a:r>
              <a:rPr lang="ru-RU" dirty="0"/>
              <a:t>авторизацию; </a:t>
            </a:r>
          </a:p>
          <a:p>
            <a:r>
              <a:rPr lang="ru-RU" dirty="0"/>
              <a:t>добавление товара в корзину; </a:t>
            </a:r>
          </a:p>
          <a:p>
            <a:r>
              <a:rPr lang="ru-RU" dirty="0"/>
              <a:t>оформление заказа; </a:t>
            </a:r>
          </a:p>
          <a:p>
            <a:r>
              <a:rPr lang="ru-RU" dirty="0"/>
              <a:t>отправку формы; </a:t>
            </a:r>
          </a:p>
          <a:p>
            <a:r>
              <a:rPr lang="ru-RU" dirty="0"/>
              <a:t>поиск; </a:t>
            </a:r>
          </a:p>
          <a:p>
            <a:r>
              <a:rPr lang="ru-RU" dirty="0"/>
              <a:t>фильтрацию; </a:t>
            </a:r>
          </a:p>
          <a:p>
            <a:r>
              <a:rPr lang="ru-RU" dirty="0"/>
              <a:t>расчет стоимости; </a:t>
            </a:r>
          </a:p>
          <a:p>
            <a:r>
              <a:rPr lang="ru-RU" dirty="0"/>
              <a:t>загрузку файла; </a:t>
            </a:r>
          </a:p>
          <a:p>
            <a:r>
              <a:rPr lang="ru-RU" dirty="0"/>
              <a:t>отправку </a:t>
            </a:r>
            <a:r>
              <a:rPr lang="ru-RU" dirty="0" err="1"/>
              <a:t>email</a:t>
            </a:r>
            <a:r>
              <a:rPr lang="ru-RU" dirty="0"/>
              <a:t>; </a:t>
            </a:r>
          </a:p>
          <a:p>
            <a:r>
              <a:rPr lang="ru-RU" dirty="0"/>
              <a:t>работу API-методов.</a:t>
            </a:r>
          </a:p>
        </p:txBody>
      </p:sp>
    </p:spTree>
    <p:extLst>
      <p:ext uri="{BB962C8B-B14F-4D97-AF65-F5344CB8AC3E}">
        <p14:creationId xmlns:p14="http://schemas.microsoft.com/office/powerpoint/2010/main" val="3006893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8B0225-24DD-413F-ABB4-7C62D3BFF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7893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kk-KZ" dirty="0"/>
              <a:t>Функциональное тестирование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3A382E-C738-43DC-A842-77B279EDDA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040" y="944476"/>
            <a:ext cx="5181600" cy="91757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/>
              <a:t>3. Пример функционального тестирования</a:t>
            </a:r>
          </a:p>
          <a:p>
            <a:pPr marL="0" indent="0">
              <a:buNone/>
            </a:pPr>
            <a:r>
              <a:rPr lang="ru-RU" dirty="0"/>
              <a:t>Объект: форма входа.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C232ABC7-F194-4440-9771-E45100A7046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54055690"/>
              </p:ext>
            </p:extLst>
          </p:nvPr>
        </p:nvGraphicFramePr>
        <p:xfrm>
          <a:off x="320040" y="1862051"/>
          <a:ext cx="5181600" cy="392794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1738825336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393428977"/>
                    </a:ext>
                  </a:extLst>
                </a:gridCol>
              </a:tblGrid>
              <a:tr h="180230">
                <a:tc>
                  <a:txBody>
                    <a:bodyPr/>
                    <a:lstStyle/>
                    <a:p>
                      <a:r>
                        <a:rPr lang="kk-KZ" sz="2000" b="1" dirty="0"/>
                        <a:t>Проверка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Ожидаемый результат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891098431"/>
                  </a:ext>
                </a:extLst>
              </a:tr>
              <a:tr h="180230">
                <a:tc>
                  <a:txBody>
                    <a:bodyPr/>
                    <a:lstStyle/>
                    <a:p>
                      <a:r>
                        <a:rPr lang="ru-RU" sz="2000"/>
                        <a:t>Ввести правильный логин и пароль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Пользователь вошел в систему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4282303168"/>
                  </a:ext>
                </a:extLst>
              </a:tr>
              <a:tr h="180230">
                <a:tc>
                  <a:txBody>
                    <a:bodyPr/>
                    <a:lstStyle/>
                    <a:p>
                      <a:r>
                        <a:rPr lang="kk-KZ" sz="2000"/>
                        <a:t>Ввести неверный пароль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Появилось сообщение об ошибке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432288341"/>
                  </a:ext>
                </a:extLst>
              </a:tr>
              <a:tr h="180230">
                <a:tc>
                  <a:txBody>
                    <a:bodyPr/>
                    <a:lstStyle/>
                    <a:p>
                      <a:r>
                        <a:rPr lang="kk-KZ" sz="2000"/>
                        <a:t>Оставить логин пустым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Система требует заполнить поле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717422750"/>
                  </a:ext>
                </a:extLst>
              </a:tr>
              <a:tr h="180230">
                <a:tc>
                  <a:txBody>
                    <a:bodyPr/>
                    <a:lstStyle/>
                    <a:p>
                      <a:r>
                        <a:rPr lang="kk-KZ" sz="2000"/>
                        <a:t>Оставить пароль пустым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Система требует заполнить поле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591301946"/>
                  </a:ext>
                </a:extLst>
              </a:tr>
              <a:tr h="180230">
                <a:tc>
                  <a:txBody>
                    <a:bodyPr/>
                    <a:lstStyle/>
                    <a:p>
                      <a:r>
                        <a:rPr lang="kk-KZ" sz="2000"/>
                        <a:t>Нажать «Забыли пароль?»</a:t>
                      </a:r>
                    </a:p>
                  </a:txBody>
                  <a:tcPr marL="45057" marR="45057" marT="22529" marB="22529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Открывается форма восстановления</a:t>
                      </a:r>
                    </a:p>
                  </a:txBody>
                  <a:tcPr marL="45057" marR="45057" marT="22529" marB="22529" anchor="ctr"/>
                </a:tc>
                <a:extLst>
                  <a:ext uri="{0D108BD9-81ED-4DB2-BD59-A6C34878D82A}">
                    <a16:rowId xmlns:a16="http://schemas.microsoft.com/office/drawing/2014/main" val="3240768327"/>
                  </a:ext>
                </a:extLst>
              </a:tr>
            </a:tbl>
          </a:graphicData>
        </a:graphic>
      </p:graphicFrame>
      <p:sp>
        <p:nvSpPr>
          <p:cNvPr id="6" name="Объект 2">
            <a:extLst>
              <a:ext uri="{FF2B5EF4-FFF2-40B4-BE49-F238E27FC236}">
                <a16:creationId xmlns:a16="http://schemas.microsoft.com/office/drawing/2014/main" id="{319ABDC8-0431-4409-80C3-EF21D02EF105}"/>
              </a:ext>
            </a:extLst>
          </p:cNvPr>
          <p:cNvSpPr txBox="1">
            <a:spLocks/>
          </p:cNvSpPr>
          <p:nvPr/>
        </p:nvSpPr>
        <p:spPr>
          <a:xfrm>
            <a:off x="6096000" y="944476"/>
            <a:ext cx="5181600" cy="917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k-KZ" b="1" dirty="0"/>
              <a:t>4. Виды функциональных проверок</a:t>
            </a:r>
            <a:endParaRPr lang="ru-RU" b="1" dirty="0"/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C9D2A1D5-AF87-4328-98B2-0DA05C85B4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245389"/>
              </p:ext>
            </p:extLst>
          </p:nvPr>
        </p:nvGraphicFramePr>
        <p:xfrm>
          <a:off x="6096000" y="1862051"/>
          <a:ext cx="5775960" cy="426961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32364">
                  <a:extLst>
                    <a:ext uri="{9D8B030D-6E8A-4147-A177-3AD203B41FA5}">
                      <a16:colId xmlns:a16="http://schemas.microsoft.com/office/drawing/2014/main" val="3163623967"/>
                    </a:ext>
                  </a:extLst>
                </a:gridCol>
                <a:gridCol w="3143596">
                  <a:extLst>
                    <a:ext uri="{9D8B030D-6E8A-4147-A177-3AD203B41FA5}">
                      <a16:colId xmlns:a16="http://schemas.microsoft.com/office/drawing/2014/main" val="1066868146"/>
                    </a:ext>
                  </a:extLst>
                </a:gridCol>
              </a:tblGrid>
              <a:tr h="488486">
                <a:tc>
                  <a:txBody>
                    <a:bodyPr/>
                    <a:lstStyle/>
                    <a:p>
                      <a:r>
                        <a:rPr lang="kk-KZ" sz="2000" b="1" dirty="0"/>
                        <a:t>Вид проверки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Пример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8050562"/>
                  </a:ext>
                </a:extLst>
              </a:tr>
              <a:tr h="488486">
                <a:tc>
                  <a:txBody>
                    <a:bodyPr/>
                    <a:lstStyle/>
                    <a:p>
                      <a:r>
                        <a:rPr lang="kk-KZ" sz="2000"/>
                        <a:t>Позитивная проверка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Вход с правильными данными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0543095"/>
                  </a:ext>
                </a:extLst>
              </a:tr>
              <a:tr h="488486">
                <a:tc>
                  <a:txBody>
                    <a:bodyPr/>
                    <a:lstStyle/>
                    <a:p>
                      <a:r>
                        <a:rPr lang="kk-KZ" sz="2000"/>
                        <a:t>Негативная проверка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Вход с неверным паролем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8495828"/>
                  </a:ext>
                </a:extLst>
              </a:tr>
              <a:tr h="488486">
                <a:tc>
                  <a:txBody>
                    <a:bodyPr/>
                    <a:lstStyle/>
                    <a:p>
                      <a:r>
                        <a:rPr lang="kk-KZ" sz="2000"/>
                        <a:t>Проверка валидации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Email </a:t>
                      </a:r>
                      <a:r>
                        <a:rPr lang="kk-KZ" sz="2000"/>
                        <a:t>без символа @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1937541"/>
                  </a:ext>
                </a:extLst>
              </a:tr>
              <a:tr h="488486">
                <a:tc>
                  <a:txBody>
                    <a:bodyPr/>
                    <a:lstStyle/>
                    <a:p>
                      <a:r>
                        <a:rPr lang="kk-KZ" sz="2000"/>
                        <a:t>Проверка бизнес-логики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Нельзя заказать товар, которого нет на складе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8957046"/>
                  </a:ext>
                </a:extLst>
              </a:tr>
              <a:tr h="488486">
                <a:tc>
                  <a:txBody>
                    <a:bodyPr/>
                    <a:lstStyle/>
                    <a:p>
                      <a:r>
                        <a:rPr lang="kk-KZ" sz="2000"/>
                        <a:t>Проверка ролей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Обычный пользователь не видит админ-панель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5850391"/>
                  </a:ext>
                </a:extLst>
              </a:tr>
              <a:tr h="488486">
                <a:tc>
                  <a:txBody>
                    <a:bodyPr/>
                    <a:lstStyle/>
                    <a:p>
                      <a:r>
                        <a:rPr lang="kk-KZ" sz="2000"/>
                        <a:t>Проверка </a:t>
                      </a:r>
                      <a:r>
                        <a:rPr lang="en-US" sz="2000"/>
                        <a:t>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GET-</a:t>
                      </a:r>
                      <a:r>
                        <a:rPr lang="kk-KZ" sz="2000" dirty="0"/>
                        <a:t>запрос возвращает список пользователей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1885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3676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D4FB4F2-E688-478C-96F7-85182B858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Нефункциональное тестирование</a:t>
            </a:r>
            <a:endParaRPr lang="ru-KZ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D7B5A7E-76E5-4864-B1FA-4C098EF6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1. Определение</a:t>
            </a:r>
          </a:p>
          <a:p>
            <a:pPr marL="0" indent="0">
              <a:buNone/>
            </a:pPr>
            <a:r>
              <a:rPr lang="ru-RU" b="1" dirty="0"/>
              <a:t>Нефункциональное тестирование</a:t>
            </a:r>
            <a:r>
              <a:rPr lang="ru-RU" dirty="0"/>
              <a:t> — это вид тестирования, направленный на проверку качественных характеристик системы.</a:t>
            </a:r>
          </a:p>
          <a:p>
            <a:pPr marL="0" indent="0">
              <a:buNone/>
            </a:pPr>
            <a:r>
              <a:rPr lang="ru-RU" dirty="0"/>
              <a:t>Главный вопрос нефункционального тестирования:</a:t>
            </a:r>
          </a:p>
          <a:p>
            <a:pPr marL="0" indent="0">
              <a:buNone/>
            </a:pPr>
            <a:r>
              <a:rPr lang="ru-RU" dirty="0"/>
              <a:t>Насколько хорошо система выполняет свои функции?</a:t>
            </a:r>
          </a:p>
          <a:p>
            <a:pPr marL="0" indent="0">
              <a:buNone/>
            </a:pPr>
            <a:endParaRPr lang="ru-KZ" dirty="0"/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878718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D4FB4F2-E688-478C-96F7-85182B858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633" y="365125"/>
            <a:ext cx="11637817" cy="1325563"/>
          </a:xfrm>
        </p:spPr>
        <p:txBody>
          <a:bodyPr>
            <a:normAutofit fontScale="90000"/>
          </a:bodyPr>
          <a:lstStyle/>
          <a:p>
            <a:r>
              <a:rPr lang="kk-KZ" dirty="0"/>
              <a:t>Нефункциональное тестирование</a:t>
            </a:r>
            <a:br>
              <a:rPr lang="ru-KZ" dirty="0"/>
            </a:br>
            <a:r>
              <a:rPr lang="ru-RU" dirty="0"/>
              <a:t>2. Основные виды нефункционального тестирования</a:t>
            </a:r>
            <a:endParaRPr lang="ru-KZ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D7B5A7E-76E5-4864-B1FA-4C098EF6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KZ" dirty="0"/>
          </a:p>
          <a:p>
            <a:pPr marL="0" indent="0">
              <a:buNone/>
            </a:pPr>
            <a:endParaRPr lang="ru-KZ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303FF752-B9F8-4244-B6A1-EE78EBECBC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866708"/>
              </p:ext>
            </p:extLst>
          </p:nvPr>
        </p:nvGraphicFramePr>
        <p:xfrm>
          <a:off x="1452649" y="1953260"/>
          <a:ext cx="9286702" cy="4358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85655">
                  <a:extLst>
                    <a:ext uri="{9D8B030D-6E8A-4147-A177-3AD203B41FA5}">
                      <a16:colId xmlns:a16="http://schemas.microsoft.com/office/drawing/2014/main" val="2624411710"/>
                    </a:ext>
                  </a:extLst>
                </a:gridCol>
                <a:gridCol w="6301047">
                  <a:extLst>
                    <a:ext uri="{9D8B030D-6E8A-4147-A177-3AD203B41FA5}">
                      <a16:colId xmlns:a16="http://schemas.microsoft.com/office/drawing/2014/main" val="2954354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kk-KZ" sz="2000" b="1" dirty="0"/>
                        <a:t>Вид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Что проверяет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7539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Performance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Скорость, отклик, стабильность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5114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Load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Работа при ожидаемой нагрузке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5356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Stress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Работа при экстремальной нагрузке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7991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Usability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Удобство использования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3490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Security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Защиту от угроз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0348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Compatibility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Работу в разных браузерах, ОС, устройствах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5296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Reliability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Надежность и устойчивость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0349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Accessibility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Доступность для людей с ограничениями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3016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Localization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Корректность перевода и региональных форматов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8002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Installation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Установку и удаление приложения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5074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5622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D4FB4F2-E688-478C-96F7-85182B858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633" y="365125"/>
            <a:ext cx="11637817" cy="1325563"/>
          </a:xfrm>
        </p:spPr>
        <p:txBody>
          <a:bodyPr>
            <a:normAutofit/>
          </a:bodyPr>
          <a:lstStyle/>
          <a:p>
            <a:r>
              <a:rPr lang="kk-KZ" dirty="0"/>
              <a:t>Нефункциональное тестирование</a:t>
            </a:r>
            <a:br>
              <a:rPr lang="ru-KZ" dirty="0"/>
            </a:br>
            <a:r>
              <a:rPr lang="kk-KZ" dirty="0"/>
              <a:t>3. Примеры нефункционального тестирования</a:t>
            </a:r>
            <a:endParaRPr lang="ru-KZ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D7B5A7E-76E5-4864-B1FA-4C098EF6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KZ" dirty="0"/>
          </a:p>
          <a:p>
            <a:pPr marL="0" indent="0">
              <a:buNone/>
            </a:pPr>
            <a:endParaRPr lang="ru-KZ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6847A569-0721-4D67-977A-ECCAA16982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350688"/>
              </p:ext>
            </p:extLst>
          </p:nvPr>
        </p:nvGraphicFramePr>
        <p:xfrm>
          <a:off x="838200" y="2355374"/>
          <a:ext cx="10515600" cy="4114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767051">
                  <a:extLst>
                    <a:ext uri="{9D8B030D-6E8A-4147-A177-3AD203B41FA5}">
                      <a16:colId xmlns:a16="http://schemas.microsoft.com/office/drawing/2014/main" val="2754365093"/>
                    </a:ext>
                  </a:extLst>
                </a:gridCol>
                <a:gridCol w="6748549">
                  <a:extLst>
                    <a:ext uri="{9D8B030D-6E8A-4147-A177-3AD203B41FA5}">
                      <a16:colId xmlns:a16="http://schemas.microsoft.com/office/drawing/2014/main" val="42742039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400" b="1" dirty="0"/>
                        <a:t>Характеристика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Пример проверки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224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Производительность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Страница открывается не дольше 2 секунд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1993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Нагрузка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Система выдерживает 1000 пользователей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5344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Безопасность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Пароль не отображается открытым текстом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0019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Удобство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Пользователь понимает, как оформить заказ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1177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Совместимость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Сайт работает в </a:t>
                      </a:r>
                      <a:r>
                        <a:rPr lang="en-US" sz="2400"/>
                        <a:t>Chrome, Firefox, Safari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275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Доступность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Изображения имеют альтернативный текст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7014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Надежность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Система восстанавливается после сбоя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9623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Локализация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Даты отображаются в нужном формате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3713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1337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D4FB4F2-E688-478C-96F7-85182B858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633" y="365125"/>
            <a:ext cx="11637817" cy="1325563"/>
          </a:xfrm>
        </p:spPr>
        <p:txBody>
          <a:bodyPr>
            <a:normAutofit/>
          </a:bodyPr>
          <a:lstStyle/>
          <a:p>
            <a:r>
              <a:rPr lang="ru-RU" dirty="0"/>
              <a:t>Отличие функционального и </a:t>
            </a:r>
            <a:r>
              <a:rPr lang="ru-RU" dirty="0" err="1"/>
              <a:t>нефункциональ</a:t>
            </a:r>
            <a:r>
              <a:rPr lang="ru-KZ" dirty="0"/>
              <a:t>-</a:t>
            </a:r>
            <a:r>
              <a:rPr lang="ru-RU" dirty="0" err="1"/>
              <a:t>ного</a:t>
            </a:r>
            <a:r>
              <a:rPr lang="ru-RU" dirty="0"/>
              <a:t> тестирования</a:t>
            </a:r>
            <a:endParaRPr lang="ru-KZ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D7B5A7E-76E5-4864-B1FA-4C098EF6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KZ" dirty="0"/>
          </a:p>
          <a:p>
            <a:pPr marL="0" indent="0">
              <a:buNone/>
            </a:pPr>
            <a:endParaRPr lang="ru-KZ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0B7D7A7A-5092-4099-8CF2-39EC9A13D0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435247"/>
              </p:ext>
            </p:extLst>
          </p:nvPr>
        </p:nvGraphicFramePr>
        <p:xfrm>
          <a:off x="637309" y="1752694"/>
          <a:ext cx="11272058" cy="5029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61062">
                  <a:extLst>
                    <a:ext uri="{9D8B030D-6E8A-4147-A177-3AD203B41FA5}">
                      <a16:colId xmlns:a16="http://schemas.microsoft.com/office/drawing/2014/main" val="172842672"/>
                    </a:ext>
                  </a:extLst>
                </a:gridCol>
                <a:gridCol w="4472247">
                  <a:extLst>
                    <a:ext uri="{9D8B030D-6E8A-4147-A177-3AD203B41FA5}">
                      <a16:colId xmlns:a16="http://schemas.microsoft.com/office/drawing/2014/main" val="1068736293"/>
                    </a:ext>
                  </a:extLst>
                </a:gridCol>
                <a:gridCol w="4538749">
                  <a:extLst>
                    <a:ext uri="{9D8B030D-6E8A-4147-A177-3AD203B41FA5}">
                      <a16:colId xmlns:a16="http://schemas.microsoft.com/office/drawing/2014/main" val="16279991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k-KZ" sz="2400" b="1" dirty="0"/>
                        <a:t>Критерий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Функциональное тестирование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b="1" dirty="0"/>
                        <a:t>Нефункциональное тестирование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415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Главный вопрос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Что делает система?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Как система работает?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6447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Основа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Функциональные требования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Нефункциональные требования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2386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Пример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Пользователь может войти в систему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Вход выполняется за 1 секунду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435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Результат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Функция работает или не работает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Оценка качества работы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151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Объект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Бизнес-функции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Производительность, безопасность, удобство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4884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k-KZ" sz="2400"/>
                        <a:t>Пример дефекта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Кнопка «Войти» не работает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Страница входа загружается 15 секунд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0888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5205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A3E3640-E32B-46EF-80B3-4D75263B6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Пример на одной системе</a:t>
            </a:r>
            <a:br>
              <a:rPr lang="ru-RU" b="1" dirty="0"/>
            </a:br>
            <a:r>
              <a:rPr lang="ru-RU" dirty="0"/>
              <a:t>Объект: интернет-магазин.</a:t>
            </a:r>
            <a:endParaRPr lang="ru-KZ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FCD7DFE-4DBA-4C0B-8CB1-817AA7631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1364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kk-KZ" dirty="0"/>
              <a:t>Функциональные проверки</a:t>
            </a:r>
            <a:endParaRPr lang="ru-KZ" dirty="0"/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DA294A5F-77CC-4775-AE15-E331CBE84D2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63016058"/>
              </p:ext>
            </p:extLst>
          </p:nvPr>
        </p:nvGraphicFramePr>
        <p:xfrm>
          <a:off x="374275" y="2336939"/>
          <a:ext cx="5494510" cy="27075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47255">
                  <a:extLst>
                    <a:ext uri="{9D8B030D-6E8A-4147-A177-3AD203B41FA5}">
                      <a16:colId xmlns:a16="http://schemas.microsoft.com/office/drawing/2014/main" val="977748466"/>
                    </a:ext>
                  </a:extLst>
                </a:gridCol>
                <a:gridCol w="2747255">
                  <a:extLst>
                    <a:ext uri="{9D8B030D-6E8A-4147-A177-3AD203B41FA5}">
                      <a16:colId xmlns:a16="http://schemas.microsoft.com/office/drawing/2014/main" val="1046648369"/>
                    </a:ext>
                  </a:extLst>
                </a:gridCol>
              </a:tblGrid>
              <a:tr h="220927">
                <a:tc>
                  <a:txBody>
                    <a:bodyPr/>
                    <a:lstStyle/>
                    <a:p>
                      <a:r>
                        <a:rPr lang="kk-KZ" sz="2000" b="1" dirty="0"/>
                        <a:t>Проверка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Ожидаемый результат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810680093"/>
                  </a:ext>
                </a:extLst>
              </a:tr>
              <a:tr h="220927">
                <a:tc>
                  <a:txBody>
                    <a:bodyPr/>
                    <a:lstStyle/>
                    <a:p>
                      <a:r>
                        <a:rPr lang="kk-KZ" sz="2000"/>
                        <a:t>Добавить товар в корзину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Товар появился в корзине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1353849985"/>
                  </a:ext>
                </a:extLst>
              </a:tr>
              <a:tr h="220927">
                <a:tc>
                  <a:txBody>
                    <a:bodyPr/>
                    <a:lstStyle/>
                    <a:p>
                      <a:r>
                        <a:rPr lang="kk-KZ" sz="2000"/>
                        <a:t>Удалить товар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Товар удален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3662150696"/>
                  </a:ext>
                </a:extLst>
              </a:tr>
              <a:tr h="220927">
                <a:tc>
                  <a:txBody>
                    <a:bodyPr/>
                    <a:lstStyle/>
                    <a:p>
                      <a:r>
                        <a:rPr lang="kk-KZ" sz="2000"/>
                        <a:t>Изменить количество товара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Итоговая сумма обновилась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076784116"/>
                  </a:ext>
                </a:extLst>
              </a:tr>
              <a:tr h="220927">
                <a:tc>
                  <a:txBody>
                    <a:bodyPr/>
                    <a:lstStyle/>
                    <a:p>
                      <a:r>
                        <a:rPr lang="kk-KZ" sz="2000"/>
                        <a:t>Оформить заказ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Заказ создан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1112312177"/>
                  </a:ext>
                </a:extLst>
              </a:tr>
              <a:tr h="220927">
                <a:tc>
                  <a:txBody>
                    <a:bodyPr/>
                    <a:lstStyle/>
                    <a:p>
                      <a:r>
                        <a:rPr lang="kk-KZ" sz="2000" dirty="0"/>
                        <a:t>Применить промокод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Скидка применена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3407025436"/>
                  </a:ext>
                </a:extLst>
              </a:tr>
            </a:tbl>
          </a:graphicData>
        </a:graphic>
      </p:graphicFrame>
      <p:sp>
        <p:nvSpPr>
          <p:cNvPr id="7" name="Текст 6">
            <a:extLst>
              <a:ext uri="{FF2B5EF4-FFF2-40B4-BE49-F238E27FC236}">
                <a16:creationId xmlns:a16="http://schemas.microsoft.com/office/drawing/2014/main" id="{B3972847-6DD2-45AF-A09A-0CCEC49646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1364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kk-KZ" dirty="0"/>
              <a:t>Нефункциональные проверки</a:t>
            </a:r>
            <a:endParaRPr lang="ru-KZ" dirty="0"/>
          </a:p>
        </p:txBody>
      </p:sp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0EEED72E-E336-49CA-A100-8AD5C7CA66EA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902478159"/>
              </p:ext>
            </p:extLst>
          </p:nvPr>
        </p:nvGraphicFramePr>
        <p:xfrm>
          <a:off x="6143105" y="2317453"/>
          <a:ext cx="5674620" cy="36232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37310">
                  <a:extLst>
                    <a:ext uri="{9D8B030D-6E8A-4147-A177-3AD203B41FA5}">
                      <a16:colId xmlns:a16="http://schemas.microsoft.com/office/drawing/2014/main" val="4081258960"/>
                    </a:ext>
                  </a:extLst>
                </a:gridCol>
                <a:gridCol w="2837310">
                  <a:extLst>
                    <a:ext uri="{9D8B030D-6E8A-4147-A177-3AD203B41FA5}">
                      <a16:colId xmlns:a16="http://schemas.microsoft.com/office/drawing/2014/main" val="2514634576"/>
                    </a:ext>
                  </a:extLst>
                </a:gridCol>
              </a:tblGrid>
              <a:tr h="256609">
                <a:tc>
                  <a:txBody>
                    <a:bodyPr/>
                    <a:lstStyle/>
                    <a:p>
                      <a:r>
                        <a:rPr lang="kk-KZ" sz="2000" b="1" dirty="0"/>
                        <a:t>Проверка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Ожидаемый результат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484119838"/>
                  </a:ext>
                </a:extLst>
              </a:tr>
              <a:tr h="256609">
                <a:tc>
                  <a:txBody>
                    <a:bodyPr/>
                    <a:lstStyle/>
                    <a:p>
                      <a:r>
                        <a:rPr lang="ru-RU" sz="2000"/>
                        <a:t>Открыть корзину при 1000 пользователях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Система работает стабильно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3225455955"/>
                  </a:ext>
                </a:extLst>
              </a:tr>
              <a:tr h="256609">
                <a:tc>
                  <a:txBody>
                    <a:bodyPr/>
                    <a:lstStyle/>
                    <a:p>
                      <a:r>
                        <a:rPr lang="kk-KZ" sz="2000"/>
                        <a:t>Проверить корзину на телефоне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Интерфейс отображается корректно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2480048521"/>
                  </a:ext>
                </a:extLst>
              </a:tr>
              <a:tr h="256609">
                <a:tc>
                  <a:txBody>
                    <a:bodyPr/>
                    <a:lstStyle/>
                    <a:p>
                      <a:r>
                        <a:rPr lang="ru-RU" sz="2000" dirty="0"/>
                        <a:t>Проверить корзину в разных браузерах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Функции работают одинаково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1353500001"/>
                  </a:ext>
                </a:extLst>
              </a:tr>
              <a:tr h="256609">
                <a:tc>
                  <a:txBody>
                    <a:bodyPr/>
                    <a:lstStyle/>
                    <a:p>
                      <a:r>
                        <a:rPr lang="kk-KZ" sz="2000"/>
                        <a:t>Проверить защиту платежных данных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Данные не раскрываются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747636188"/>
                  </a:ext>
                </a:extLst>
              </a:tr>
              <a:tr h="256609">
                <a:tc>
                  <a:txBody>
                    <a:bodyPr/>
                    <a:lstStyle/>
                    <a:p>
                      <a:r>
                        <a:rPr lang="kk-KZ" sz="2000"/>
                        <a:t>Проверить удобство оформления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Пользователь легко завершает заказ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1866062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731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173D97-CB20-4CFD-B8CE-2B2B6212F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Ручное тестирование</a:t>
            </a:r>
            <a:endParaRPr lang="ru-KZ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D08349-6F49-496F-90C7-8B923D25E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KZ" dirty="0"/>
              <a:t>1. </a:t>
            </a:r>
            <a:r>
              <a:rPr lang="kk-KZ" dirty="0"/>
              <a:t>Определение</a:t>
            </a:r>
            <a:endParaRPr lang="ru-KZ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A0E90F-AD71-4E15-989A-6A0A48DD94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— это проверка программного продукта человеком без написания автоматических скриптов.</a:t>
            </a:r>
          </a:p>
          <a:p>
            <a:pPr marL="0" indent="0">
              <a:buNone/>
            </a:pPr>
            <a:r>
              <a:rPr lang="ru-RU" dirty="0"/>
              <a:t>Тестировщик самостоятельно:</a:t>
            </a:r>
          </a:p>
          <a:p>
            <a:r>
              <a:rPr lang="ru-RU" dirty="0"/>
              <a:t>открывает приложение; </a:t>
            </a:r>
          </a:p>
          <a:p>
            <a:r>
              <a:rPr lang="ru-RU" dirty="0"/>
              <a:t>выполняет шаги; </a:t>
            </a:r>
          </a:p>
          <a:p>
            <a:r>
              <a:rPr lang="ru-RU" dirty="0"/>
              <a:t>вводит данные; </a:t>
            </a:r>
          </a:p>
          <a:p>
            <a:r>
              <a:rPr lang="ru-RU" dirty="0"/>
              <a:t>сравнивает фактический результат с ожидаемым; </a:t>
            </a:r>
          </a:p>
          <a:p>
            <a:r>
              <a:rPr lang="ru-RU" dirty="0"/>
              <a:t>фиксирует ошибки; </a:t>
            </a:r>
          </a:p>
          <a:p>
            <a:r>
              <a:rPr lang="ru-RU" dirty="0"/>
              <a:t>оформляет баг-репорты.</a:t>
            </a:r>
          </a:p>
          <a:p>
            <a:endParaRPr lang="ru-KZ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E46F7D5-F20A-4714-922F-354490634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2. Где применяется ручное тестирование</a:t>
            </a:r>
            <a:endParaRPr lang="ru-KZ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F11DD3F-513F-4491-9D41-FA8D7456C72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Ручное тестирование особенно полезно для:</a:t>
            </a:r>
          </a:p>
          <a:p>
            <a:r>
              <a:rPr lang="ru-RU" dirty="0"/>
              <a:t>проверки нового функционала; </a:t>
            </a:r>
          </a:p>
          <a:p>
            <a:r>
              <a:rPr lang="ru-RU" dirty="0"/>
              <a:t>проверки интерфейса; </a:t>
            </a:r>
          </a:p>
          <a:p>
            <a:r>
              <a:rPr lang="ru-RU" dirty="0" err="1"/>
              <a:t>usability</a:t>
            </a:r>
            <a:r>
              <a:rPr lang="ru-RU" dirty="0"/>
              <a:t>-тестирования; </a:t>
            </a:r>
          </a:p>
          <a:p>
            <a:r>
              <a:rPr lang="ru-RU" dirty="0"/>
              <a:t>исследовательского тестирования; </a:t>
            </a:r>
          </a:p>
          <a:p>
            <a:r>
              <a:rPr lang="ru-RU" dirty="0"/>
              <a:t>проверки нестабильных требований; </a:t>
            </a:r>
          </a:p>
          <a:p>
            <a:r>
              <a:rPr lang="ru-RU" dirty="0"/>
              <a:t>разовых проверок; </a:t>
            </a:r>
          </a:p>
          <a:p>
            <a:r>
              <a:rPr lang="ru-RU" dirty="0"/>
              <a:t>визуальной оценки; </a:t>
            </a:r>
          </a:p>
          <a:p>
            <a:r>
              <a:rPr lang="ru-RU" dirty="0"/>
              <a:t>мобильного тестирования.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4137711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173D97-CB20-4CFD-B8CE-2B2B6212F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Ручное тестирование</a:t>
            </a:r>
            <a:endParaRPr lang="ru-KZ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D08349-6F49-496F-90C7-8B923D25E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k-KZ" dirty="0"/>
              <a:t>3. Преимущества ручного тестирования</a:t>
            </a:r>
            <a:endParaRPr lang="ru-KZ" dirty="0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D169A4B0-0E75-45D8-B94C-90EF62E9C0B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38368845"/>
              </p:ext>
            </p:extLst>
          </p:nvPr>
        </p:nvGraphicFramePr>
        <p:xfrm>
          <a:off x="133004" y="3023970"/>
          <a:ext cx="5864570" cy="36219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32285">
                  <a:extLst>
                    <a:ext uri="{9D8B030D-6E8A-4147-A177-3AD203B41FA5}">
                      <a16:colId xmlns:a16="http://schemas.microsoft.com/office/drawing/2014/main" val="1863520025"/>
                    </a:ext>
                  </a:extLst>
                </a:gridCol>
                <a:gridCol w="2932285">
                  <a:extLst>
                    <a:ext uri="{9D8B030D-6E8A-4147-A177-3AD203B41FA5}">
                      <a16:colId xmlns:a16="http://schemas.microsoft.com/office/drawing/2014/main" val="1262840345"/>
                    </a:ext>
                  </a:extLst>
                </a:gridCol>
              </a:tblGrid>
              <a:tr h="179401">
                <a:tc>
                  <a:txBody>
                    <a:bodyPr/>
                    <a:lstStyle/>
                    <a:p>
                      <a:r>
                        <a:rPr lang="kk-KZ" sz="2000" dirty="0"/>
                        <a:t>Преимущество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Объяснение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65007787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kk-KZ" sz="2000"/>
                        <a:t>Гибкость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Можно быстро изменить сценарий проверки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591900610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kk-KZ" sz="2000"/>
                        <a:t>Не требует кода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Подходит начинающим тестировщикам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1381475936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kk-KZ" sz="2000"/>
                        <a:t>Хорошо для </a:t>
                      </a:r>
                      <a:r>
                        <a:rPr lang="en-US" sz="2000"/>
                        <a:t>UI/UX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Человек лучше оценивает удобство интерфейса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315552595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kk-KZ" sz="2000"/>
                        <a:t>Подходит для новых функций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Когда автотесты еще не написаны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1091578649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kk-KZ" sz="2000"/>
                        <a:t>Помогает исследовать систему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Можно находить неожиданные дефекты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831911704"/>
                  </a:ext>
                </a:extLst>
              </a:tr>
            </a:tbl>
          </a:graphicData>
        </a:graphic>
      </p:graphicFrame>
      <p:sp>
        <p:nvSpPr>
          <p:cNvPr id="5" name="Текст 4">
            <a:extLst>
              <a:ext uri="{FF2B5EF4-FFF2-40B4-BE49-F238E27FC236}">
                <a16:creationId xmlns:a16="http://schemas.microsoft.com/office/drawing/2014/main" id="{7E46F7D5-F20A-4714-922F-354490634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k-KZ" dirty="0"/>
              <a:t>4. Недостатки ручного тестирования</a:t>
            </a:r>
            <a:endParaRPr lang="ru-KZ" dirty="0"/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A950A73D-8786-47DC-85B4-F7D237020A56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549605165"/>
              </p:ext>
            </p:extLst>
          </p:nvPr>
        </p:nvGraphicFramePr>
        <p:xfrm>
          <a:off x="6172199" y="2505075"/>
          <a:ext cx="5698376" cy="42328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49188">
                  <a:extLst>
                    <a:ext uri="{9D8B030D-6E8A-4147-A177-3AD203B41FA5}">
                      <a16:colId xmlns:a16="http://schemas.microsoft.com/office/drawing/2014/main" val="3071146442"/>
                    </a:ext>
                  </a:extLst>
                </a:gridCol>
                <a:gridCol w="2849188">
                  <a:extLst>
                    <a:ext uri="{9D8B030D-6E8A-4147-A177-3AD203B41FA5}">
                      <a16:colId xmlns:a16="http://schemas.microsoft.com/office/drawing/2014/main" val="1247978378"/>
                    </a:ext>
                  </a:extLst>
                </a:gridCol>
              </a:tblGrid>
              <a:tr h="180285">
                <a:tc>
                  <a:txBody>
                    <a:bodyPr/>
                    <a:lstStyle/>
                    <a:p>
                      <a:r>
                        <a:rPr lang="kk-KZ" sz="2000" dirty="0"/>
                        <a:t>Недостаток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Объяснение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3722983629"/>
                  </a:ext>
                </a:extLst>
              </a:tr>
              <a:tr h="180285">
                <a:tc>
                  <a:txBody>
                    <a:bodyPr/>
                    <a:lstStyle/>
                    <a:p>
                      <a:r>
                        <a:rPr lang="kk-KZ" sz="2000" dirty="0"/>
                        <a:t>Медленное выполнение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Большой набор тестов занимает много времени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2770673855"/>
                  </a:ext>
                </a:extLst>
              </a:tr>
              <a:tr h="180285">
                <a:tc>
                  <a:txBody>
                    <a:bodyPr/>
                    <a:lstStyle/>
                    <a:p>
                      <a:r>
                        <a:rPr lang="kk-KZ" sz="2000"/>
                        <a:t>Человеческий фактор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Тестировщик может пропустить ошибку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1592166799"/>
                  </a:ext>
                </a:extLst>
              </a:tr>
              <a:tr h="180285">
                <a:tc>
                  <a:txBody>
                    <a:bodyPr/>
                    <a:lstStyle/>
                    <a:p>
                      <a:r>
                        <a:rPr lang="kk-KZ" sz="2000"/>
                        <a:t>Трудно повторять много раз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2000" dirty="0"/>
                        <a:t>Регрессия вручную становится дорогой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467405924"/>
                  </a:ext>
                </a:extLst>
              </a:tr>
              <a:tr h="180285">
                <a:tc>
                  <a:txBody>
                    <a:bodyPr/>
                    <a:lstStyle/>
                    <a:p>
                      <a:r>
                        <a:rPr lang="ru-RU" sz="2000"/>
                        <a:t>Не подходит для больших нагрузок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Нельзя вручную имитировать 1000 пользователей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3565113655"/>
                  </a:ext>
                </a:extLst>
              </a:tr>
              <a:tr h="315498">
                <a:tc>
                  <a:txBody>
                    <a:bodyPr/>
                    <a:lstStyle/>
                    <a:p>
                      <a:r>
                        <a:rPr lang="kk-KZ" sz="2000"/>
                        <a:t>Ограниченная точность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Человек хуже измеряет время и производительность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4053001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8797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C5F58B-15FE-4E49-954D-3412719AA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Автоматизированное тестирование</a:t>
            </a:r>
            <a:endParaRPr lang="ru-KZ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632FF6A-C7E0-464B-8FB1-5451BE28E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KZ" dirty="0"/>
              <a:t>1. </a:t>
            </a:r>
            <a:r>
              <a:rPr lang="kk-KZ" dirty="0"/>
              <a:t>Определение</a:t>
            </a:r>
            <a:endParaRPr lang="ru-KZ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A97395F-BAEC-418F-B536-C653AF2ABB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— это выполнение проверок с помощью программ, скриптов и специальных инструментов.</a:t>
            </a:r>
          </a:p>
          <a:p>
            <a:pPr marL="0" indent="0">
              <a:buNone/>
            </a:pPr>
            <a:r>
              <a:rPr lang="ru-RU" dirty="0" err="1"/>
              <a:t>Автотесты</a:t>
            </a:r>
            <a:r>
              <a:rPr lang="ru-RU" dirty="0"/>
              <a:t> могут:</a:t>
            </a:r>
          </a:p>
          <a:p>
            <a:r>
              <a:rPr lang="ru-RU" dirty="0"/>
              <a:t>открывать страницу; </a:t>
            </a:r>
          </a:p>
          <a:p>
            <a:r>
              <a:rPr lang="ru-RU" dirty="0"/>
              <a:t>вводить данные; </a:t>
            </a:r>
          </a:p>
          <a:p>
            <a:r>
              <a:rPr lang="ru-RU" dirty="0"/>
              <a:t>нажимать кнопки; </a:t>
            </a:r>
          </a:p>
          <a:p>
            <a:r>
              <a:rPr lang="ru-RU" dirty="0"/>
              <a:t>отправлять API-запросы; </a:t>
            </a:r>
          </a:p>
          <a:p>
            <a:r>
              <a:rPr lang="ru-RU" dirty="0"/>
              <a:t>сравнивать результат с ожидаемым; </a:t>
            </a:r>
          </a:p>
          <a:p>
            <a:r>
              <a:rPr lang="ru-RU" dirty="0"/>
              <a:t>формировать отчет; </a:t>
            </a:r>
          </a:p>
          <a:p>
            <a:r>
              <a:rPr lang="ru-RU" dirty="0"/>
              <a:t>запускаться по расписанию или в CI/CD.</a:t>
            </a:r>
          </a:p>
          <a:p>
            <a:pPr marL="0" indent="0">
              <a:buNone/>
            </a:pPr>
            <a:endParaRPr lang="ru-KZ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963152F-6871-4B0F-A77F-424802B7C5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k-KZ" dirty="0"/>
              <a:t>2. Где применяется автоматизация</a:t>
            </a:r>
            <a:endParaRPr lang="ru-KZ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734D33D-DAB4-4FFD-835E-9B37BA9CEB4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Автоматизация полезна для:</a:t>
            </a:r>
          </a:p>
          <a:p>
            <a:r>
              <a:rPr lang="ru-RU" dirty="0"/>
              <a:t>регрессионного тестирования; </a:t>
            </a:r>
          </a:p>
          <a:p>
            <a:r>
              <a:rPr lang="ru-RU" dirty="0"/>
              <a:t>часто повторяющихся проверок; </a:t>
            </a:r>
          </a:p>
          <a:p>
            <a:r>
              <a:rPr lang="ru-RU" dirty="0"/>
              <a:t>API-тестирования; </a:t>
            </a:r>
          </a:p>
          <a:p>
            <a:r>
              <a:rPr lang="ru-RU" dirty="0"/>
              <a:t>нагрузочного тестирования; </a:t>
            </a:r>
          </a:p>
          <a:p>
            <a:r>
              <a:rPr lang="ru-RU" dirty="0" err="1"/>
              <a:t>smoke</a:t>
            </a:r>
            <a:r>
              <a:rPr lang="ru-RU" dirty="0"/>
              <a:t>-тестов; </a:t>
            </a:r>
          </a:p>
          <a:p>
            <a:r>
              <a:rPr lang="ru-RU" dirty="0"/>
              <a:t>проверок в CI/CD; </a:t>
            </a:r>
          </a:p>
          <a:p>
            <a:r>
              <a:rPr lang="ru-RU" dirty="0"/>
              <a:t>тестирования большого количества данных; </a:t>
            </a:r>
          </a:p>
          <a:p>
            <a:r>
              <a:rPr lang="ru-RU" dirty="0" err="1"/>
              <a:t>кроссбраузерных</a:t>
            </a:r>
            <a:r>
              <a:rPr lang="ru-RU" dirty="0"/>
              <a:t> проверок.</a:t>
            </a:r>
          </a:p>
        </p:txBody>
      </p:sp>
    </p:spTree>
    <p:extLst>
      <p:ext uri="{BB962C8B-B14F-4D97-AF65-F5344CB8AC3E}">
        <p14:creationId xmlns:p14="http://schemas.microsoft.com/office/powerpoint/2010/main" val="1545726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0C26B797-6F05-4D0E-9282-2725D7122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k-KZ" dirty="0"/>
              <a:t>3. Примеры инструментов</a:t>
            </a:r>
            <a:endParaRPr lang="ru-KZ" dirty="0"/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31C8A00A-BF77-4A04-8CE9-9D56C8DF71D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96209255"/>
              </p:ext>
            </p:extLst>
          </p:nvPr>
        </p:nvGraphicFramePr>
        <p:xfrm>
          <a:off x="332509" y="2776451"/>
          <a:ext cx="5503026" cy="368459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1148453819"/>
                    </a:ext>
                  </a:extLst>
                </a:gridCol>
                <a:gridCol w="3857106">
                  <a:extLst>
                    <a:ext uri="{9D8B030D-6E8A-4147-A177-3AD203B41FA5}">
                      <a16:colId xmlns:a16="http://schemas.microsoft.com/office/drawing/2014/main" val="4168694346"/>
                    </a:ext>
                  </a:extLst>
                </a:gridCol>
              </a:tblGrid>
              <a:tr h="409399">
                <a:tc>
                  <a:txBody>
                    <a:bodyPr/>
                    <a:lstStyle/>
                    <a:p>
                      <a:r>
                        <a:rPr lang="kk-KZ" sz="1800"/>
                        <a:t>Инструмент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Для чего используется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4022319101"/>
                  </a:ext>
                </a:extLst>
              </a:tr>
              <a:tr h="409399">
                <a:tc>
                  <a:txBody>
                    <a:bodyPr/>
                    <a:lstStyle/>
                    <a:p>
                      <a:r>
                        <a:rPr lang="en-US" sz="1800"/>
                        <a:t>Selenium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UI-</a:t>
                      </a:r>
                      <a:r>
                        <a:rPr lang="kk-KZ" sz="1800" dirty="0"/>
                        <a:t>автотесты веб-приложений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204234847"/>
                  </a:ext>
                </a:extLst>
              </a:tr>
              <a:tr h="409399">
                <a:tc>
                  <a:txBody>
                    <a:bodyPr/>
                    <a:lstStyle/>
                    <a:p>
                      <a:r>
                        <a:rPr lang="en-US" sz="1800"/>
                        <a:t>Cypress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UI </a:t>
                      </a:r>
                      <a:r>
                        <a:rPr lang="kk-KZ" sz="1800"/>
                        <a:t>и </a:t>
                      </a:r>
                      <a:r>
                        <a:rPr lang="en-US" sz="1800"/>
                        <a:t>E2E-</a:t>
                      </a:r>
                      <a:r>
                        <a:rPr lang="kk-KZ" sz="1800"/>
                        <a:t>тесты веб-приложений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447405838"/>
                  </a:ext>
                </a:extLst>
              </a:tr>
              <a:tr h="409399">
                <a:tc>
                  <a:txBody>
                    <a:bodyPr/>
                    <a:lstStyle/>
                    <a:p>
                      <a:r>
                        <a:rPr lang="en-US" sz="1800"/>
                        <a:t>Playwright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UI </a:t>
                      </a:r>
                      <a:r>
                        <a:rPr lang="kk-KZ" sz="1800"/>
                        <a:t>и кроссбраузерное тестирование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743799442"/>
                  </a:ext>
                </a:extLst>
              </a:tr>
              <a:tr h="409399">
                <a:tc>
                  <a:txBody>
                    <a:bodyPr/>
                    <a:lstStyle/>
                    <a:p>
                      <a:r>
                        <a:rPr lang="en-US" sz="1800"/>
                        <a:t>PyTest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Автотесты на </a:t>
                      </a:r>
                      <a:r>
                        <a:rPr lang="en-US" sz="1800"/>
                        <a:t>Python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947705087"/>
                  </a:ext>
                </a:extLst>
              </a:tr>
              <a:tr h="409399">
                <a:tc>
                  <a:txBody>
                    <a:bodyPr/>
                    <a:lstStyle/>
                    <a:p>
                      <a:r>
                        <a:rPr lang="en-US" sz="1800"/>
                        <a:t>JUnit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Автотесты на </a:t>
                      </a:r>
                      <a:r>
                        <a:rPr lang="en-US" sz="1800"/>
                        <a:t>Java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451769027"/>
                  </a:ext>
                </a:extLst>
              </a:tr>
              <a:tr h="409399">
                <a:tc>
                  <a:txBody>
                    <a:bodyPr/>
                    <a:lstStyle/>
                    <a:p>
                      <a:r>
                        <a:rPr lang="en-US" sz="1800"/>
                        <a:t>Postman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API-</a:t>
                      </a:r>
                      <a:r>
                        <a:rPr lang="kk-KZ" sz="1800"/>
                        <a:t>тестирование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95652479"/>
                  </a:ext>
                </a:extLst>
              </a:tr>
              <a:tr h="409399">
                <a:tc>
                  <a:txBody>
                    <a:bodyPr/>
                    <a:lstStyle/>
                    <a:p>
                      <a:r>
                        <a:rPr lang="en-US" sz="1800"/>
                        <a:t>JMeter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Нагрузочное тестирование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1872042045"/>
                  </a:ext>
                </a:extLst>
              </a:tr>
              <a:tr h="409399">
                <a:tc>
                  <a:txBody>
                    <a:bodyPr/>
                    <a:lstStyle/>
                    <a:p>
                      <a:r>
                        <a:rPr lang="en-US" sz="1800"/>
                        <a:t>Allure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1800" dirty="0"/>
                        <a:t>Отчеты по автотестам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4198528465"/>
                  </a:ext>
                </a:extLst>
              </a:tr>
            </a:tbl>
          </a:graphicData>
        </a:graphic>
      </p:graphicFrame>
      <p:sp>
        <p:nvSpPr>
          <p:cNvPr id="5" name="Текст 4">
            <a:extLst>
              <a:ext uri="{FF2B5EF4-FFF2-40B4-BE49-F238E27FC236}">
                <a16:creationId xmlns:a16="http://schemas.microsoft.com/office/drawing/2014/main" id="{F42B7E76-F120-474E-B487-6340FDC507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KZ" dirty="0"/>
              <a:t>4. </a:t>
            </a:r>
            <a:r>
              <a:rPr lang="kk-KZ" dirty="0"/>
              <a:t>Преимущества автоматизации</a:t>
            </a:r>
            <a:endParaRPr lang="ru-KZ" dirty="0"/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4F066F11-5409-40CA-A1DD-C37994048251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229107999"/>
              </p:ext>
            </p:extLst>
          </p:nvPr>
        </p:nvGraphicFramePr>
        <p:xfrm>
          <a:off x="5997575" y="2480339"/>
          <a:ext cx="5861916" cy="427681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15894">
                  <a:extLst>
                    <a:ext uri="{9D8B030D-6E8A-4147-A177-3AD203B41FA5}">
                      <a16:colId xmlns:a16="http://schemas.microsoft.com/office/drawing/2014/main" val="4126555347"/>
                    </a:ext>
                  </a:extLst>
                </a:gridCol>
                <a:gridCol w="3846022">
                  <a:extLst>
                    <a:ext uri="{9D8B030D-6E8A-4147-A177-3AD203B41FA5}">
                      <a16:colId xmlns:a16="http://schemas.microsoft.com/office/drawing/2014/main" val="4123354172"/>
                    </a:ext>
                  </a:extLst>
                </a:gridCol>
              </a:tblGrid>
              <a:tr h="475267">
                <a:tc>
                  <a:txBody>
                    <a:bodyPr/>
                    <a:lstStyle/>
                    <a:p>
                      <a:r>
                        <a:rPr lang="kk-KZ" sz="1800"/>
                        <a:t>Преимущество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Объяснение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1024785447"/>
                  </a:ext>
                </a:extLst>
              </a:tr>
              <a:tr h="475267">
                <a:tc>
                  <a:txBody>
                    <a:bodyPr/>
                    <a:lstStyle/>
                    <a:p>
                      <a:r>
                        <a:rPr lang="kk-KZ" sz="1800"/>
                        <a:t>Скорость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Автотесты выполняются быстрее ручных проверок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263448778"/>
                  </a:ext>
                </a:extLst>
              </a:tr>
              <a:tr h="475267">
                <a:tc>
                  <a:txBody>
                    <a:bodyPr/>
                    <a:lstStyle/>
                    <a:p>
                      <a:r>
                        <a:rPr lang="kk-KZ" sz="1800" dirty="0"/>
                        <a:t>Повторяемость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Один и тот же тест можно запускать много раз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669461420"/>
                  </a:ext>
                </a:extLst>
              </a:tr>
              <a:tr h="475267">
                <a:tc>
                  <a:txBody>
                    <a:bodyPr/>
                    <a:lstStyle/>
                    <a:p>
                      <a:r>
                        <a:rPr lang="kk-KZ" sz="1800"/>
                        <a:t>Экономия времени на регрессии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Особенно при частых релизах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1889331257"/>
                  </a:ext>
                </a:extLst>
              </a:tr>
              <a:tr h="475267">
                <a:tc>
                  <a:txBody>
                    <a:bodyPr/>
                    <a:lstStyle/>
                    <a:p>
                      <a:r>
                        <a:rPr lang="kk-KZ" sz="1800"/>
                        <a:t>Точность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Исключается часть человеческих ошибок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3952518164"/>
                  </a:ext>
                </a:extLst>
              </a:tr>
              <a:tr h="832987">
                <a:tc>
                  <a:txBody>
                    <a:bodyPr/>
                    <a:lstStyle/>
                    <a:p>
                      <a:r>
                        <a:rPr lang="en-US" sz="1800"/>
                        <a:t>CI/CD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Тесты можно запускать автоматически при изменении кода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931303308"/>
                  </a:ext>
                </a:extLst>
              </a:tr>
              <a:tr h="475267">
                <a:tc>
                  <a:txBody>
                    <a:bodyPr/>
                    <a:lstStyle/>
                    <a:p>
                      <a:r>
                        <a:rPr lang="kk-KZ" sz="1800" dirty="0"/>
                        <a:t>Масштабируемость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Можно проверять большие объемы данных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3359280988"/>
                  </a:ext>
                </a:extLst>
              </a:tr>
            </a:tbl>
          </a:graphicData>
        </a:graphic>
      </p:graphicFrame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1F41D01-285B-4418-9C4D-537E19C5F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k-KZ" dirty="0"/>
              <a:t>Автоматизированное тестирование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40656682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0C26B797-6F05-4D0E-9282-2725D7122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k-KZ" dirty="0"/>
              <a:t>5. Недостатки автоматизации</a:t>
            </a:r>
            <a:endParaRPr lang="ru-KZ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2B7E76-F120-474E-B487-6340FDC507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6. Что лучше: ручное или автоматизированное тестирование?</a:t>
            </a:r>
            <a:endParaRPr lang="ru-KZ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1F41D01-285B-4418-9C4D-537E19C5F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k-KZ" dirty="0"/>
              <a:t>Автоматизированное тестирование</a:t>
            </a:r>
            <a:endParaRPr lang="ru-KZ" dirty="0"/>
          </a:p>
        </p:txBody>
      </p:sp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75F49749-5CEE-4855-8B2F-B1C7BE6BB2F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8028801"/>
              </p:ext>
            </p:extLst>
          </p:nvPr>
        </p:nvGraphicFramePr>
        <p:xfrm>
          <a:off x="332509" y="2587507"/>
          <a:ext cx="5536276" cy="39267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61062">
                  <a:extLst>
                    <a:ext uri="{9D8B030D-6E8A-4147-A177-3AD203B41FA5}">
                      <a16:colId xmlns:a16="http://schemas.microsoft.com/office/drawing/2014/main" val="525446546"/>
                    </a:ext>
                  </a:extLst>
                </a:gridCol>
                <a:gridCol w="3275214">
                  <a:extLst>
                    <a:ext uri="{9D8B030D-6E8A-4147-A177-3AD203B41FA5}">
                      <a16:colId xmlns:a16="http://schemas.microsoft.com/office/drawing/2014/main" val="2022007620"/>
                    </a:ext>
                  </a:extLst>
                </a:gridCol>
              </a:tblGrid>
              <a:tr h="179401">
                <a:tc>
                  <a:txBody>
                    <a:bodyPr/>
                    <a:lstStyle/>
                    <a:p>
                      <a:r>
                        <a:rPr lang="kk-KZ" sz="2000" b="1" dirty="0"/>
                        <a:t>Недостаток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 b="1" dirty="0"/>
                        <a:t>Объяснение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2031212068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kk-KZ" sz="2000"/>
                        <a:t>Требует навыков программирования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Нужно писать и поддерживать тесты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1204206202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kk-KZ" sz="2000"/>
                        <a:t>Дорогой старт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kk-KZ" sz="2000"/>
                        <a:t>Создание автотестов занимает время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974718088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kk-KZ" sz="2000"/>
                        <a:t>Поддержка тестов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ru-RU" sz="2000"/>
                        <a:t>При изменении интерфейса тесты могут ломаться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3327635513"/>
                  </a:ext>
                </a:extLst>
              </a:tr>
              <a:tr h="313952">
                <a:tc>
                  <a:txBody>
                    <a:bodyPr/>
                    <a:lstStyle/>
                    <a:p>
                      <a:r>
                        <a:rPr lang="kk-KZ" sz="2000"/>
                        <a:t>Не все можно автоматизировать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ru-RU" sz="2000" dirty="0" err="1"/>
                        <a:t>Usability</a:t>
                      </a:r>
                      <a:r>
                        <a:rPr lang="ru-RU" sz="2000" dirty="0"/>
                        <a:t> и визуальные оценки часто требуют человека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4019498299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r>
                        <a:rPr lang="kk-KZ" sz="2000"/>
                        <a:t>Ложные падения</a:t>
                      </a:r>
                    </a:p>
                  </a:txBody>
                  <a:tcPr marL="44850" marR="44850" marT="22425" marB="22425"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Тест может упасть из-за нестабильной среды</a:t>
                      </a:r>
                    </a:p>
                  </a:txBody>
                  <a:tcPr marL="44850" marR="44850" marT="22425" marB="22425" anchor="ctr"/>
                </a:tc>
                <a:extLst>
                  <a:ext uri="{0D108BD9-81ED-4DB2-BD59-A6C34878D82A}">
                    <a16:rowId xmlns:a16="http://schemas.microsoft.com/office/drawing/2014/main" val="3933376399"/>
                  </a:ext>
                </a:extLst>
              </a:tr>
            </a:tbl>
          </a:graphicData>
        </a:graphic>
      </p:graphicFrame>
      <p:graphicFrame>
        <p:nvGraphicFramePr>
          <p:cNvPr id="13" name="Объект 12">
            <a:extLst>
              <a:ext uri="{FF2B5EF4-FFF2-40B4-BE49-F238E27FC236}">
                <a16:creationId xmlns:a16="http://schemas.microsoft.com/office/drawing/2014/main" id="{09A35728-8D1B-42D1-AD04-3B388B73EE54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337802016"/>
              </p:ext>
            </p:extLst>
          </p:nvPr>
        </p:nvGraphicFramePr>
        <p:xfrm>
          <a:off x="6172199" y="2587507"/>
          <a:ext cx="5814754" cy="365241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04310">
                  <a:extLst>
                    <a:ext uri="{9D8B030D-6E8A-4147-A177-3AD203B41FA5}">
                      <a16:colId xmlns:a16="http://schemas.microsoft.com/office/drawing/2014/main" val="2231815420"/>
                    </a:ext>
                  </a:extLst>
                </a:gridCol>
                <a:gridCol w="2510444">
                  <a:extLst>
                    <a:ext uri="{9D8B030D-6E8A-4147-A177-3AD203B41FA5}">
                      <a16:colId xmlns:a16="http://schemas.microsoft.com/office/drawing/2014/main" val="2682530458"/>
                    </a:ext>
                  </a:extLst>
                </a:gridCol>
              </a:tblGrid>
              <a:tr h="180285">
                <a:tc>
                  <a:txBody>
                    <a:bodyPr/>
                    <a:lstStyle/>
                    <a:p>
                      <a:r>
                        <a:rPr lang="kk-KZ" sz="1800" b="1" dirty="0"/>
                        <a:t>Ситуация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1800" b="1" dirty="0"/>
                        <a:t>Лучше использовать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3818609706"/>
                  </a:ext>
                </a:extLst>
              </a:tr>
              <a:tr h="180285">
                <a:tc>
                  <a:txBody>
                    <a:bodyPr/>
                    <a:lstStyle/>
                    <a:p>
                      <a:r>
                        <a:rPr lang="ru-RU" sz="1800"/>
                        <a:t>Новый функционал еще часто меняется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Ручное тестирование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2467334157"/>
                  </a:ext>
                </a:extLst>
              </a:tr>
              <a:tr h="180285">
                <a:tc>
                  <a:txBody>
                    <a:bodyPr/>
                    <a:lstStyle/>
                    <a:p>
                      <a:r>
                        <a:rPr lang="ru-RU" sz="1800"/>
                        <a:t>Нужно быстро проверить старый функционал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Автоматизированное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321261392"/>
                  </a:ext>
                </a:extLst>
              </a:tr>
              <a:tr h="180285">
                <a:tc>
                  <a:txBody>
                    <a:bodyPr/>
                    <a:lstStyle/>
                    <a:p>
                      <a:r>
                        <a:rPr lang="kk-KZ" sz="1800"/>
                        <a:t>Нужно оценить удобство интерфейса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Ручное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4270289316"/>
                  </a:ext>
                </a:extLst>
              </a:tr>
              <a:tr h="180285">
                <a:tc>
                  <a:txBody>
                    <a:bodyPr/>
                    <a:lstStyle/>
                    <a:p>
                      <a:r>
                        <a:rPr lang="ru-RU" sz="1800"/>
                        <a:t>Нужно проверить API при каждом коммите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Автоматизированное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927034695"/>
                  </a:ext>
                </a:extLst>
              </a:tr>
              <a:tr h="180285">
                <a:tc>
                  <a:txBody>
                    <a:bodyPr/>
                    <a:lstStyle/>
                    <a:p>
                      <a:r>
                        <a:rPr lang="ru-RU" sz="1800"/>
                        <a:t>Нужно выполнить тест один раз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Ручное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2461497465"/>
                  </a:ext>
                </a:extLst>
              </a:tr>
              <a:tr h="180285">
                <a:tc>
                  <a:txBody>
                    <a:bodyPr/>
                    <a:lstStyle/>
                    <a:p>
                      <a:r>
                        <a:rPr lang="ru-RU" sz="1800"/>
                        <a:t>Нужно выполнять тест 100 раз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Автоматизированное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2414990765"/>
                  </a:ext>
                </a:extLst>
              </a:tr>
              <a:tr h="180285">
                <a:tc>
                  <a:txBody>
                    <a:bodyPr/>
                    <a:lstStyle/>
                    <a:p>
                      <a:r>
                        <a:rPr lang="kk-KZ" sz="1800"/>
                        <a:t>Нужно проверить нагрузку</a:t>
                      </a:r>
                    </a:p>
                  </a:txBody>
                  <a:tcPr marL="45071" marR="45071" marT="22536" marB="22536" anchor="ctr"/>
                </a:tc>
                <a:tc>
                  <a:txBody>
                    <a:bodyPr/>
                    <a:lstStyle/>
                    <a:p>
                      <a:r>
                        <a:rPr lang="kk-KZ" sz="1800" dirty="0"/>
                        <a:t>Автоматизированное</a:t>
                      </a:r>
                    </a:p>
                  </a:txBody>
                  <a:tcPr marL="45071" marR="45071" marT="22536" marB="22536" anchor="ctr"/>
                </a:tc>
                <a:extLst>
                  <a:ext uri="{0D108BD9-81ED-4DB2-BD59-A6C34878D82A}">
                    <a16:rowId xmlns:a16="http://schemas.microsoft.com/office/drawing/2014/main" val="1051098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1554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B0A0006-157F-4D45-888A-1CAC5D61F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Black-box, White-box </a:t>
            </a:r>
            <a:r>
              <a:rPr lang="kk-KZ" b="1" dirty="0"/>
              <a:t>и </a:t>
            </a:r>
            <a:r>
              <a:rPr lang="en-US" b="1" dirty="0"/>
              <a:t>Gray-box </a:t>
            </a:r>
            <a:r>
              <a:rPr lang="kk-KZ" b="1" dirty="0"/>
              <a:t>тестирование</a:t>
            </a:r>
            <a:br>
              <a:rPr lang="kk-KZ" b="1" dirty="0"/>
            </a:br>
            <a:r>
              <a:rPr lang="kk-KZ" b="1" dirty="0"/>
              <a:t>1. </a:t>
            </a:r>
            <a:r>
              <a:rPr lang="en-US" b="1" dirty="0"/>
              <a:t>Black-box testing</a:t>
            </a:r>
            <a:endParaRPr lang="ru-KZ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94651B7D-B03D-428A-B6D2-DB0CBFF968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 err="1"/>
              <a:t>Black-box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r>
              <a:rPr lang="ru-RU" dirty="0"/>
              <a:t>, или тестирование «черного ящика», — это тестирование без знания внутренней структуры кода.</a:t>
            </a:r>
          </a:p>
          <a:p>
            <a:pPr marL="0" indent="0">
              <a:buNone/>
            </a:pPr>
            <a:r>
              <a:rPr lang="ru-RU" dirty="0"/>
              <a:t>Тестировщик знает:</a:t>
            </a:r>
          </a:p>
          <a:p>
            <a:r>
              <a:rPr lang="ru-RU" dirty="0"/>
              <a:t>требования; </a:t>
            </a:r>
          </a:p>
          <a:p>
            <a:r>
              <a:rPr lang="ru-RU" dirty="0"/>
              <a:t>входные данные; </a:t>
            </a:r>
          </a:p>
          <a:p>
            <a:r>
              <a:rPr lang="ru-RU" dirty="0"/>
              <a:t>ожидаемый результат. </a:t>
            </a:r>
          </a:p>
          <a:p>
            <a:pPr marL="0" indent="0">
              <a:buNone/>
            </a:pPr>
            <a:r>
              <a:rPr lang="ru-RU" dirty="0"/>
              <a:t>Тестировщик не знает:</a:t>
            </a:r>
          </a:p>
          <a:p>
            <a:r>
              <a:rPr lang="ru-RU" dirty="0"/>
              <a:t>как написан код; </a:t>
            </a:r>
          </a:p>
          <a:p>
            <a:r>
              <a:rPr lang="ru-RU" dirty="0"/>
              <a:t>какие алгоритмы используются; </a:t>
            </a:r>
          </a:p>
          <a:p>
            <a:r>
              <a:rPr lang="ru-RU" dirty="0"/>
              <a:t>как устроена база данных; </a:t>
            </a:r>
          </a:p>
          <a:p>
            <a:r>
              <a:rPr lang="ru-RU" dirty="0"/>
              <a:t>как реализована логика внутри.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3E79EFE1-17D5-4F24-BC7A-EEC703018C7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KZ" dirty="0"/>
              <a:t>П</a:t>
            </a:r>
            <a:r>
              <a:rPr lang="ru-RU" dirty="0" err="1"/>
              <a:t>ример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ru-RU" dirty="0"/>
              <a:t>Тестировщик проверяет форму входа:</a:t>
            </a:r>
          </a:p>
          <a:p>
            <a:r>
              <a:rPr lang="ru-RU" dirty="0"/>
              <a:t>вводит </a:t>
            </a:r>
            <a:r>
              <a:rPr lang="ru-RU" dirty="0" err="1"/>
              <a:t>email</a:t>
            </a:r>
            <a:r>
              <a:rPr lang="ru-RU" dirty="0"/>
              <a:t> и пароль; </a:t>
            </a:r>
          </a:p>
          <a:p>
            <a:r>
              <a:rPr lang="ru-RU" dirty="0"/>
              <a:t>нажимает «Войти»; </a:t>
            </a:r>
          </a:p>
          <a:p>
            <a:r>
              <a:rPr lang="ru-RU" dirty="0"/>
              <a:t>проверяет результат. </a:t>
            </a:r>
          </a:p>
          <a:p>
            <a:pPr marL="0" indent="0">
              <a:buNone/>
            </a:pPr>
            <a:r>
              <a:rPr lang="ru-RU" dirty="0"/>
              <a:t>Он не анализирует код авторизации.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18884767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B0A0006-157F-4D45-888A-1CAC5D61F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Black-box, White-box </a:t>
            </a:r>
            <a:r>
              <a:rPr lang="kk-KZ" b="1" dirty="0"/>
              <a:t>и </a:t>
            </a:r>
            <a:r>
              <a:rPr lang="en-US" b="1" dirty="0"/>
              <a:t>Gray-box </a:t>
            </a:r>
            <a:r>
              <a:rPr lang="kk-KZ" b="1" dirty="0"/>
              <a:t>тестирование</a:t>
            </a:r>
            <a:br>
              <a:rPr lang="kk-KZ" b="1" dirty="0"/>
            </a:br>
            <a:r>
              <a:rPr lang="en-US" b="1" dirty="0"/>
              <a:t>2. White-box testing</a:t>
            </a:r>
            <a:endParaRPr lang="ru-KZ" b="1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94651B7D-B03D-428A-B6D2-DB0CBFF968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 err="1"/>
              <a:t>White-box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r>
              <a:rPr lang="ru-RU" dirty="0"/>
              <a:t>, или тестирование «белого ящика», — это тестирование с учетом внутренней структуры программы.</a:t>
            </a:r>
          </a:p>
          <a:p>
            <a:pPr marL="0" indent="0">
              <a:buNone/>
            </a:pPr>
            <a:r>
              <a:rPr lang="ru-RU" dirty="0"/>
              <a:t>Тестировщик или разработчик анализирует:</a:t>
            </a:r>
          </a:p>
          <a:p>
            <a:r>
              <a:rPr lang="ru-RU" dirty="0"/>
              <a:t>код; </a:t>
            </a:r>
          </a:p>
          <a:p>
            <a:r>
              <a:rPr lang="ru-RU" dirty="0"/>
              <a:t>условия; </a:t>
            </a:r>
          </a:p>
          <a:p>
            <a:r>
              <a:rPr lang="ru-RU" dirty="0"/>
              <a:t>циклы; </a:t>
            </a:r>
          </a:p>
          <a:p>
            <a:r>
              <a:rPr lang="ru-RU" dirty="0"/>
              <a:t>ветвления; </a:t>
            </a:r>
          </a:p>
          <a:p>
            <a:r>
              <a:rPr lang="ru-RU" dirty="0"/>
              <a:t>функции; </a:t>
            </a:r>
          </a:p>
          <a:p>
            <a:r>
              <a:rPr lang="ru-RU" dirty="0"/>
              <a:t>внутреннюю логику; </a:t>
            </a:r>
          </a:p>
          <a:p>
            <a:r>
              <a:rPr lang="ru-RU" dirty="0"/>
              <a:t>покрытие кода.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3E79EFE1-17D5-4F24-BC7A-EEC703018C7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Примеры:</a:t>
            </a:r>
          </a:p>
          <a:p>
            <a:r>
              <a:rPr lang="ru-RU" dirty="0" err="1"/>
              <a:t>unit</a:t>
            </a:r>
            <a:r>
              <a:rPr lang="ru-RU" dirty="0"/>
              <a:t>-тестирование; </a:t>
            </a:r>
          </a:p>
          <a:p>
            <a:r>
              <a:rPr lang="ru-RU" dirty="0"/>
              <a:t>проверка всех ветвей </a:t>
            </a:r>
            <a:r>
              <a:rPr lang="ru-RU" dirty="0" err="1"/>
              <a:t>if</a:t>
            </a:r>
            <a:r>
              <a:rPr lang="ru-RU" dirty="0"/>
              <a:t>/</a:t>
            </a:r>
            <a:r>
              <a:rPr lang="ru-RU" dirty="0" err="1"/>
              <a:t>else</a:t>
            </a:r>
            <a:r>
              <a:rPr lang="ru-RU" dirty="0"/>
              <a:t>; </a:t>
            </a:r>
          </a:p>
          <a:p>
            <a:r>
              <a:rPr lang="ru-RU" dirty="0"/>
              <a:t>анализ покрытия кода; </a:t>
            </a:r>
          </a:p>
          <a:p>
            <a:r>
              <a:rPr lang="ru-RU" dirty="0"/>
              <a:t>проверка обработки исключений; </a:t>
            </a:r>
          </a:p>
          <a:p>
            <a:r>
              <a:rPr lang="ru-RU" dirty="0"/>
              <a:t>проверка внутренних методов.</a:t>
            </a:r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5353450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B0A0006-157F-4D45-888A-1CAC5D61F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Black-box, White-box </a:t>
            </a:r>
            <a:r>
              <a:rPr lang="kk-KZ" b="1" dirty="0"/>
              <a:t>и </a:t>
            </a:r>
            <a:r>
              <a:rPr lang="en-US" b="1" dirty="0"/>
              <a:t>Gray-box </a:t>
            </a:r>
            <a:r>
              <a:rPr lang="kk-KZ" b="1" dirty="0"/>
              <a:t>тестирование</a:t>
            </a:r>
            <a:br>
              <a:rPr lang="kk-KZ" b="1" dirty="0"/>
            </a:br>
            <a:r>
              <a:rPr lang="en-US" b="1" dirty="0"/>
              <a:t>3. Gray-box testing</a:t>
            </a:r>
            <a:endParaRPr lang="ru-KZ" b="1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94651B7D-B03D-428A-B6D2-DB0CBFF968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G</a:t>
            </a:r>
            <a:r>
              <a:rPr lang="ru-RU" b="1" dirty="0" err="1"/>
              <a:t>ray-box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r>
              <a:rPr lang="ru-RU" dirty="0"/>
              <a:t>, или тестирование «серого ящика», — это промежуточный подход.</a:t>
            </a:r>
          </a:p>
          <a:p>
            <a:pPr marL="0" indent="0">
              <a:buNone/>
            </a:pPr>
            <a:r>
              <a:rPr lang="ru-RU" dirty="0"/>
              <a:t>Тестировщик частично знает внутреннее устройство системы, но проверяет ее в основном через внешний интерфейс.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3E79EFE1-17D5-4F24-BC7A-EEC703018C7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Пример:</a:t>
            </a:r>
          </a:p>
          <a:p>
            <a:pPr marL="0" indent="0">
              <a:buNone/>
            </a:pPr>
            <a:r>
              <a:rPr lang="ru-RU" dirty="0"/>
              <a:t>Тестировщик знает, что данные пользователя сохраняются в таблице </a:t>
            </a:r>
            <a:r>
              <a:rPr lang="ru-RU" dirty="0" err="1"/>
              <a:t>users</a:t>
            </a:r>
            <a:r>
              <a:rPr lang="ru-RU" dirty="0"/>
              <a:t>, и после регистрации проверяет:</a:t>
            </a:r>
          </a:p>
          <a:p>
            <a:r>
              <a:rPr lang="ru-RU" dirty="0"/>
              <a:t>сообщение в интерфейсе; </a:t>
            </a:r>
          </a:p>
          <a:p>
            <a:r>
              <a:rPr lang="ru-RU" dirty="0"/>
              <a:t>запись в базе данных; </a:t>
            </a:r>
          </a:p>
          <a:p>
            <a:r>
              <a:rPr lang="ru-RU" dirty="0"/>
              <a:t>ответ API; </a:t>
            </a:r>
          </a:p>
          <a:p>
            <a:r>
              <a:rPr lang="ru-RU" dirty="0"/>
              <a:t>письмо подтверждения.</a:t>
            </a:r>
          </a:p>
          <a:p>
            <a:endParaRPr lang="ru-KZ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4040663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B0A0006-157F-4D45-888A-1CAC5D61F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Black-box, White-box </a:t>
            </a:r>
            <a:r>
              <a:rPr lang="kk-KZ" b="1" dirty="0"/>
              <a:t>и </a:t>
            </a:r>
            <a:r>
              <a:rPr lang="en-US" b="1" dirty="0"/>
              <a:t>Gray-box </a:t>
            </a:r>
            <a:r>
              <a:rPr lang="kk-KZ" b="1" dirty="0"/>
              <a:t>тестирование</a:t>
            </a:r>
            <a:br>
              <a:rPr lang="kk-KZ" b="1" dirty="0"/>
            </a:br>
            <a:r>
              <a:rPr lang="kk-KZ" b="1" dirty="0"/>
              <a:t>4. Сравнение </a:t>
            </a:r>
            <a:r>
              <a:rPr lang="en-US" b="1" dirty="0"/>
              <a:t>black-box, white-box </a:t>
            </a:r>
            <a:r>
              <a:rPr lang="kk-KZ" b="1" dirty="0"/>
              <a:t>и </a:t>
            </a:r>
            <a:r>
              <a:rPr lang="en-US" b="1" dirty="0"/>
              <a:t>gray-box</a:t>
            </a:r>
            <a:endParaRPr lang="ru-KZ" b="1" dirty="0"/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953D6056-68F7-49F5-8724-6973ED34EE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7986958"/>
              </p:ext>
            </p:extLst>
          </p:nvPr>
        </p:nvGraphicFramePr>
        <p:xfrm>
          <a:off x="199505" y="1258428"/>
          <a:ext cx="11787447" cy="5394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44190">
                  <a:extLst>
                    <a:ext uri="{9D8B030D-6E8A-4147-A177-3AD203B41FA5}">
                      <a16:colId xmlns:a16="http://schemas.microsoft.com/office/drawing/2014/main" val="1884846486"/>
                    </a:ext>
                  </a:extLst>
                </a:gridCol>
                <a:gridCol w="3145748">
                  <a:extLst>
                    <a:ext uri="{9D8B030D-6E8A-4147-A177-3AD203B41FA5}">
                      <a16:colId xmlns:a16="http://schemas.microsoft.com/office/drawing/2014/main" val="1108332477"/>
                    </a:ext>
                  </a:extLst>
                </a:gridCol>
                <a:gridCol w="2888623">
                  <a:extLst>
                    <a:ext uri="{9D8B030D-6E8A-4147-A177-3AD203B41FA5}">
                      <a16:colId xmlns:a16="http://schemas.microsoft.com/office/drawing/2014/main" val="1182995280"/>
                    </a:ext>
                  </a:extLst>
                </a:gridCol>
                <a:gridCol w="3408886">
                  <a:extLst>
                    <a:ext uri="{9D8B030D-6E8A-4147-A177-3AD203B41FA5}">
                      <a16:colId xmlns:a16="http://schemas.microsoft.com/office/drawing/2014/main" val="1127147411"/>
                    </a:ext>
                  </a:extLst>
                </a:gridCol>
              </a:tblGrid>
              <a:tr h="406965">
                <a:tc>
                  <a:txBody>
                    <a:bodyPr/>
                    <a:lstStyle/>
                    <a:p>
                      <a:r>
                        <a:rPr lang="kk-KZ" sz="2400"/>
                        <a:t>Критерий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Black-box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White-box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Gray-box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3474096"/>
                  </a:ext>
                </a:extLst>
              </a:tr>
              <a:tr h="406965">
                <a:tc>
                  <a:txBody>
                    <a:bodyPr/>
                    <a:lstStyle/>
                    <a:p>
                      <a:r>
                        <a:rPr lang="kk-KZ" sz="2400"/>
                        <a:t>Доступ к коду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Нет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Частичный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9247067"/>
                  </a:ext>
                </a:extLst>
              </a:tr>
              <a:tr h="732537">
                <a:tc>
                  <a:txBody>
                    <a:bodyPr/>
                    <a:lstStyle/>
                    <a:p>
                      <a:r>
                        <a:rPr lang="kk-KZ" sz="2400" dirty="0"/>
                        <a:t>Основа тестов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Требования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Код и логика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Требования + знание архитектуры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8569611"/>
                  </a:ext>
                </a:extLst>
              </a:tr>
              <a:tr h="732537">
                <a:tc>
                  <a:txBody>
                    <a:bodyPr/>
                    <a:lstStyle/>
                    <a:p>
                      <a:r>
                        <a:rPr lang="kk-KZ" sz="2400"/>
                        <a:t>Кто выполняет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QA, </a:t>
                      </a:r>
                      <a:r>
                        <a:rPr lang="kk-KZ" sz="2400"/>
                        <a:t>тестировщик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Разработчик, </a:t>
                      </a:r>
                      <a:r>
                        <a:rPr lang="en-US" sz="2400"/>
                        <a:t>QA Automation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QA, </a:t>
                      </a:r>
                      <a:r>
                        <a:rPr lang="kk-KZ" sz="2400"/>
                        <a:t>технический тестировщик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9341630"/>
                  </a:ext>
                </a:extLst>
              </a:tr>
              <a:tr h="732537">
                <a:tc>
                  <a:txBody>
                    <a:bodyPr/>
                    <a:lstStyle/>
                    <a:p>
                      <a:r>
                        <a:rPr lang="kk-KZ" sz="2400"/>
                        <a:t>Пример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Проверка формы входа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Unit-</a:t>
                      </a:r>
                      <a:r>
                        <a:rPr lang="kk-KZ" sz="2400"/>
                        <a:t>тест функции проверки пароля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Проверка </a:t>
                      </a:r>
                      <a:r>
                        <a:rPr lang="en-US" sz="2400"/>
                        <a:t>UI + </a:t>
                      </a:r>
                      <a:r>
                        <a:rPr lang="kk-KZ" sz="2400"/>
                        <a:t>БД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9542804"/>
                  </a:ext>
                </a:extLst>
              </a:tr>
              <a:tr h="1058109">
                <a:tc>
                  <a:txBody>
                    <a:bodyPr/>
                    <a:lstStyle/>
                    <a:p>
                      <a:r>
                        <a:rPr lang="kk-KZ" sz="2400"/>
                        <a:t>Преимущество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Близко к пользовательскому поведению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Глубокая проверка логики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Баланс внешней и внутренней проверки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9278346"/>
                  </a:ext>
                </a:extLst>
              </a:tr>
              <a:tr h="732537">
                <a:tc>
                  <a:txBody>
                    <a:bodyPr/>
                    <a:lstStyle/>
                    <a:p>
                      <a:r>
                        <a:rPr lang="kk-KZ" sz="2400"/>
                        <a:t>Недостаток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Не видны внутренние ошибки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/>
                        <a:t>Требует знания кода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k-KZ" sz="2400" dirty="0"/>
                        <a:t>Требует технического понимания системы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08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8743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B0A0006-157F-4D45-888A-1CAC5D61F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2402"/>
          </a:xfrm>
        </p:spPr>
        <p:txBody>
          <a:bodyPr>
            <a:normAutofit fontScale="90000"/>
          </a:bodyPr>
          <a:lstStyle/>
          <a:p>
            <a:r>
              <a:rPr lang="kk-KZ" b="1" dirty="0"/>
              <a:t>Уровни тестирования</a:t>
            </a:r>
            <a:endParaRPr lang="ru-KZ" b="1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94651B7D-B03D-428A-B6D2-DB0CBFF968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9258" y="997528"/>
            <a:ext cx="5720542" cy="51794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1. Модульное тестирование</a:t>
            </a:r>
          </a:p>
          <a:p>
            <a:pPr marL="0" indent="0">
              <a:buNone/>
            </a:pPr>
            <a:r>
              <a:rPr lang="ru-RU" b="1" dirty="0"/>
              <a:t>Модульное тестирование</a:t>
            </a:r>
            <a:r>
              <a:rPr lang="ru-RU" dirty="0"/>
              <a:t> проверяет отдельную функцию, метод, класс или модуль.</a:t>
            </a:r>
          </a:p>
          <a:p>
            <a:pPr marL="0" indent="0">
              <a:buNone/>
            </a:pPr>
            <a:r>
              <a:rPr lang="ru-RU" dirty="0"/>
              <a:t>Пример:</a:t>
            </a:r>
          </a:p>
          <a:p>
            <a:r>
              <a:rPr lang="ru-RU" dirty="0"/>
              <a:t>проверить функцию расчета скидки; </a:t>
            </a:r>
          </a:p>
          <a:p>
            <a:r>
              <a:rPr lang="ru-RU" dirty="0"/>
              <a:t>проверить метод валидации </a:t>
            </a:r>
            <a:r>
              <a:rPr lang="ru-RU" dirty="0" err="1"/>
              <a:t>email</a:t>
            </a:r>
            <a:r>
              <a:rPr lang="ru-RU" dirty="0"/>
              <a:t>; </a:t>
            </a:r>
          </a:p>
          <a:p>
            <a:r>
              <a:rPr lang="ru-RU" dirty="0"/>
              <a:t>проверить функцию сложения чисел.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3E79EFE1-17D5-4F24-BC7A-EEC703018C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97528"/>
            <a:ext cx="5720542" cy="51794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2. Интеграционное тестирование</a:t>
            </a:r>
          </a:p>
          <a:p>
            <a:pPr marL="0" indent="0">
              <a:buNone/>
            </a:pPr>
            <a:r>
              <a:rPr lang="ru-RU" b="1" dirty="0"/>
              <a:t>Интеграционное тестирование</a:t>
            </a:r>
            <a:r>
              <a:rPr lang="ru-RU" dirty="0"/>
              <a:t> проверяет взаимодействие между модулями.</a:t>
            </a:r>
          </a:p>
          <a:p>
            <a:pPr marL="0" indent="0">
              <a:buNone/>
            </a:pPr>
            <a:r>
              <a:rPr lang="ru-RU" dirty="0"/>
              <a:t>Пример:</a:t>
            </a:r>
          </a:p>
          <a:p>
            <a:r>
              <a:rPr lang="ru-RU" dirty="0"/>
              <a:t>форма регистрации + база данных; </a:t>
            </a:r>
          </a:p>
          <a:p>
            <a:r>
              <a:rPr lang="ru-RU" dirty="0"/>
              <a:t>корзина + модуль оплаты; </a:t>
            </a:r>
          </a:p>
          <a:p>
            <a:r>
              <a:rPr lang="ru-RU" dirty="0" err="1"/>
              <a:t>frontend</a:t>
            </a:r>
            <a:r>
              <a:rPr lang="ru-RU" dirty="0"/>
              <a:t> + </a:t>
            </a:r>
            <a:r>
              <a:rPr lang="ru-RU" dirty="0" err="1"/>
              <a:t>backend</a:t>
            </a:r>
            <a:r>
              <a:rPr lang="ru-RU" dirty="0"/>
              <a:t> API; </a:t>
            </a:r>
          </a:p>
          <a:p>
            <a:r>
              <a:rPr lang="ru-RU" dirty="0"/>
              <a:t>приложение + </a:t>
            </a:r>
            <a:r>
              <a:rPr lang="ru-RU" dirty="0" err="1"/>
              <a:t>email</a:t>
            </a:r>
            <a:r>
              <a:rPr lang="ru-RU" dirty="0"/>
              <a:t>-сервис.</a:t>
            </a:r>
          </a:p>
        </p:txBody>
      </p:sp>
    </p:spTree>
    <p:extLst>
      <p:ext uri="{BB962C8B-B14F-4D97-AF65-F5344CB8AC3E}">
        <p14:creationId xmlns:p14="http://schemas.microsoft.com/office/powerpoint/2010/main" val="16721859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B0A0006-157F-4D45-888A-1CAC5D61F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2402"/>
          </a:xfrm>
        </p:spPr>
        <p:txBody>
          <a:bodyPr>
            <a:normAutofit fontScale="90000"/>
          </a:bodyPr>
          <a:lstStyle/>
          <a:p>
            <a:r>
              <a:rPr lang="kk-KZ" b="1" dirty="0"/>
              <a:t>Уровни тестирования</a:t>
            </a:r>
            <a:endParaRPr lang="ru-KZ" b="1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94651B7D-B03D-428A-B6D2-DB0CBFF968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9258" y="997528"/>
            <a:ext cx="5720542" cy="517943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3. Системное тестирование</a:t>
            </a:r>
          </a:p>
          <a:p>
            <a:pPr marL="0" indent="0">
              <a:buNone/>
            </a:pPr>
            <a:r>
              <a:rPr lang="ru-RU" b="1" dirty="0"/>
              <a:t>Системное тестирование</a:t>
            </a:r>
            <a:r>
              <a:rPr lang="ru-RU" dirty="0"/>
              <a:t> проверяет всю систему целиком.</a:t>
            </a:r>
          </a:p>
          <a:p>
            <a:pPr marL="0" indent="0">
              <a:buNone/>
            </a:pPr>
            <a:r>
              <a:rPr lang="ru-RU" dirty="0"/>
              <a:t>Пример:</a:t>
            </a:r>
          </a:p>
          <a:p>
            <a:pPr marL="0" indent="0">
              <a:buNone/>
            </a:pPr>
            <a:r>
              <a:rPr lang="ru-RU" dirty="0"/>
              <a:t>Пользователь:</a:t>
            </a:r>
          </a:p>
          <a:p>
            <a:r>
              <a:rPr lang="ru-RU" dirty="0"/>
              <a:t>регистрируется; </a:t>
            </a:r>
          </a:p>
          <a:p>
            <a:r>
              <a:rPr lang="ru-RU" dirty="0"/>
              <a:t>входит в систему; </a:t>
            </a:r>
          </a:p>
          <a:p>
            <a:r>
              <a:rPr lang="ru-RU" dirty="0"/>
              <a:t>выбирает товар; </a:t>
            </a:r>
          </a:p>
          <a:p>
            <a:r>
              <a:rPr lang="ru-RU" dirty="0"/>
              <a:t>добавляет его в корзину; </a:t>
            </a:r>
          </a:p>
          <a:p>
            <a:r>
              <a:rPr lang="ru-RU" dirty="0"/>
              <a:t>оформляет заказ; </a:t>
            </a:r>
          </a:p>
          <a:p>
            <a:r>
              <a:rPr lang="ru-RU" dirty="0"/>
              <a:t>оплачивает; </a:t>
            </a:r>
          </a:p>
          <a:p>
            <a:r>
              <a:rPr lang="ru-RU" dirty="0"/>
              <a:t>получает уведомление.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3E79EFE1-17D5-4F24-BC7A-EEC703018C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97528"/>
            <a:ext cx="5720542" cy="517943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4. Приемочное тестирование</a:t>
            </a:r>
          </a:p>
          <a:p>
            <a:pPr marL="0" indent="0">
              <a:buNone/>
            </a:pPr>
            <a:r>
              <a:rPr lang="ru-RU" b="1" dirty="0"/>
              <a:t>Приемочное тестирование</a:t>
            </a:r>
            <a:r>
              <a:rPr lang="ru-RU" dirty="0"/>
              <a:t> проверяет, готов ли продукт к использованию заказчиком или пользователем.</a:t>
            </a:r>
          </a:p>
          <a:p>
            <a:pPr marL="0" indent="0">
              <a:buNone/>
            </a:pPr>
            <a:r>
              <a:rPr lang="ru-RU" dirty="0"/>
              <a:t>Пример:</a:t>
            </a:r>
          </a:p>
          <a:p>
            <a:pPr marL="0" indent="0">
              <a:buNone/>
            </a:pPr>
            <a:r>
              <a:rPr lang="ru-RU" dirty="0"/>
              <a:t>Заказчик проверяет, что система соответствует бизнес-требованиям и может быть принята в эксплуатацию.</a:t>
            </a:r>
          </a:p>
        </p:txBody>
      </p:sp>
    </p:spTree>
    <p:extLst>
      <p:ext uri="{BB962C8B-B14F-4D97-AF65-F5344CB8AC3E}">
        <p14:creationId xmlns:p14="http://schemas.microsoft.com/office/powerpoint/2010/main" val="803723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B0A0006-157F-4D45-888A-1CAC5D61F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2402"/>
          </a:xfrm>
        </p:spPr>
        <p:txBody>
          <a:bodyPr>
            <a:normAutofit fontScale="90000"/>
          </a:bodyPr>
          <a:lstStyle/>
          <a:p>
            <a:r>
              <a:rPr lang="en-US" dirty="0"/>
              <a:t>Smoke, Regression, Alpha </a:t>
            </a:r>
            <a:r>
              <a:rPr lang="kk-KZ" dirty="0"/>
              <a:t>и </a:t>
            </a:r>
            <a:r>
              <a:rPr lang="en-US" dirty="0"/>
              <a:t>Beta testing</a:t>
            </a:r>
            <a:endParaRPr lang="ru-KZ" b="1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94651B7D-B03D-428A-B6D2-DB0CBFF968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9258" y="997528"/>
            <a:ext cx="5720542" cy="517943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1. </a:t>
            </a:r>
            <a:r>
              <a:rPr lang="ru-RU" b="1" dirty="0" err="1"/>
              <a:t>Smoke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endParaRPr lang="ru-RU" b="1" dirty="0"/>
          </a:p>
          <a:p>
            <a:pPr marL="0" indent="0">
              <a:buNone/>
            </a:pPr>
            <a:r>
              <a:rPr lang="ru-RU" b="1" dirty="0" err="1"/>
              <a:t>Smoke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r>
              <a:rPr lang="ru-RU" dirty="0"/>
              <a:t> — это быстрая проверка основной работоспособности системы после сборки.</a:t>
            </a:r>
          </a:p>
          <a:p>
            <a:pPr marL="0" indent="0">
              <a:buNone/>
            </a:pPr>
            <a:r>
              <a:rPr lang="ru-RU" dirty="0"/>
              <a:t>Цель:</a:t>
            </a:r>
          </a:p>
          <a:p>
            <a:pPr marL="0" indent="0">
              <a:buNone/>
            </a:pPr>
            <a:r>
              <a:rPr lang="ru-RU" dirty="0"/>
              <a:t>Понять, можно ли вообще продолжать детальное тестирование.</a:t>
            </a:r>
          </a:p>
          <a:p>
            <a:pPr marL="0" indent="0">
              <a:buNone/>
            </a:pPr>
            <a:r>
              <a:rPr lang="ru-RU" dirty="0"/>
              <a:t>Пример </a:t>
            </a:r>
            <a:r>
              <a:rPr lang="ru-RU" dirty="0" err="1"/>
              <a:t>smoke</a:t>
            </a:r>
            <a:r>
              <a:rPr lang="ru-RU" dirty="0"/>
              <a:t>-проверок интернет-магазина:</a:t>
            </a:r>
          </a:p>
          <a:p>
            <a:r>
              <a:rPr lang="ru-RU" dirty="0"/>
              <a:t>сайт открывается; </a:t>
            </a:r>
          </a:p>
          <a:p>
            <a:r>
              <a:rPr lang="ru-RU" dirty="0"/>
              <a:t>пользователь может войти; </a:t>
            </a:r>
          </a:p>
          <a:p>
            <a:r>
              <a:rPr lang="ru-RU" dirty="0"/>
              <a:t>каталог отображается; </a:t>
            </a:r>
          </a:p>
          <a:p>
            <a:r>
              <a:rPr lang="ru-RU" dirty="0"/>
              <a:t>товар добавляется в корзину; </a:t>
            </a:r>
          </a:p>
          <a:p>
            <a:r>
              <a:rPr lang="ru-RU" dirty="0"/>
              <a:t>заказ можно оформить.</a:t>
            </a:r>
          </a:p>
          <a:p>
            <a:endParaRPr lang="ru-KZ" dirty="0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3E79EFE1-17D5-4F24-BC7A-EEC703018C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97528"/>
            <a:ext cx="5720542" cy="517943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/>
              <a:t>2. </a:t>
            </a:r>
            <a:r>
              <a:rPr lang="ru-RU" b="1" dirty="0" err="1"/>
              <a:t>Regression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endParaRPr lang="ru-RU" b="1" dirty="0"/>
          </a:p>
          <a:p>
            <a:pPr marL="0" indent="0">
              <a:buNone/>
            </a:pPr>
            <a:r>
              <a:rPr lang="ru-RU" b="1" dirty="0" err="1"/>
              <a:t>Regression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r>
              <a:rPr lang="ru-RU" dirty="0"/>
              <a:t> — это проверка того, что изменения в коде не сломали уже работающий функционал.</a:t>
            </a:r>
          </a:p>
          <a:p>
            <a:pPr marL="0" indent="0">
              <a:buNone/>
            </a:pPr>
            <a:r>
              <a:rPr lang="ru-RU" dirty="0"/>
              <a:t>Проводится после:</a:t>
            </a:r>
          </a:p>
          <a:p>
            <a:r>
              <a:rPr lang="ru-RU" dirty="0"/>
              <a:t>исправления дефектов; </a:t>
            </a:r>
          </a:p>
          <a:p>
            <a:r>
              <a:rPr lang="ru-RU" dirty="0"/>
              <a:t>добавления новой функции; </a:t>
            </a:r>
          </a:p>
          <a:p>
            <a:r>
              <a:rPr lang="ru-RU" dirty="0"/>
              <a:t>обновления библиотеки; </a:t>
            </a:r>
          </a:p>
          <a:p>
            <a:r>
              <a:rPr lang="ru-RU" dirty="0"/>
              <a:t>изменения API; </a:t>
            </a:r>
          </a:p>
          <a:p>
            <a:r>
              <a:rPr lang="ru-RU" dirty="0"/>
              <a:t>рефакторинга; </a:t>
            </a:r>
          </a:p>
          <a:p>
            <a:r>
              <a:rPr lang="ru-RU" dirty="0"/>
              <a:t>релиза новой версии.</a:t>
            </a:r>
          </a:p>
        </p:txBody>
      </p:sp>
    </p:spTree>
    <p:extLst>
      <p:ext uri="{BB962C8B-B14F-4D97-AF65-F5344CB8AC3E}">
        <p14:creationId xmlns:p14="http://schemas.microsoft.com/office/powerpoint/2010/main" val="36505339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B0A0006-157F-4D45-888A-1CAC5D61F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2402"/>
          </a:xfrm>
        </p:spPr>
        <p:txBody>
          <a:bodyPr>
            <a:normAutofit fontScale="90000"/>
          </a:bodyPr>
          <a:lstStyle/>
          <a:p>
            <a:r>
              <a:rPr lang="en-US" dirty="0"/>
              <a:t>Smoke, Regression, Alpha </a:t>
            </a:r>
            <a:r>
              <a:rPr lang="kk-KZ" dirty="0"/>
              <a:t>и </a:t>
            </a:r>
            <a:r>
              <a:rPr lang="en-US" dirty="0"/>
              <a:t>Beta testing</a:t>
            </a:r>
            <a:endParaRPr lang="ru-KZ" b="1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94651B7D-B03D-428A-B6D2-DB0CBFF968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9258" y="997528"/>
            <a:ext cx="5720542" cy="51794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3. </a:t>
            </a:r>
            <a:r>
              <a:rPr lang="ru-RU" b="1" dirty="0" err="1"/>
              <a:t>Alpha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endParaRPr lang="ru-RU" b="1" dirty="0"/>
          </a:p>
          <a:p>
            <a:pPr marL="0" indent="0">
              <a:buNone/>
            </a:pPr>
            <a:r>
              <a:rPr lang="ru-RU" b="1" dirty="0" err="1"/>
              <a:t>Alpha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r>
              <a:rPr lang="ru-RU" dirty="0"/>
              <a:t> проводится до выпуска продукта, обычно внутри компании или с ограниченной группой пользователей.</a:t>
            </a:r>
          </a:p>
          <a:p>
            <a:pPr marL="0" indent="0">
              <a:buNone/>
            </a:pPr>
            <a:r>
              <a:rPr lang="ru-RU" dirty="0"/>
              <a:t>Цель:</a:t>
            </a:r>
          </a:p>
          <a:p>
            <a:r>
              <a:rPr lang="ru-RU" dirty="0"/>
              <a:t>найти серьезные ошибки; </a:t>
            </a:r>
          </a:p>
          <a:p>
            <a:r>
              <a:rPr lang="ru-RU" dirty="0"/>
              <a:t>проверить продукт в контролируемых условиях; </a:t>
            </a:r>
          </a:p>
          <a:p>
            <a:r>
              <a:rPr lang="ru-RU" dirty="0"/>
              <a:t>оценить готовность к внешнему тестированию.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3E79EFE1-17D5-4F24-BC7A-EEC703018C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97528"/>
            <a:ext cx="5720542" cy="51794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4. </a:t>
            </a:r>
            <a:r>
              <a:rPr lang="ru-RU" b="1" dirty="0" err="1"/>
              <a:t>Beta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endParaRPr lang="ru-RU" b="1" dirty="0"/>
          </a:p>
          <a:p>
            <a:pPr marL="0" indent="0">
              <a:buNone/>
            </a:pPr>
            <a:r>
              <a:rPr lang="ru-RU" b="1" dirty="0" err="1"/>
              <a:t>Beta</a:t>
            </a:r>
            <a:r>
              <a:rPr lang="ru-RU" b="1" dirty="0"/>
              <a:t> </a:t>
            </a:r>
            <a:r>
              <a:rPr lang="ru-RU" b="1" dirty="0" err="1"/>
              <a:t>testing</a:t>
            </a:r>
            <a:r>
              <a:rPr lang="ru-RU" dirty="0"/>
              <a:t> проводится с участием реальных или потенциальных пользователей до финального релиза.</a:t>
            </a:r>
          </a:p>
          <a:p>
            <a:pPr marL="0" indent="0">
              <a:buNone/>
            </a:pPr>
            <a:r>
              <a:rPr lang="ru-RU" dirty="0"/>
              <a:t>Цель:</a:t>
            </a:r>
          </a:p>
          <a:p>
            <a:r>
              <a:rPr lang="ru-RU" dirty="0"/>
              <a:t>получить обратную связь; </a:t>
            </a:r>
          </a:p>
          <a:p>
            <a:r>
              <a:rPr lang="ru-RU" dirty="0"/>
              <a:t>найти ошибки в реальных условиях; </a:t>
            </a:r>
          </a:p>
          <a:p>
            <a:r>
              <a:rPr lang="ru-RU" dirty="0"/>
              <a:t>проверить продукт на разных устройствах, браузерах, сценариях.</a:t>
            </a:r>
          </a:p>
        </p:txBody>
      </p:sp>
    </p:spTree>
    <p:extLst>
      <p:ext uri="{BB962C8B-B14F-4D97-AF65-F5344CB8AC3E}">
        <p14:creationId xmlns:p14="http://schemas.microsoft.com/office/powerpoint/2010/main" val="36887328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0E25AD7-20CF-4F78-920B-7D0ADB92E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258" y="365125"/>
            <a:ext cx="11538066" cy="1325563"/>
          </a:xfrm>
        </p:spPr>
        <p:txBody>
          <a:bodyPr>
            <a:normAutofit/>
          </a:bodyPr>
          <a:lstStyle/>
          <a:p>
            <a:r>
              <a:rPr lang="ru-RU" b="1" dirty="0"/>
              <a:t>Пример классификации на одном проекте</a:t>
            </a:r>
            <a:br>
              <a:rPr lang="ru-RU" b="1" dirty="0"/>
            </a:br>
            <a:r>
              <a:rPr lang="ru-RU" sz="3100" dirty="0"/>
              <a:t>Объект: образовательная платформа </a:t>
            </a:r>
            <a:r>
              <a:rPr lang="ru-RU" sz="3100" dirty="0" err="1"/>
              <a:t>Moodle</a:t>
            </a:r>
            <a:r>
              <a:rPr lang="ru-RU" sz="3100" dirty="0"/>
              <a:t>-подобного типа</a:t>
            </a:r>
            <a:r>
              <a:rPr lang="ru-RU" dirty="0"/>
              <a:t>.</a:t>
            </a:r>
            <a:endParaRPr lang="ru-KZ" dirty="0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6F929710-6CFC-4B7C-9774-6341ECAB32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78608"/>
              </p:ext>
            </p:extLst>
          </p:nvPr>
        </p:nvGraphicFramePr>
        <p:xfrm>
          <a:off x="299257" y="1799138"/>
          <a:ext cx="11139056" cy="489310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148947">
                  <a:extLst>
                    <a:ext uri="{9D8B030D-6E8A-4147-A177-3AD203B41FA5}">
                      <a16:colId xmlns:a16="http://schemas.microsoft.com/office/drawing/2014/main" val="2205204018"/>
                    </a:ext>
                  </a:extLst>
                </a:gridCol>
                <a:gridCol w="3990109">
                  <a:extLst>
                    <a:ext uri="{9D8B030D-6E8A-4147-A177-3AD203B41FA5}">
                      <a16:colId xmlns:a16="http://schemas.microsoft.com/office/drawing/2014/main" val="144524495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r>
                        <a:rPr lang="kk-KZ" sz="1800" b="1" dirty="0"/>
                        <a:t>Ситуация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kk-KZ" sz="1800" b="1" dirty="0"/>
                        <a:t>Вид тестирования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3729350385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r>
                        <a:rPr lang="kk-KZ" sz="1800"/>
                        <a:t>Проверить вход студента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Функциональное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3417809159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r>
                        <a:rPr lang="kk-KZ" sz="1800"/>
                        <a:t>Проверить скорость загрузки курса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Нефункциональное / </a:t>
                      </a:r>
                      <a:r>
                        <a:rPr lang="en-US" sz="1800"/>
                        <a:t>performance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3685020393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r>
                        <a:rPr lang="ru-RU" sz="1800"/>
                        <a:t>Проверить работу в Chrome и Firefox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Compatibility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1962925523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r>
                        <a:rPr lang="kk-KZ" sz="1800"/>
                        <a:t>Проверить удобство сдачи задания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Usability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94161089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r>
                        <a:rPr lang="kk-KZ" sz="1800"/>
                        <a:t>Проверить защиту паролей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Security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505719132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r>
                        <a:rPr lang="ru-RU" sz="1800"/>
                        <a:t>Проверить модуль загрузки файла отдельно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Модульное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3994916403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r>
                        <a:rPr lang="ru-RU" sz="1800"/>
                        <a:t>Проверить загрузку файла + сохранение в БД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Интеграционное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595402686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r>
                        <a:rPr lang="ru-RU" sz="1800"/>
                        <a:t>Проверить весь путь: вход → курс → задание → загрузка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kk-KZ" sz="1800"/>
                        <a:t>Системное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2334775554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r>
                        <a:rPr lang="kk-KZ" sz="1800"/>
                        <a:t>Проверить после исправления бага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Retesting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1738459990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r>
                        <a:rPr lang="ru-RU" sz="1800"/>
                        <a:t>Проверить, что исправление не сломало другие функции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Regression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3540359571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r>
                        <a:rPr lang="kk-KZ" sz="1800"/>
                        <a:t>Быстро проверить новую сборку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Smoke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741963747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r>
                        <a:rPr lang="ru-RU" sz="1800"/>
                        <a:t>Дать систему группе студентов перед релизом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Beta testing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2849956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10635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A5CE3D7-CACC-4859-996E-B1584573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78" y="365126"/>
            <a:ext cx="11959244" cy="93166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Задание</a:t>
            </a:r>
            <a:r>
              <a:rPr lang="ru-KZ" b="1" dirty="0"/>
              <a:t>. </a:t>
            </a:r>
            <a:r>
              <a:rPr lang="ru-RU" dirty="0"/>
              <a:t>Для системы </a:t>
            </a:r>
            <a:r>
              <a:rPr lang="ru-RU" b="1" dirty="0"/>
              <a:t>«Онлайн-платформа для сдачи домашних заданий»</a:t>
            </a:r>
            <a:r>
              <a:rPr lang="ru-RU" dirty="0"/>
              <a:t> заполнить таблицу.</a:t>
            </a:r>
            <a:endParaRPr lang="ru-KZ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4D4C5BD7-54A6-4D67-9558-4F6F615C57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3553963"/>
              </p:ext>
            </p:extLst>
          </p:nvPr>
        </p:nvGraphicFramePr>
        <p:xfrm>
          <a:off x="266008" y="1579418"/>
          <a:ext cx="11388435" cy="50765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02777">
                  <a:extLst>
                    <a:ext uri="{9D8B030D-6E8A-4147-A177-3AD203B41FA5}">
                      <a16:colId xmlns:a16="http://schemas.microsoft.com/office/drawing/2014/main" val="1929168467"/>
                    </a:ext>
                  </a:extLst>
                </a:gridCol>
                <a:gridCol w="2992582">
                  <a:extLst>
                    <a:ext uri="{9D8B030D-6E8A-4147-A177-3AD203B41FA5}">
                      <a16:colId xmlns:a16="http://schemas.microsoft.com/office/drawing/2014/main" val="1285336802"/>
                    </a:ext>
                  </a:extLst>
                </a:gridCol>
                <a:gridCol w="2793076">
                  <a:extLst>
                    <a:ext uri="{9D8B030D-6E8A-4147-A177-3AD203B41FA5}">
                      <a16:colId xmlns:a16="http://schemas.microsoft.com/office/drawing/2014/main" val="3229095377"/>
                    </a:ext>
                  </a:extLst>
                </a:gridCol>
              </a:tblGrid>
              <a:tr h="327564">
                <a:tc>
                  <a:txBody>
                    <a:bodyPr/>
                    <a:lstStyle/>
                    <a:p>
                      <a:r>
                        <a:rPr lang="kk-KZ" sz="1800" b="1" dirty="0"/>
                        <a:t>Проверка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kk-KZ" sz="1800" b="1" dirty="0"/>
                        <a:t>Вид тестирования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r>
                        <a:rPr lang="kk-KZ" sz="1800" b="1" dirty="0"/>
                        <a:t>Почему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15285671"/>
                  </a:ext>
                </a:extLst>
              </a:tr>
              <a:tr h="573236">
                <a:tc>
                  <a:txBody>
                    <a:bodyPr/>
                    <a:lstStyle/>
                    <a:p>
                      <a:r>
                        <a:rPr lang="ru-RU" sz="1800"/>
                        <a:t>Студент загружает файл с заданием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218709946"/>
                  </a:ext>
                </a:extLst>
              </a:tr>
              <a:tr h="573236">
                <a:tc>
                  <a:txBody>
                    <a:bodyPr/>
                    <a:lstStyle/>
                    <a:p>
                      <a:r>
                        <a:rPr lang="kk-KZ" sz="1800"/>
                        <a:t>Преподаватель выставляет оценку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076822612"/>
                  </a:ext>
                </a:extLst>
              </a:tr>
              <a:tr h="573236">
                <a:tc>
                  <a:txBody>
                    <a:bodyPr/>
                    <a:lstStyle/>
                    <a:p>
                      <a:r>
                        <a:rPr lang="ru-RU" sz="1800" dirty="0"/>
                        <a:t>Система работает при 500 студентах одновременно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endParaRPr lang="ru-KZ" sz="18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600611658"/>
                  </a:ext>
                </a:extLst>
              </a:tr>
              <a:tr h="573236">
                <a:tc>
                  <a:txBody>
                    <a:bodyPr/>
                    <a:lstStyle/>
                    <a:p>
                      <a:r>
                        <a:rPr lang="ru-RU" sz="1800"/>
                        <a:t>Интерфейс корректно отображается на телефоне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15859723"/>
                  </a:ext>
                </a:extLst>
              </a:tr>
              <a:tr h="573236">
                <a:tc>
                  <a:txBody>
                    <a:bodyPr/>
                    <a:lstStyle/>
                    <a:p>
                      <a:r>
                        <a:rPr lang="ru-RU" sz="1800"/>
                        <a:t>После обновления не сломалась загрузка файлов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489812941"/>
                  </a:ext>
                </a:extLst>
              </a:tr>
              <a:tr h="573236">
                <a:tc>
                  <a:txBody>
                    <a:bodyPr/>
                    <a:lstStyle/>
                    <a:p>
                      <a:r>
                        <a:rPr lang="ru-RU" sz="1800"/>
                        <a:t>Проверяется отдельная функция подсчета среднего балла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079697257"/>
                  </a:ext>
                </a:extLst>
              </a:tr>
              <a:tr h="573236">
                <a:tc>
                  <a:txBody>
                    <a:bodyPr/>
                    <a:lstStyle/>
                    <a:p>
                      <a:r>
                        <a:rPr lang="ru-RU" sz="1800"/>
                        <a:t>Проверяется связь модуля загрузки файла и базы данных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689498109"/>
                  </a:ext>
                </a:extLst>
              </a:tr>
              <a:tr h="573236">
                <a:tc>
                  <a:txBody>
                    <a:bodyPr/>
                    <a:lstStyle/>
                    <a:p>
                      <a:r>
                        <a:rPr lang="ru-RU" sz="1800"/>
                        <a:t>Проверяется готовность системы к использованию колледжем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endParaRPr lang="ru-KZ" sz="18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endParaRPr lang="ru-KZ" sz="1800" dirty="0"/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974885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60213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7D87FEB-C825-4698-9FDA-536421CA6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/>
              <a:t>Контрольные вопросы</a:t>
            </a:r>
            <a:endParaRPr lang="ru-KZ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D7A74CA-805C-4BBF-9F48-1775BB2222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99117"/>
            <a:ext cx="10782993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Что такое вид тестирования?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По каким признакам можно классифицировать тестирование?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Что проверяет функциональное тестирование?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Что проверяет нефункциональное тестирование?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В чем отличие функционального и нефункционального тестирования?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Что такое ручное тестирование?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Что такое автоматизированное тестирование?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Когда лучше использовать ручное тестирование?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Когда лучше использовать автоматизированное тестирование?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Что такое </a:t>
            </a:r>
            <a:r>
              <a:rPr lang="ru-RU" sz="2000" dirty="0" err="1"/>
              <a:t>black-box</a:t>
            </a:r>
            <a:r>
              <a:rPr lang="ru-RU" sz="2000" dirty="0"/>
              <a:t> </a:t>
            </a:r>
            <a:r>
              <a:rPr lang="ru-RU" sz="2000" dirty="0" err="1"/>
              <a:t>testing</a:t>
            </a:r>
            <a:r>
              <a:rPr lang="ru-RU" sz="2000" dirty="0"/>
              <a:t>?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Что такое </a:t>
            </a:r>
            <a:r>
              <a:rPr lang="ru-RU" sz="2000" dirty="0" err="1"/>
              <a:t>white-box</a:t>
            </a:r>
            <a:r>
              <a:rPr lang="ru-RU" sz="2000" dirty="0"/>
              <a:t> </a:t>
            </a:r>
            <a:r>
              <a:rPr lang="ru-RU" sz="2000" dirty="0" err="1"/>
              <a:t>testing</a:t>
            </a:r>
            <a:r>
              <a:rPr lang="ru-RU" sz="2000" dirty="0"/>
              <a:t>?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Что такое </a:t>
            </a:r>
            <a:r>
              <a:rPr lang="ru-RU" sz="2000" dirty="0" err="1"/>
              <a:t>gray-box</a:t>
            </a:r>
            <a:r>
              <a:rPr lang="ru-RU" sz="2000" dirty="0"/>
              <a:t> </a:t>
            </a:r>
            <a:r>
              <a:rPr lang="ru-RU" sz="2000" dirty="0" err="1"/>
              <a:t>testing</a:t>
            </a:r>
            <a:r>
              <a:rPr lang="ru-RU" sz="2000" dirty="0"/>
              <a:t>?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Что проверяет модульное тестирование?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Что проверяет интеграционное тестирование?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Что такое </a:t>
            </a:r>
            <a:r>
              <a:rPr lang="ru-RU" sz="2000" dirty="0" err="1"/>
              <a:t>smoke</a:t>
            </a:r>
            <a:r>
              <a:rPr lang="ru-RU" sz="2000" dirty="0"/>
              <a:t> </a:t>
            </a:r>
            <a:r>
              <a:rPr lang="ru-RU" sz="2000" dirty="0" err="1"/>
              <a:t>testing</a:t>
            </a:r>
            <a:r>
              <a:rPr lang="ru-RU" sz="2000" dirty="0"/>
              <a:t>?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Что такое </a:t>
            </a:r>
            <a:r>
              <a:rPr lang="ru-RU" sz="2000" dirty="0" err="1"/>
              <a:t>regression</a:t>
            </a:r>
            <a:r>
              <a:rPr lang="ru-RU" sz="2000" dirty="0"/>
              <a:t> </a:t>
            </a:r>
            <a:r>
              <a:rPr lang="ru-RU" sz="2000" dirty="0" err="1"/>
              <a:t>testing</a:t>
            </a:r>
            <a:r>
              <a:rPr lang="ru-RU" sz="2000" dirty="0"/>
              <a:t>?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/>
              <a:t>Чем </a:t>
            </a:r>
            <a:r>
              <a:rPr lang="ru-RU" sz="2000" dirty="0" err="1"/>
              <a:t>alpha</a:t>
            </a:r>
            <a:r>
              <a:rPr lang="ru-RU" sz="2000" dirty="0"/>
              <a:t> </a:t>
            </a:r>
            <a:r>
              <a:rPr lang="ru-RU" sz="2000" dirty="0" err="1"/>
              <a:t>testing</a:t>
            </a:r>
            <a:r>
              <a:rPr lang="ru-RU" sz="2000" dirty="0"/>
              <a:t> отличается от </a:t>
            </a:r>
            <a:r>
              <a:rPr lang="ru-RU" sz="2000" dirty="0" err="1"/>
              <a:t>beta</a:t>
            </a:r>
            <a:r>
              <a:rPr lang="ru-RU" sz="2000" dirty="0"/>
              <a:t> </a:t>
            </a:r>
            <a:r>
              <a:rPr lang="ru-RU" sz="2000" dirty="0" err="1"/>
              <a:t>testing</a:t>
            </a:r>
            <a:r>
              <a:rPr lang="ru-RU" sz="2000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4916953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2204</Words>
  <Application>Microsoft Office PowerPoint</Application>
  <PresentationFormat>Широкоэкранный</PresentationFormat>
  <Paragraphs>566</Paragraphs>
  <Slides>31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Тема Office</vt:lpstr>
      <vt:lpstr>Виды тестирования: базовая классификация</vt:lpstr>
      <vt:lpstr>Цель лекции</vt:lpstr>
      <vt:lpstr>Презентация PowerPoint</vt:lpstr>
      <vt:lpstr>Что такое вид тестирования</vt:lpstr>
      <vt:lpstr>Общая классификация видов тестирования 1. Классификация по объекту проверки</vt:lpstr>
      <vt:lpstr>Общая классификация видов тестирования 2. Классификация по доступу к коду</vt:lpstr>
      <vt:lpstr>Общая классификация видов тестирования 4. Классификация по уровню тестирования</vt:lpstr>
      <vt:lpstr>Функциональное тестирование</vt:lpstr>
      <vt:lpstr>Функциональное тестирование</vt:lpstr>
      <vt:lpstr>Функциональное тестирование</vt:lpstr>
      <vt:lpstr>Нефункциональное тестирование</vt:lpstr>
      <vt:lpstr>Нефункциональное тестирование 2. Основные виды нефункционального тестирования</vt:lpstr>
      <vt:lpstr>Нефункциональное тестирование 3. Примеры нефункционального тестирования</vt:lpstr>
      <vt:lpstr>Отличие функционального и нефункциональ-ного тестирования</vt:lpstr>
      <vt:lpstr>Пример на одной системе Объект: интернет-магазин.</vt:lpstr>
      <vt:lpstr>Ручное тестирование</vt:lpstr>
      <vt:lpstr>Ручное тестирование</vt:lpstr>
      <vt:lpstr>Автоматизированное тестирование</vt:lpstr>
      <vt:lpstr>Автоматизированное тестирование</vt:lpstr>
      <vt:lpstr>Автоматизированное тестирование</vt:lpstr>
      <vt:lpstr>Black-box, White-box и Gray-box тестирование 1. Black-box testing</vt:lpstr>
      <vt:lpstr>Black-box, White-box и Gray-box тестирование 2. White-box testing</vt:lpstr>
      <vt:lpstr>Black-box, White-box и Gray-box тестирование 3. Gray-box testing</vt:lpstr>
      <vt:lpstr>Black-box, White-box и Gray-box тестирование 4. Сравнение black-box, white-box и gray-box</vt:lpstr>
      <vt:lpstr>Уровни тестирования</vt:lpstr>
      <vt:lpstr>Уровни тестирования</vt:lpstr>
      <vt:lpstr>Smoke, Regression, Alpha и Beta testing</vt:lpstr>
      <vt:lpstr>Smoke, Regression, Alpha и Beta testing</vt:lpstr>
      <vt:lpstr>Пример классификации на одном проекте Объект: образовательная платформа Moodle-подобного типа.</vt:lpstr>
      <vt:lpstr>Задание. Для системы «Онлайн-платформа для сдачи домашних заданий» заполнить таблицу.</vt:lpstr>
      <vt:lpstr>Контрольные вопросы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тестирование программного обеспечения</dc:title>
  <dc:creator>raigul_almaty@mail.ru</dc:creator>
  <cp:lastModifiedBy>raigul_almaty@mail.ru</cp:lastModifiedBy>
  <cp:revision>17</cp:revision>
  <dcterms:created xsi:type="dcterms:W3CDTF">2026-05-17T16:20:39Z</dcterms:created>
  <dcterms:modified xsi:type="dcterms:W3CDTF">2026-05-19T08:41:24Z</dcterms:modified>
</cp:coreProperties>
</file>