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90" r:id="rId4"/>
    <p:sldId id="291" r:id="rId5"/>
    <p:sldId id="314" r:id="rId6"/>
    <p:sldId id="315" r:id="rId7"/>
    <p:sldId id="292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289" r:id="rId30"/>
    <p:sldId id="270" r:id="rId31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429" autoAdjust="0"/>
  </p:normalViewPr>
  <p:slideViewPr>
    <p:cSldViewPr snapToGrid="0">
      <p:cViewPr varScale="1">
        <p:scale>
          <a:sx n="46" d="100"/>
          <a:sy n="46" d="100"/>
        </p:scale>
        <p:origin x="58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896B4-902B-4A8C-8A1B-D2DC11FE0451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29F4B-E19A-40B0-BD71-22A954E6346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780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6384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11502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1937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6029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40492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10399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86119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18718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89042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20930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03608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63983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2039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47E1E-BBF0-4F01-92A3-DC885B743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929F19-6ACA-45B0-BAEB-EDCEAA473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EB61D-B270-406E-99C9-0D350030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2A2AC-41C7-49E3-B21D-53AB5CD6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784B4E-4052-418B-9BEF-DA4569E1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9186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FF563-DC16-475F-B73E-104C55E0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08892-2A08-4CC4-8952-A3034862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36221-7DEA-4997-ADF2-16ADF53E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CD7C6-C113-4AB8-8907-118D32E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C6EB98-B8F4-42E9-8484-D36832EB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8308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FA4F4-6431-4E73-B28F-BC76AA02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64017-1F2D-413F-B869-B9B07BA9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36D718-6551-4472-BB83-EB99E34A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F361B-BD15-4DB9-81A3-C07699CE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51FDA-D796-45E4-B6CF-B3DC513C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233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6F2CA-C8B8-479E-9FF6-7D1B567D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F563D-CC55-46B4-919A-A8661CC25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A3AE65-67FD-488B-B82B-10A2CA0F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63D80-6B84-4B85-A18E-AC750530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593B55-887D-4E40-8E38-BAEB59B9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C7527D-C511-4DDB-B5EF-2B905825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5405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86BCC-3C5C-4F5A-AB46-F3E1AE60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6271C4-D120-41BF-836B-9902D5691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46691E-F214-41B6-B983-F5D1FC39D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7B9105-0F26-43AC-BB86-D465C4F16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A6D395-ED80-43CE-A7F6-2D9E9B693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9A3792-0A89-4A0F-A976-A55DA0CB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60E94D-4BA2-4706-B981-31227E9A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3AFA38-D1A5-4868-8EF2-1B092CFC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9047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72961-CDFD-478A-A436-659708D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FD0378-2F4B-4254-8D0A-427EB63C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528FDA-AE66-4FEC-A0F2-A10734EA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E31020-6810-4124-9F3E-D181839D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0345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5715DA-BD0D-4ACD-9F96-150BB67F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E3595C-4F7F-42CD-BAF9-64DE774A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FDD28-905F-4E98-8762-2D5C8CCA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128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802B6-CF25-4533-9F51-1690C546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29A4C-5DF8-4A44-8AE3-141B307A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5813F-1FD2-4FD7-8E40-0816827E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88025F-D252-439C-B151-C8EE9A17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00EF2C-4D5F-4BC8-99AE-A7D880ED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10B441-7B8A-41D4-8F17-E3859641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3797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ACEF2-401B-43F8-80CD-E3776B48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C6C4737-A95F-4E1A-9111-770E6574A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6FAFE1-650F-418D-84AC-AAC266D10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2002E-61CB-4C5F-9FDE-D92BCFB9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F0B6A4-66B9-4358-8F8B-5E4A0105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66058F-A28D-440A-B2F7-C44B0233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8049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A5600-AEB5-46D4-A36A-6FCEF061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F75AA7-55D8-4EED-9367-CB9B673D9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2E55E3-0B21-4A5F-8621-C302183B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FF0EE2-2100-4C8E-9BBC-029CE182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43CED3-B427-4775-B55A-0D2BB6FD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5833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4C357C-7F87-4933-B26E-51D229D2E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5EF265-5E4E-4672-82E2-0FE3F23DA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300F02-07E4-4AA2-804B-04042D3B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2D65A-D49E-45FA-A03B-DBBF7126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581291-4A5F-4743-935C-A91F9F42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679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83B85-9AB5-4850-984A-092AC26D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99896-89BB-4072-89D1-FD9ACE626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BCD95-2248-485B-9CCA-1C7CD26BF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3F9833-AEA6-4FA7-831A-FDF014C9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0B27F-CAD4-41B7-A6C5-2B3DBC277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785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674CD-6999-4DF3-81AB-205FF45B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764407"/>
            <a:ext cx="8063345" cy="2310312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Тестовые данные: подготовка, классификация и ошибки при работе с ними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B3BE75-DC7B-4962-950C-59FF530C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0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9B04D-1631-4467-B1F6-B1E48B3E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616E1D-ABC9-42E8-8BE8-120CD1777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Сформировать у студентов понимание того, что такое тестовые данные, зачем они нужны в тестировании программных модулей, как их подготавливать, классифицировать и использовать при проверке функциональности, а также какие ошибки чаще всего возникают при работе с тестовыми данными.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8734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971C4-11B7-474E-90B8-9ED90148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Что такое тестовые данные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E6559-DD52-454F-9C0F-035EE4C7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690688"/>
            <a:ext cx="11006051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Тестовые данные</a:t>
            </a:r>
            <a:r>
              <a:rPr lang="ru-RU" dirty="0"/>
              <a:t> — это входные данные, которые используются для проверки работы программного продукта, модуля, функции, формы, API или базы данных.</a:t>
            </a:r>
          </a:p>
          <a:p>
            <a:pPr marL="0" indent="0">
              <a:buNone/>
            </a:pPr>
            <a:r>
              <a:rPr lang="ru-RU" dirty="0"/>
              <a:t>Тестовые данные нужны для того, чтобы проверить:</a:t>
            </a:r>
          </a:p>
          <a:p>
            <a:r>
              <a:rPr lang="ru-RU" dirty="0"/>
              <a:t>принимает ли система корректные значения; </a:t>
            </a:r>
          </a:p>
          <a:p>
            <a:r>
              <a:rPr lang="ru-RU" dirty="0"/>
              <a:t>отклоняет ли система некорректные значения; </a:t>
            </a:r>
          </a:p>
          <a:p>
            <a:r>
              <a:rPr lang="ru-RU" dirty="0"/>
              <a:t>правильно ли обрабатывает пустые поля; </a:t>
            </a:r>
          </a:p>
          <a:p>
            <a:r>
              <a:rPr lang="ru-RU" dirty="0"/>
              <a:t>корректно ли работает на границах допустимых значений; </a:t>
            </a:r>
          </a:p>
          <a:p>
            <a:r>
              <a:rPr lang="ru-RU" dirty="0"/>
              <a:t>как ведет себя при нестандартных ситуациях; </a:t>
            </a:r>
          </a:p>
          <a:p>
            <a:r>
              <a:rPr lang="ru-RU" dirty="0"/>
              <a:t>не нарушаются ли требования безопасности; </a:t>
            </a:r>
          </a:p>
          <a:p>
            <a:r>
              <a:rPr lang="ru-RU" dirty="0"/>
              <a:t>правильно ли сохраняются, изменяются и удаляются данные. </a:t>
            </a:r>
          </a:p>
          <a:p>
            <a:pPr marL="0" indent="0">
              <a:buNone/>
            </a:pPr>
            <a:r>
              <a:rPr lang="ru-RU" dirty="0"/>
              <a:t>Простыми словами:</a:t>
            </a:r>
          </a:p>
          <a:p>
            <a:pPr marL="0" indent="0">
              <a:buNone/>
            </a:pPr>
            <a:r>
              <a:rPr lang="ru-RU" dirty="0"/>
              <a:t>Тестовые данные — это значения, которые тестировщик вводит или передает в систему, чтобы проверить, правильно ли она работает.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75479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Примеры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96" y="1295479"/>
            <a:ext cx="11125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1. Форма регистрации пользователя</a:t>
            </a:r>
          </a:p>
          <a:p>
            <a:r>
              <a:rPr lang="ru-RU" sz="2000" dirty="0"/>
              <a:t>Поля:</a:t>
            </a:r>
            <a:r>
              <a:rPr lang="ru-KZ" sz="2000" dirty="0"/>
              <a:t> </a:t>
            </a:r>
            <a:r>
              <a:rPr lang="ru-RU" sz="2000" dirty="0"/>
              <a:t>имя;</a:t>
            </a:r>
            <a:r>
              <a:rPr lang="ru-KZ" sz="2000" dirty="0"/>
              <a:t> </a:t>
            </a:r>
            <a:r>
              <a:rPr lang="ru-RU" sz="2000" dirty="0" err="1"/>
              <a:t>email</a:t>
            </a:r>
            <a:r>
              <a:rPr lang="ru-RU" sz="2000" dirty="0"/>
              <a:t>;</a:t>
            </a:r>
            <a:r>
              <a:rPr lang="ru-KZ" sz="2000" dirty="0"/>
              <a:t> </a:t>
            </a:r>
            <a:r>
              <a:rPr lang="ru-RU" sz="2000" dirty="0"/>
              <a:t>пароль;</a:t>
            </a:r>
            <a:r>
              <a:rPr lang="ru-KZ" sz="2000" dirty="0"/>
              <a:t> </a:t>
            </a:r>
            <a:r>
              <a:rPr lang="ru-RU" sz="2000" dirty="0"/>
              <a:t>подтверждение пароля; дата рождения;</a:t>
            </a:r>
            <a:r>
              <a:rPr lang="ru-KZ" sz="2000" dirty="0"/>
              <a:t> </a:t>
            </a:r>
            <a:r>
              <a:rPr lang="ru-RU" sz="2000" dirty="0"/>
              <a:t>телефон. </a:t>
            </a:r>
          </a:p>
          <a:p>
            <a:r>
              <a:rPr lang="ru-RU" sz="2000" dirty="0"/>
              <a:t>Примеры тестовых данных: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8424CD89-F89C-4619-BAFB-7A6751A11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44055"/>
              </p:ext>
            </p:extLst>
          </p:nvPr>
        </p:nvGraphicFramePr>
        <p:xfrm>
          <a:off x="116379" y="2261267"/>
          <a:ext cx="11952316" cy="45551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02141">
                  <a:extLst>
                    <a:ext uri="{9D8B030D-6E8A-4147-A177-3AD203B41FA5}">
                      <a16:colId xmlns:a16="http://schemas.microsoft.com/office/drawing/2014/main" val="2380537211"/>
                    </a:ext>
                  </a:extLst>
                </a:gridCol>
                <a:gridCol w="4270822">
                  <a:extLst>
                    <a:ext uri="{9D8B030D-6E8A-4147-A177-3AD203B41FA5}">
                      <a16:colId xmlns:a16="http://schemas.microsoft.com/office/drawing/2014/main" val="4276581769"/>
                    </a:ext>
                  </a:extLst>
                </a:gridCol>
                <a:gridCol w="4779353">
                  <a:extLst>
                    <a:ext uri="{9D8B030D-6E8A-4147-A177-3AD203B41FA5}">
                      <a16:colId xmlns:a16="http://schemas.microsoft.com/office/drawing/2014/main" val="4065438317"/>
                    </a:ext>
                  </a:extLst>
                </a:gridCol>
              </a:tblGrid>
              <a:tr h="397018"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Проверка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Тестовые 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548032"/>
                  </a:ext>
                </a:extLst>
              </a:tr>
              <a:tr h="714632">
                <a:tc>
                  <a:txBody>
                    <a:bodyPr/>
                    <a:lstStyle/>
                    <a:p>
                      <a:r>
                        <a:rPr lang="kk-KZ" sz="2400"/>
                        <a:t>Корректная регистрация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Иван, ivan@test.com, Pass1234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Пользователь зарегистрирован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69099"/>
                  </a:ext>
                </a:extLst>
              </a:tr>
              <a:tr h="714632">
                <a:tc>
                  <a:txBody>
                    <a:bodyPr/>
                    <a:lstStyle/>
                    <a:p>
                      <a:r>
                        <a:rPr lang="kk-KZ" sz="2400"/>
                        <a:t>Пустое имя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"", ivan@test.com, Pass1234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Ошибка: имя обязательно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83703"/>
                  </a:ext>
                </a:extLst>
              </a:tr>
              <a:tr h="397018">
                <a:tc>
                  <a:txBody>
                    <a:bodyPr/>
                    <a:lstStyle/>
                    <a:p>
                      <a:r>
                        <a:rPr lang="kk-KZ" sz="2400"/>
                        <a:t>Невалидный </a:t>
                      </a:r>
                      <a:r>
                        <a:rPr lang="en-US" sz="24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ivantest.com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 формата </a:t>
                      </a:r>
                      <a:r>
                        <a:rPr lang="en-US" sz="2400"/>
                        <a:t>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563220"/>
                  </a:ext>
                </a:extLst>
              </a:tr>
              <a:tr h="714632">
                <a:tc>
                  <a:txBody>
                    <a:bodyPr/>
                    <a:lstStyle/>
                    <a:p>
                      <a:r>
                        <a:rPr lang="kk-KZ" sz="2400"/>
                        <a:t>Короткий пароль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12345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Ошибка: пароль слишком короткий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578315"/>
                  </a:ext>
                </a:extLst>
              </a:tr>
              <a:tr h="397018">
                <a:tc>
                  <a:txBody>
                    <a:bodyPr/>
                    <a:lstStyle/>
                    <a:p>
                      <a:r>
                        <a:rPr lang="kk-KZ" sz="2400"/>
                        <a:t>Разные пароли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Pass1234 </a:t>
                      </a:r>
                      <a:r>
                        <a:rPr lang="kk-KZ" sz="2400"/>
                        <a:t>и </a:t>
                      </a:r>
                      <a:r>
                        <a:rPr lang="en-US" sz="2400"/>
                        <a:t>Pass5678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Ошибка: пароли не совпадают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149288"/>
                  </a:ext>
                </a:extLst>
              </a:tr>
              <a:tr h="714632">
                <a:tc>
                  <a:txBody>
                    <a:bodyPr/>
                    <a:lstStyle/>
                    <a:p>
                      <a:r>
                        <a:rPr lang="kk-KZ" sz="2400"/>
                        <a:t>Уже существующий </a:t>
                      </a:r>
                      <a:r>
                        <a:rPr lang="en-US" sz="24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used@test.com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Ошибка: </a:t>
                      </a:r>
                      <a:r>
                        <a:rPr lang="en-US" sz="2400" dirty="0"/>
                        <a:t>email </a:t>
                      </a:r>
                      <a:r>
                        <a:rPr lang="kk-KZ" sz="2400" dirty="0"/>
                        <a:t>уже используется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56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47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Примеры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96" y="1295479"/>
            <a:ext cx="11125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2. Форма оплаты</a:t>
            </a:r>
          </a:p>
          <a:p>
            <a:r>
              <a:rPr lang="ru-RU" sz="2000" dirty="0"/>
              <a:t>Поля:</a:t>
            </a:r>
            <a:r>
              <a:rPr lang="ru-KZ" sz="2000" dirty="0"/>
              <a:t> </a:t>
            </a:r>
            <a:r>
              <a:rPr lang="ru-RU" sz="2000" dirty="0"/>
              <a:t>номер карты; срок действия; CVV; имя владельца; сумма оплаты. </a:t>
            </a:r>
          </a:p>
          <a:p>
            <a:r>
              <a:rPr lang="ru-RU" sz="2000" dirty="0"/>
              <a:t>Примеры: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390B563-99B8-4FDD-800E-110207F97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1108864"/>
              </p:ext>
            </p:extLst>
          </p:nvPr>
        </p:nvGraphicFramePr>
        <p:xfrm>
          <a:off x="838200" y="2311142"/>
          <a:ext cx="1051560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974906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164329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80211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Проверка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Тестовые 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75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Валидная карта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4111111111111111, 12/28, 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Оплата проходит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7642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Пустой номер карты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454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Короткий номер карты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4111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971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Истекший срок карты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01/20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89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Неверный </a:t>
                      </a:r>
                      <a:r>
                        <a:rPr lang="en-US" sz="2400"/>
                        <a:t>CVV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743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Нулевая сумма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 или запрет оплаты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681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Отрицательная сумма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-100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41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842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9F53D-A724-4EE9-8894-DA420BB9D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Зачем нужны тестовые данные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59604D-0757-45FE-9A69-FA7EC3767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4" y="1446415"/>
            <a:ext cx="11521440" cy="50464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Тестовые данные позволяют:</a:t>
            </a:r>
          </a:p>
          <a:p>
            <a:r>
              <a:rPr lang="ru-RU" b="1" dirty="0"/>
              <a:t>Проверить требования</a:t>
            </a:r>
            <a:br>
              <a:rPr lang="ru-RU" dirty="0"/>
            </a:br>
            <a:r>
              <a:rPr lang="ru-RU" dirty="0"/>
              <a:t>Например, если требование говорит, что пароль должен быть минимум 8 символов, нужны данные с 7, 8 и 9 символами. </a:t>
            </a:r>
          </a:p>
          <a:p>
            <a:r>
              <a:rPr lang="ru-RU" b="1" dirty="0"/>
              <a:t>Проверить позитивные сценарии</a:t>
            </a:r>
            <a:br>
              <a:rPr lang="ru-RU" dirty="0"/>
            </a:br>
            <a:r>
              <a:rPr lang="ru-RU" dirty="0"/>
              <a:t>То есть ситуации, когда пользователь вводит корректные данные. </a:t>
            </a:r>
          </a:p>
          <a:p>
            <a:r>
              <a:rPr lang="ru-RU" b="1" dirty="0"/>
              <a:t>Проверить негативные сценарии</a:t>
            </a:r>
            <a:br>
              <a:rPr lang="ru-RU" dirty="0"/>
            </a:br>
            <a:r>
              <a:rPr lang="ru-RU" dirty="0"/>
              <a:t>То есть ситуации, когда пользователь вводит неверные данные. </a:t>
            </a:r>
          </a:p>
          <a:p>
            <a:r>
              <a:rPr lang="ru-RU" b="1" dirty="0"/>
              <a:t>Проверить граничные значения</a:t>
            </a:r>
            <a:br>
              <a:rPr lang="ru-RU" dirty="0"/>
            </a:br>
            <a:r>
              <a:rPr lang="ru-RU" dirty="0"/>
              <a:t>Например, минимальная и максимальная длина поля. </a:t>
            </a:r>
          </a:p>
          <a:p>
            <a:r>
              <a:rPr lang="ru-RU" b="1" dirty="0"/>
              <a:t>Найти дефекты</a:t>
            </a:r>
            <a:br>
              <a:rPr lang="ru-RU" dirty="0"/>
            </a:br>
            <a:r>
              <a:rPr lang="ru-RU" dirty="0"/>
              <a:t>Неправильно подобранные или необычные данные часто помогают найти ошибки. </a:t>
            </a:r>
          </a:p>
          <a:p>
            <a:r>
              <a:rPr lang="ru-RU" b="1" dirty="0"/>
              <a:t>Обеспечить полноту тестирования</a:t>
            </a:r>
            <a:br>
              <a:rPr lang="ru-RU" dirty="0"/>
            </a:br>
            <a:r>
              <a:rPr lang="ru-RU" dirty="0"/>
              <a:t>Без данных невозможно доказать, что система проверена в разных условиях. </a:t>
            </a:r>
          </a:p>
          <a:p>
            <a:r>
              <a:rPr lang="ru-RU" b="1" dirty="0"/>
              <a:t>Повторить тесты</a:t>
            </a:r>
            <a:br>
              <a:rPr lang="ru-RU" dirty="0"/>
            </a:br>
            <a:r>
              <a:rPr lang="ru-RU" dirty="0"/>
              <a:t>Хорошо подготовленные данные позволяют повторно выполнить тест и получить сопоставимый результат.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80890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02" y="1251227"/>
            <a:ext cx="11125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1. Валидные данные</a:t>
            </a:r>
          </a:p>
          <a:p>
            <a:r>
              <a:rPr lang="ru-RU" sz="2400" b="1" dirty="0"/>
              <a:t>Валидные данные</a:t>
            </a:r>
            <a:r>
              <a:rPr lang="ru-RU" sz="2400" dirty="0"/>
              <a:t> — это корректные данные, которые соответствуют требованиям системы.</a:t>
            </a:r>
          </a:p>
          <a:p>
            <a:r>
              <a:rPr lang="ru-RU" sz="2400" dirty="0"/>
              <a:t>Примеры: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C2EEB-2F9D-446D-8D76-7072AE10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96" y="2351802"/>
            <a:ext cx="56505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KZ" sz="2400" dirty="0"/>
              <a:t>В</a:t>
            </a:r>
            <a:r>
              <a:rPr lang="ru-RU" sz="2400" dirty="0" err="1"/>
              <a:t>алидные</a:t>
            </a:r>
            <a:r>
              <a:rPr lang="ru-RU" sz="2400" dirty="0"/>
              <a:t> данные используются для позитивного тестирования.</a:t>
            </a:r>
          </a:p>
          <a:p>
            <a:r>
              <a:rPr lang="ru-RU" sz="2400" dirty="0"/>
              <a:t>Пример:</a:t>
            </a:r>
          </a:p>
          <a:p>
            <a:r>
              <a:rPr lang="ru-RU" sz="2400" dirty="0"/>
              <a:t>Если пользователь вводит корректный </a:t>
            </a:r>
            <a:r>
              <a:rPr lang="ru-RU" sz="2400" dirty="0" err="1"/>
              <a:t>email</a:t>
            </a:r>
            <a:r>
              <a:rPr lang="ru-RU" sz="2400" dirty="0"/>
              <a:t> и пароль, система должна выполнить вход.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AE71733D-4DBA-43E6-9312-D80A0A72E8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704829"/>
              </p:ext>
            </p:extLst>
          </p:nvPr>
        </p:nvGraphicFramePr>
        <p:xfrm>
          <a:off x="514002" y="2820887"/>
          <a:ext cx="5257801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37015">
                  <a:extLst>
                    <a:ext uri="{9D8B030D-6E8A-4147-A177-3AD203B41FA5}">
                      <a16:colId xmlns:a16="http://schemas.microsoft.com/office/drawing/2014/main" val="3538150040"/>
                    </a:ext>
                  </a:extLst>
                </a:gridCol>
                <a:gridCol w="2820786">
                  <a:extLst>
                    <a:ext uri="{9D8B030D-6E8A-4147-A177-3AD203B41FA5}">
                      <a16:colId xmlns:a16="http://schemas.microsoft.com/office/drawing/2014/main" val="1431979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/>
                        <a:t>Поле</a:t>
                      </a:r>
                      <a:endParaRPr lang="kk-KZ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Валидные данные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625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user@test.com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769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Пароль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Pass1234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401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Возраст 18–65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175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Телефон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 dirty="0"/>
                        <a:t>+77011234567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27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 dirty="0"/>
                        <a:t>Количество товара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1, 5, 10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59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Дата рождения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 dirty="0"/>
                        <a:t>15.04.2000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044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12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02" y="1435893"/>
            <a:ext cx="11125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2. </a:t>
            </a:r>
            <a:r>
              <a:rPr lang="ru-RU" sz="2400" b="1" dirty="0" err="1"/>
              <a:t>Невалидные</a:t>
            </a:r>
            <a:r>
              <a:rPr lang="ru-RU" sz="2400" b="1" dirty="0"/>
              <a:t> данные</a:t>
            </a:r>
          </a:p>
          <a:p>
            <a:r>
              <a:rPr lang="ru-RU" sz="2400" b="1" dirty="0" err="1"/>
              <a:t>Невалидные</a:t>
            </a:r>
            <a:r>
              <a:rPr lang="ru-RU" sz="2400" b="1" dirty="0"/>
              <a:t> данные</a:t>
            </a:r>
            <a:r>
              <a:rPr lang="ru-RU" sz="2400" dirty="0"/>
              <a:t> — это данные, которые не соответствуют требованиям.</a:t>
            </a:r>
          </a:p>
          <a:p>
            <a:r>
              <a:rPr lang="ru-RU" sz="2400" dirty="0"/>
              <a:t>Примеры: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C2EEB-2F9D-446D-8D76-7072AE10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96" y="2761455"/>
            <a:ext cx="56505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 err="1"/>
              <a:t>Невалидные</a:t>
            </a:r>
            <a:r>
              <a:rPr lang="ru-RU" sz="2400" dirty="0"/>
              <a:t> данные используются для негативного тестирования.</a:t>
            </a:r>
          </a:p>
          <a:p>
            <a:r>
              <a:rPr lang="ru-RU" sz="2400" dirty="0"/>
              <a:t>Пример:</a:t>
            </a:r>
          </a:p>
          <a:p>
            <a:r>
              <a:rPr lang="ru-RU" sz="2400" dirty="0"/>
              <a:t>Если пользователь вводит </a:t>
            </a:r>
            <a:r>
              <a:rPr lang="ru-RU" sz="2400" dirty="0" err="1"/>
              <a:t>email</a:t>
            </a:r>
            <a:r>
              <a:rPr lang="ru-RU" sz="2400" dirty="0"/>
              <a:t> без символа @, система должна показать ошибку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EC6B8D18-A0E3-4F50-BE74-E57F4E76D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334560"/>
              </p:ext>
            </p:extLst>
          </p:nvPr>
        </p:nvGraphicFramePr>
        <p:xfrm>
          <a:off x="514002" y="2761455"/>
          <a:ext cx="5410204" cy="40927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05102">
                  <a:extLst>
                    <a:ext uri="{9D8B030D-6E8A-4147-A177-3AD203B41FA5}">
                      <a16:colId xmlns:a16="http://schemas.microsoft.com/office/drawing/2014/main" val="1823972721"/>
                    </a:ext>
                  </a:extLst>
                </a:gridCol>
                <a:gridCol w="2705102">
                  <a:extLst>
                    <a:ext uri="{9D8B030D-6E8A-4147-A177-3AD203B41FA5}">
                      <a16:colId xmlns:a16="http://schemas.microsoft.com/office/drawing/2014/main" val="472025650"/>
                    </a:ext>
                  </a:extLst>
                </a:gridCol>
              </a:tblGrid>
              <a:tr h="642306">
                <a:tc>
                  <a:txBody>
                    <a:bodyPr/>
                    <a:lstStyle/>
                    <a:p>
                      <a:r>
                        <a:rPr lang="kk-KZ" sz="2400" b="1" dirty="0"/>
                        <a:t>Поле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Невалидные данные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526415"/>
                  </a:ext>
                </a:extLst>
              </a:tr>
              <a:tr h="642306">
                <a:tc>
                  <a:txBody>
                    <a:bodyPr/>
                    <a:lstStyle/>
                    <a:p>
                      <a:r>
                        <a:rPr lang="en-US" sz="24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user.com, user@, @test.com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294894"/>
                  </a:ext>
                </a:extLst>
              </a:tr>
              <a:tr h="489362">
                <a:tc>
                  <a:txBody>
                    <a:bodyPr/>
                    <a:lstStyle/>
                    <a:p>
                      <a:r>
                        <a:rPr lang="kk-KZ" sz="2400"/>
                        <a:t>Пароль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123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539771"/>
                  </a:ext>
                </a:extLst>
              </a:tr>
              <a:tr h="489362">
                <a:tc>
                  <a:txBody>
                    <a:bodyPr/>
                    <a:lstStyle/>
                    <a:p>
                      <a:r>
                        <a:rPr lang="kk-KZ" sz="2400"/>
                        <a:t>Возраст 18–65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17, 66, abc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045334"/>
                  </a:ext>
                </a:extLst>
              </a:tr>
              <a:tr h="489362">
                <a:tc>
                  <a:txBody>
                    <a:bodyPr/>
                    <a:lstStyle/>
                    <a:p>
                      <a:r>
                        <a:rPr lang="kk-KZ" sz="2400"/>
                        <a:t>Телефон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123, 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453325"/>
                  </a:ext>
                </a:extLst>
              </a:tr>
              <a:tr h="489362">
                <a:tc>
                  <a:txBody>
                    <a:bodyPr/>
                    <a:lstStyle/>
                    <a:p>
                      <a:r>
                        <a:rPr lang="kk-KZ" sz="2400"/>
                        <a:t>Количество товара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0, -1, abc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589124"/>
                  </a:ext>
                </a:extLst>
              </a:tr>
              <a:tr h="489362">
                <a:tc>
                  <a:txBody>
                    <a:bodyPr/>
                    <a:lstStyle/>
                    <a:p>
                      <a:r>
                        <a:rPr lang="kk-KZ" sz="240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 dirty="0"/>
                        <a:t>32.13.2025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44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55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05" y="1256576"/>
            <a:ext cx="111252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3. Граничные данные</a:t>
            </a:r>
            <a:r>
              <a:rPr lang="ru-KZ" sz="2400" b="1" dirty="0"/>
              <a:t> – </a:t>
            </a:r>
            <a:r>
              <a:rPr lang="ru-RU" sz="2400" dirty="0"/>
              <a:t>это значения на границах допустимого диапазона и рядом с ними.</a:t>
            </a:r>
          </a:p>
          <a:p>
            <a:r>
              <a:rPr lang="ru-RU" sz="2400" dirty="0"/>
              <a:t>Пример требования:</a:t>
            </a:r>
            <a:r>
              <a:rPr lang="ru-KZ" sz="2400" dirty="0"/>
              <a:t> </a:t>
            </a:r>
            <a:r>
              <a:rPr lang="ru-RU" sz="2400" dirty="0"/>
              <a:t>Возраст пользователя должен быть от 18 до 65 лет.</a:t>
            </a:r>
          </a:p>
          <a:p>
            <a:r>
              <a:rPr lang="ru-RU" sz="2400" dirty="0"/>
              <a:t>Тестовые данные:</a:t>
            </a:r>
          </a:p>
          <a:p>
            <a:endParaRPr lang="ru-KZ" sz="2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C2EEB-2F9D-446D-8D76-7072AE10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9820" y="2595403"/>
            <a:ext cx="56505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/>
              <a:t>Граничные значения особенно важны, потому что ошибки часто возникают именно на границах диапазонов.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4A86A1C1-906E-4264-B29F-92D1DB3E8C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100432"/>
              </p:ext>
            </p:extLst>
          </p:nvPr>
        </p:nvGraphicFramePr>
        <p:xfrm>
          <a:off x="273629" y="2721134"/>
          <a:ext cx="5562600" cy="41772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07026">
                  <a:extLst>
                    <a:ext uri="{9D8B030D-6E8A-4147-A177-3AD203B41FA5}">
                      <a16:colId xmlns:a16="http://schemas.microsoft.com/office/drawing/2014/main" val="502588455"/>
                    </a:ext>
                  </a:extLst>
                </a:gridCol>
                <a:gridCol w="2901374">
                  <a:extLst>
                    <a:ext uri="{9D8B030D-6E8A-4147-A177-3AD203B41FA5}">
                      <a16:colId xmlns:a16="http://schemas.microsoft.com/office/drawing/2014/main" val="102476044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428247905"/>
                    </a:ext>
                  </a:extLst>
                </a:gridCol>
              </a:tblGrid>
              <a:tr h="518541">
                <a:tc>
                  <a:txBody>
                    <a:bodyPr/>
                    <a:lstStyle/>
                    <a:p>
                      <a:pPr algn="r"/>
                      <a:r>
                        <a:rPr lang="kk-KZ" sz="2000" b="1" dirty="0"/>
                        <a:t>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226174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Ниже нижней границы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918823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Нижняя граница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684158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Чуть выше нижней границы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68553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Чуть ниже верхней границы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02488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Верхняя граница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98146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Выше верхней границы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568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53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05" y="1441242"/>
            <a:ext cx="11125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4. Пустые данные</a:t>
            </a:r>
          </a:p>
          <a:p>
            <a:r>
              <a:rPr lang="ru-RU" sz="2400" b="1" dirty="0"/>
              <a:t>Пустые данные</a:t>
            </a:r>
            <a:r>
              <a:rPr lang="ru-RU" sz="2400" dirty="0"/>
              <a:t> — это отсутствие значения в обязательном или необязательном поле.</a:t>
            </a:r>
          </a:p>
          <a:p>
            <a:r>
              <a:rPr lang="ru-RU" sz="2400" dirty="0"/>
              <a:t>Примеры: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C2EEB-2F9D-446D-8D76-7072AE10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9820" y="2780069"/>
            <a:ext cx="56505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/>
              <a:t>Пустые значения обязательно нужно проверять для всех важных форм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EEEA17C0-DB52-4554-9DB1-295826BD6A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695675"/>
              </p:ext>
            </p:extLst>
          </p:nvPr>
        </p:nvGraphicFramePr>
        <p:xfrm>
          <a:off x="361605" y="3016353"/>
          <a:ext cx="5650575" cy="38201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18060">
                  <a:extLst>
                    <a:ext uri="{9D8B030D-6E8A-4147-A177-3AD203B41FA5}">
                      <a16:colId xmlns:a16="http://schemas.microsoft.com/office/drawing/2014/main" val="3418585379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50597207"/>
                    </a:ext>
                  </a:extLst>
                </a:gridCol>
                <a:gridCol w="3435235">
                  <a:extLst>
                    <a:ext uri="{9D8B030D-6E8A-4147-A177-3AD203B41FA5}">
                      <a16:colId xmlns:a16="http://schemas.microsoft.com/office/drawing/2014/main" val="1580959277"/>
                    </a:ext>
                  </a:extLst>
                </a:gridCol>
              </a:tblGrid>
              <a:tr h="439641">
                <a:tc>
                  <a:txBody>
                    <a:bodyPr/>
                    <a:lstStyle/>
                    <a:p>
                      <a:r>
                        <a:rPr lang="kk-KZ" sz="2000" b="1" dirty="0"/>
                        <a:t>Поле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Пустые 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519962"/>
                  </a:ext>
                </a:extLst>
              </a:tr>
              <a:tr h="439641">
                <a:tc>
                  <a:txBody>
                    <a:bodyPr/>
                    <a:lstStyle/>
                    <a:p>
                      <a:r>
                        <a:rPr lang="en-US" sz="20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000"/>
                        <a:t>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Ошибка, если поле обязательное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912999"/>
                  </a:ext>
                </a:extLst>
              </a:tr>
              <a:tr h="439641">
                <a:tc>
                  <a:txBody>
                    <a:bodyPr/>
                    <a:lstStyle/>
                    <a:p>
                      <a:r>
                        <a:rPr lang="kk-KZ" sz="2000"/>
                        <a:t>Пароль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000"/>
                        <a:t>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234379"/>
                  </a:ext>
                </a:extLst>
              </a:tr>
              <a:tr h="439641">
                <a:tc>
                  <a:txBody>
                    <a:bodyPr/>
                    <a:lstStyle/>
                    <a:p>
                      <a:r>
                        <a:rPr lang="kk-KZ" sz="2000"/>
                        <a:t>Имя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000"/>
                        <a:t>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354997"/>
                  </a:ext>
                </a:extLst>
              </a:tr>
              <a:tr h="769372">
                <a:tc>
                  <a:txBody>
                    <a:bodyPr/>
                    <a:lstStyle/>
                    <a:p>
                      <a:r>
                        <a:rPr lang="kk-KZ" sz="2000"/>
                        <a:t>Комментарий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000"/>
                        <a:t>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Может быть принято, если поле необязательное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00262"/>
                  </a:ext>
                </a:extLst>
              </a:tr>
              <a:tr h="769372">
                <a:tc>
                  <a:txBody>
                    <a:bodyPr/>
                    <a:lstStyle/>
                    <a:p>
                      <a:r>
                        <a:rPr lang="kk-KZ" sz="2000"/>
                        <a:t>Поиск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000"/>
                        <a:t>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Система может показать все данные или сообщение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305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73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05" y="1441242"/>
            <a:ext cx="1146879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5. Специальные символы</a:t>
            </a:r>
          </a:p>
          <a:p>
            <a:r>
              <a:rPr lang="ru-RU" sz="2400" dirty="0"/>
              <a:t>Специальные символы помогают проверить устойчивость системы к нестандартному вводу.</a:t>
            </a:r>
          </a:p>
          <a:p>
            <a:r>
              <a:rPr lang="ru-RU" sz="2400" dirty="0"/>
              <a:t>Примеры: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C2EEB-2F9D-446D-8D76-7072AE104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638" y="2508271"/>
            <a:ext cx="56505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/>
              <a:t>Такие данные важны для проверки: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валидации;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безопасности;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обработки HTML;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защиты от SQL-инъекций;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защиты от XSS;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корректного сохранения текста.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0F68708B-EEB3-4406-9C37-B5C8A0A738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762515"/>
              </p:ext>
            </p:extLst>
          </p:nvPr>
        </p:nvGraphicFramePr>
        <p:xfrm>
          <a:off x="361605" y="2904014"/>
          <a:ext cx="5650578" cy="30146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8839">
                  <a:extLst>
                    <a:ext uri="{9D8B030D-6E8A-4147-A177-3AD203B41FA5}">
                      <a16:colId xmlns:a16="http://schemas.microsoft.com/office/drawing/2014/main" val="3714409534"/>
                    </a:ext>
                  </a:extLst>
                </a:gridCol>
                <a:gridCol w="3501739">
                  <a:extLst>
                    <a:ext uri="{9D8B030D-6E8A-4147-A177-3AD203B41FA5}">
                      <a16:colId xmlns:a16="http://schemas.microsoft.com/office/drawing/2014/main" val="1248654960"/>
                    </a:ext>
                  </a:extLst>
                </a:gridCol>
              </a:tblGrid>
              <a:tr h="502441">
                <a:tc>
                  <a:txBody>
                    <a:bodyPr/>
                    <a:lstStyle/>
                    <a:p>
                      <a:r>
                        <a:rPr lang="kk-KZ" sz="2400" b="1" dirty="0"/>
                        <a:t>Поле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Данные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68747"/>
                  </a:ext>
                </a:extLst>
              </a:tr>
              <a:tr h="502441">
                <a:tc>
                  <a:txBody>
                    <a:bodyPr/>
                    <a:lstStyle/>
                    <a:p>
                      <a:r>
                        <a:rPr lang="kk-KZ" sz="2400"/>
                        <a:t>Имя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Иван!@#$%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838408"/>
                  </a:ext>
                </a:extLst>
              </a:tr>
              <a:tr h="502441">
                <a:tc>
                  <a:txBody>
                    <a:bodyPr/>
                    <a:lstStyle/>
                    <a:p>
                      <a:r>
                        <a:rPr lang="kk-KZ" sz="2400"/>
                        <a:t>Комментарий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&lt;script&gt;alert(1)&lt;/script&gt;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106305"/>
                  </a:ext>
                </a:extLst>
              </a:tr>
              <a:tr h="502441">
                <a:tc>
                  <a:txBody>
                    <a:bodyPr/>
                    <a:lstStyle/>
                    <a:p>
                      <a:r>
                        <a:rPr lang="kk-KZ" sz="2400"/>
                        <a:t>Поиск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"' OR '1'='1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884641"/>
                  </a:ext>
                </a:extLst>
              </a:tr>
              <a:tr h="502441">
                <a:tc>
                  <a:txBody>
                    <a:bodyPr/>
                    <a:lstStyle/>
                    <a:p>
                      <a:r>
                        <a:rPr lang="kk-KZ" sz="2400"/>
                        <a:t>Пароль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P@ssw0rd!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468243"/>
                  </a:ext>
                </a:extLst>
              </a:tr>
              <a:tr h="502441">
                <a:tc>
                  <a:txBody>
                    <a:bodyPr/>
                    <a:lstStyle/>
                    <a:p>
                      <a:r>
                        <a:rPr lang="kk-KZ" sz="2400"/>
                        <a:t>Адрес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ул. Абая, д. 10/2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29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550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05" y="1256576"/>
            <a:ext cx="1146879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6. Длинные данные</a:t>
            </a:r>
          </a:p>
          <a:p>
            <a:r>
              <a:rPr lang="ru-RU" sz="2400" b="1" dirty="0"/>
              <a:t>Длинные данные</a:t>
            </a:r>
            <a:r>
              <a:rPr lang="ru-RU" sz="2400" dirty="0"/>
              <a:t> используются для проверки ограничений по длине.</a:t>
            </a:r>
          </a:p>
          <a:p>
            <a:r>
              <a:rPr lang="ru-RU" sz="2400" dirty="0"/>
              <a:t>Пример требования:</a:t>
            </a:r>
          </a:p>
          <a:p>
            <a:r>
              <a:rPr lang="ru-RU" sz="2400" dirty="0"/>
              <a:t>Имя пользователя должно содержать от 2 до 50 символов.</a:t>
            </a:r>
          </a:p>
          <a:p>
            <a:r>
              <a:rPr lang="ru-RU" sz="2400" dirty="0"/>
              <a:t>Тестовые данные: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EFB725D0-9152-470B-B2EF-3272745000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728797"/>
              </p:ext>
            </p:extLst>
          </p:nvPr>
        </p:nvGraphicFramePr>
        <p:xfrm>
          <a:off x="1738053" y="3662433"/>
          <a:ext cx="8715893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5711">
                  <a:extLst>
                    <a:ext uri="{9D8B030D-6E8A-4147-A177-3AD203B41FA5}">
                      <a16:colId xmlns:a16="http://schemas.microsoft.com/office/drawing/2014/main" val="2433349145"/>
                    </a:ext>
                  </a:extLst>
                </a:gridCol>
                <a:gridCol w="3391593">
                  <a:extLst>
                    <a:ext uri="{9D8B030D-6E8A-4147-A177-3AD203B41FA5}">
                      <a16:colId xmlns:a16="http://schemas.microsoft.com/office/drawing/2014/main" val="3744603226"/>
                    </a:ext>
                  </a:extLst>
                </a:gridCol>
                <a:gridCol w="3258589">
                  <a:extLst>
                    <a:ext uri="{9D8B030D-6E8A-4147-A177-3AD203B41FA5}">
                      <a16:colId xmlns:a16="http://schemas.microsoft.com/office/drawing/2014/main" val="4280860296"/>
                    </a:ext>
                  </a:extLst>
                </a:gridCol>
              </a:tblGrid>
              <a:tr h="447921">
                <a:tc>
                  <a:txBody>
                    <a:bodyPr/>
                    <a:lstStyle/>
                    <a:p>
                      <a:pPr algn="r"/>
                      <a:r>
                        <a:rPr lang="kk-KZ" sz="2400" b="1" dirty="0"/>
                        <a:t>Длина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Ожидаемый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828397"/>
                  </a:ext>
                </a:extLst>
              </a:tr>
              <a:tr h="447921">
                <a:tc>
                  <a:txBody>
                    <a:bodyPr/>
                    <a:lstStyle/>
                    <a:p>
                      <a:pPr algn="r"/>
                      <a:r>
                        <a:rPr lang="kk-KZ" sz="2400"/>
                        <a:t>1 символ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04538"/>
                  </a:ext>
                </a:extLst>
              </a:tr>
              <a:tr h="447921">
                <a:tc>
                  <a:txBody>
                    <a:bodyPr/>
                    <a:lstStyle/>
                    <a:p>
                      <a:pPr algn="r"/>
                      <a:r>
                        <a:rPr lang="kk-KZ" sz="2400"/>
                        <a:t>2 символа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Ан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802245"/>
                  </a:ext>
                </a:extLst>
              </a:tr>
              <a:tr h="447921">
                <a:tc>
                  <a:txBody>
                    <a:bodyPr/>
                    <a:lstStyle/>
                    <a:p>
                      <a:pPr algn="r"/>
                      <a:r>
                        <a:rPr lang="kk-KZ" sz="2400"/>
                        <a:t>50 символов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строка из 50 символов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Принято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495597"/>
                  </a:ext>
                </a:extLst>
              </a:tr>
              <a:tr h="447921">
                <a:tc>
                  <a:txBody>
                    <a:bodyPr/>
                    <a:lstStyle/>
                    <a:p>
                      <a:pPr algn="r"/>
                      <a:r>
                        <a:rPr lang="kk-KZ" sz="2400"/>
                        <a:t>51 символ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строка из 51 символа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Ошибка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90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93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05" y="1625908"/>
            <a:ext cx="114687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/>
              <a:t>7. Данные разных типов</a:t>
            </a:r>
          </a:p>
          <a:p>
            <a:r>
              <a:rPr lang="ru-RU" sz="2400" dirty="0"/>
              <a:t>Проверяется, как система обрабатывает неправильный тип данных.</a:t>
            </a:r>
          </a:p>
          <a:p>
            <a:r>
              <a:rPr lang="ru-RU" sz="2400" dirty="0"/>
              <a:t>Примеры: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AC87FE38-9CAF-44CB-ADEA-1AFA1ED1A8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761924"/>
              </p:ext>
            </p:extLst>
          </p:nvPr>
        </p:nvGraphicFramePr>
        <p:xfrm>
          <a:off x="2234046" y="2951471"/>
          <a:ext cx="7723908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74636">
                  <a:extLst>
                    <a:ext uri="{9D8B030D-6E8A-4147-A177-3AD203B41FA5}">
                      <a16:colId xmlns:a16="http://schemas.microsoft.com/office/drawing/2014/main" val="2355520611"/>
                    </a:ext>
                  </a:extLst>
                </a:gridCol>
                <a:gridCol w="2574636">
                  <a:extLst>
                    <a:ext uri="{9D8B030D-6E8A-4147-A177-3AD203B41FA5}">
                      <a16:colId xmlns:a16="http://schemas.microsoft.com/office/drawing/2014/main" val="1477267381"/>
                    </a:ext>
                  </a:extLst>
                </a:gridCol>
                <a:gridCol w="2574636">
                  <a:extLst>
                    <a:ext uri="{9D8B030D-6E8A-4147-A177-3AD203B41FA5}">
                      <a16:colId xmlns:a16="http://schemas.microsoft.com/office/drawing/2014/main" val="21933627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Поле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Ожидаемый 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Неверный тип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4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Возраст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Число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abc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848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текст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09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12345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725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Целое число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1.5, abc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753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Цена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Число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176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838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33" y="1823304"/>
            <a:ext cx="627195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600" b="1" dirty="0"/>
              <a:t>8. Реальные и синтетические данные</a:t>
            </a:r>
            <a:endParaRPr lang="ru-KZ" sz="2600" b="1" dirty="0"/>
          </a:p>
          <a:p>
            <a:r>
              <a:rPr lang="ru-RU" sz="2600" b="1" dirty="0"/>
              <a:t>Реальные данные</a:t>
            </a:r>
            <a:r>
              <a:rPr lang="ru-RU" sz="2600" dirty="0"/>
              <a:t> — это данные, взятые из настоящей системы или похожие на настоящие.</a:t>
            </a:r>
          </a:p>
          <a:p>
            <a:r>
              <a:rPr lang="ru-RU" sz="2600" dirty="0"/>
              <a:t>Пример: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реальные форматы </a:t>
            </a:r>
            <a:r>
              <a:rPr lang="ru-RU" sz="2600" dirty="0" err="1"/>
              <a:t>email</a:t>
            </a:r>
            <a:r>
              <a:rPr lang="ru-RU" sz="2600" dirty="0"/>
              <a:t>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реальные города;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реальные типы заказов;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/>
              <a:t>реальные роли пользователей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357DCB-DF77-4989-AAF3-3DAC1DAF7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184" y="1961803"/>
            <a:ext cx="4570615" cy="42151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приближены к реальной эксплуатации; </a:t>
            </a:r>
          </a:p>
          <a:p>
            <a:r>
              <a:rPr lang="ru-RU" dirty="0"/>
              <a:t>помогают найти реальные проблемы. </a:t>
            </a:r>
          </a:p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могут содержать персональные данные; </a:t>
            </a:r>
          </a:p>
          <a:p>
            <a:r>
              <a:rPr lang="ru-RU" dirty="0"/>
              <a:t>требуют обезличивания; </a:t>
            </a:r>
          </a:p>
          <a:p>
            <a:r>
              <a:rPr lang="ru-RU" dirty="0"/>
              <a:t>могут нарушать безопасность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056997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33A-15CC-4B90-938D-9649B7F9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Классификация тестовых данных</a:t>
            </a:r>
            <a:endParaRPr lang="ru-K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FA376-80B7-40D5-99A3-F8F24E806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33" y="1484750"/>
            <a:ext cx="6271951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600" b="1" dirty="0"/>
              <a:t>8. Реальные и синтетические данные</a:t>
            </a:r>
            <a:endParaRPr lang="ru-KZ" sz="2600" b="1" dirty="0"/>
          </a:p>
          <a:p>
            <a:r>
              <a:rPr lang="ru-RU" sz="2800" b="1" dirty="0"/>
              <a:t>Синтетические данные</a:t>
            </a:r>
            <a:r>
              <a:rPr lang="ru-RU" sz="2800" dirty="0"/>
              <a:t> — это искусственно созданные данные для тестирования.</a:t>
            </a:r>
          </a:p>
          <a:p>
            <a:r>
              <a:rPr lang="ru-RU" sz="2800" dirty="0"/>
              <a:t>Пример: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testuser1@test.com;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Test12345;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User_001;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тестовая банковская карта;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тестовые API-ответы.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357DCB-DF77-4989-AAF3-3DAC1DAF7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184" y="1961803"/>
            <a:ext cx="4570615" cy="42151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безопасны; </a:t>
            </a:r>
          </a:p>
          <a:p>
            <a:r>
              <a:rPr lang="ru-RU" dirty="0"/>
              <a:t>легко контролируются; </a:t>
            </a:r>
          </a:p>
          <a:p>
            <a:r>
              <a:rPr lang="ru-RU" dirty="0"/>
              <a:t>можно быстро создать нужные комбинации. </a:t>
            </a:r>
          </a:p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не всегда отражают реальные пользовательские сценарии.</a:t>
            </a:r>
          </a:p>
        </p:txBody>
      </p:sp>
    </p:spTree>
    <p:extLst>
      <p:ext uri="{BB962C8B-B14F-4D97-AF65-F5344CB8AC3E}">
        <p14:creationId xmlns:p14="http://schemas.microsoft.com/office/powerpoint/2010/main" val="3123420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A468E28-3B8C-4BE9-BDAE-E3373300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24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подготовке тестовых данных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4307BBA-49FD-43F1-8C3D-20DCD83E2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051" y="947651"/>
            <a:ext cx="5681749" cy="560277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1. Подготовка на основе требований</a:t>
            </a:r>
          </a:p>
          <a:p>
            <a:pPr marL="0" indent="0">
              <a:buNone/>
            </a:pPr>
            <a:r>
              <a:rPr lang="ru-RU" dirty="0"/>
              <a:t>Это основной подход.</a:t>
            </a:r>
          </a:p>
          <a:p>
            <a:pPr marL="0" indent="0">
              <a:buNone/>
            </a:pPr>
            <a:r>
              <a:rPr lang="ru-RU" dirty="0"/>
              <a:t>Алгоритм:</a:t>
            </a:r>
          </a:p>
          <a:p>
            <a:r>
              <a:rPr lang="ru-RU" dirty="0"/>
              <a:t>изучить требования; </a:t>
            </a:r>
          </a:p>
          <a:p>
            <a:r>
              <a:rPr lang="ru-RU" dirty="0"/>
              <a:t>выделить поля, функции и ограничения; </a:t>
            </a:r>
          </a:p>
          <a:p>
            <a:r>
              <a:rPr lang="ru-RU" dirty="0"/>
              <a:t>определить допустимые значения; </a:t>
            </a:r>
          </a:p>
          <a:p>
            <a:r>
              <a:rPr lang="ru-RU" dirty="0"/>
              <a:t>определить недопустимые значения; </a:t>
            </a:r>
          </a:p>
          <a:p>
            <a:r>
              <a:rPr lang="ru-RU" dirty="0"/>
              <a:t>определить граничные значения; </a:t>
            </a:r>
          </a:p>
          <a:p>
            <a:r>
              <a:rPr lang="ru-RU" dirty="0"/>
              <a:t>определить специальные случаи; </a:t>
            </a:r>
          </a:p>
          <a:p>
            <a:r>
              <a:rPr lang="ru-RU" dirty="0"/>
              <a:t>подготовить таблицу тестовых данных; </a:t>
            </a:r>
          </a:p>
          <a:p>
            <a:r>
              <a:rPr lang="ru-RU" dirty="0"/>
              <a:t>связать данные с тест-кейсами. 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b="1" dirty="0"/>
              <a:t>Требование:</a:t>
            </a:r>
            <a:r>
              <a:rPr lang="ru-RU" dirty="0"/>
              <a:t> поле «Количество товара» принимает значения от 1 до 99.</a:t>
            </a:r>
          </a:p>
          <a:p>
            <a:pPr marL="0" indent="0">
              <a:buNone/>
            </a:pPr>
            <a:endParaRPr lang="ru-KZ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7859AB5-5721-48BA-BF70-56A2539A84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69231409"/>
              </p:ext>
            </p:extLst>
          </p:nvPr>
        </p:nvGraphicFramePr>
        <p:xfrm>
          <a:off x="6172285" y="1859776"/>
          <a:ext cx="5681664" cy="31384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05708">
                  <a:extLst>
                    <a:ext uri="{9D8B030D-6E8A-4147-A177-3AD203B41FA5}">
                      <a16:colId xmlns:a16="http://schemas.microsoft.com/office/drawing/2014/main" val="3830758288"/>
                    </a:ext>
                  </a:extLst>
                </a:gridCol>
                <a:gridCol w="1082068">
                  <a:extLst>
                    <a:ext uri="{9D8B030D-6E8A-4147-A177-3AD203B41FA5}">
                      <a16:colId xmlns:a16="http://schemas.microsoft.com/office/drawing/2014/main" val="3947278536"/>
                    </a:ext>
                  </a:extLst>
                </a:gridCol>
                <a:gridCol w="1893888">
                  <a:extLst>
                    <a:ext uri="{9D8B030D-6E8A-4147-A177-3AD203B41FA5}">
                      <a16:colId xmlns:a16="http://schemas.microsoft.com/office/drawing/2014/main" val="1680533995"/>
                    </a:ext>
                  </a:extLst>
                </a:gridCol>
              </a:tblGrid>
              <a:tr h="197623">
                <a:tc>
                  <a:txBody>
                    <a:bodyPr/>
                    <a:lstStyle/>
                    <a:p>
                      <a:r>
                        <a:rPr lang="kk-KZ" sz="2000" b="1" dirty="0"/>
                        <a:t>Тип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kk-KZ" sz="2000" b="1" dirty="0"/>
                        <a:t>Данные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marL="49406" marR="49406" marT="24703" marB="24703" anchor="ctr"/>
                </a:tc>
                <a:extLst>
                  <a:ext uri="{0D108BD9-81ED-4DB2-BD59-A6C34878D82A}">
                    <a16:rowId xmlns:a16="http://schemas.microsoft.com/office/drawing/2014/main" val="3591743310"/>
                  </a:ext>
                </a:extLst>
              </a:tr>
              <a:tr h="197623">
                <a:tc>
                  <a:txBody>
                    <a:bodyPr/>
                    <a:lstStyle/>
                    <a:p>
                      <a:r>
                        <a:rPr lang="kk-KZ" sz="2000"/>
                        <a:t>Ниже границы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 dirty="0"/>
                        <a:t>0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</a:t>
                      </a:r>
                    </a:p>
                  </a:txBody>
                  <a:tcPr marL="49406" marR="49406" marT="24703" marB="24703" anchor="ctr"/>
                </a:tc>
                <a:extLst>
                  <a:ext uri="{0D108BD9-81ED-4DB2-BD59-A6C34878D82A}">
                    <a16:rowId xmlns:a16="http://schemas.microsoft.com/office/drawing/2014/main" val="532005555"/>
                  </a:ext>
                </a:extLst>
              </a:tr>
              <a:tr h="197623">
                <a:tc>
                  <a:txBody>
                    <a:bodyPr/>
                    <a:lstStyle/>
                    <a:p>
                      <a:r>
                        <a:rPr lang="kk-KZ" sz="2000"/>
                        <a:t>Нижняя граница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9406" marR="49406" marT="24703" marB="24703" anchor="ctr"/>
                </a:tc>
                <a:extLst>
                  <a:ext uri="{0D108BD9-81ED-4DB2-BD59-A6C34878D82A}">
                    <a16:rowId xmlns:a16="http://schemas.microsoft.com/office/drawing/2014/main" val="3941860983"/>
                  </a:ext>
                </a:extLst>
              </a:tr>
              <a:tr h="197623">
                <a:tc>
                  <a:txBody>
                    <a:bodyPr/>
                    <a:lstStyle/>
                    <a:p>
                      <a:r>
                        <a:rPr lang="kk-KZ" sz="2000"/>
                        <a:t>Внутри диапазона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 dirty="0"/>
                        <a:t>50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9406" marR="49406" marT="24703" marB="24703" anchor="ctr"/>
                </a:tc>
                <a:extLst>
                  <a:ext uri="{0D108BD9-81ED-4DB2-BD59-A6C34878D82A}">
                    <a16:rowId xmlns:a16="http://schemas.microsoft.com/office/drawing/2014/main" val="953745339"/>
                  </a:ext>
                </a:extLst>
              </a:tr>
              <a:tr h="197623">
                <a:tc>
                  <a:txBody>
                    <a:bodyPr/>
                    <a:lstStyle/>
                    <a:p>
                      <a:r>
                        <a:rPr lang="kk-KZ" sz="2000"/>
                        <a:t>Верхняя граница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99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9406" marR="49406" marT="24703" marB="24703" anchor="ctr"/>
                </a:tc>
                <a:extLst>
                  <a:ext uri="{0D108BD9-81ED-4DB2-BD59-A6C34878D82A}">
                    <a16:rowId xmlns:a16="http://schemas.microsoft.com/office/drawing/2014/main" val="2030985121"/>
                  </a:ext>
                </a:extLst>
              </a:tr>
              <a:tr h="197623">
                <a:tc>
                  <a:txBody>
                    <a:bodyPr/>
                    <a:lstStyle/>
                    <a:p>
                      <a:r>
                        <a:rPr lang="kk-KZ" sz="2000"/>
                        <a:t>Выше границы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100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</a:t>
                      </a:r>
                    </a:p>
                  </a:txBody>
                  <a:tcPr marL="49406" marR="49406" marT="24703" marB="24703" anchor="ctr"/>
                </a:tc>
                <a:extLst>
                  <a:ext uri="{0D108BD9-81ED-4DB2-BD59-A6C34878D82A}">
                    <a16:rowId xmlns:a16="http://schemas.microsoft.com/office/drawing/2014/main" val="760669771"/>
                  </a:ext>
                </a:extLst>
              </a:tr>
              <a:tr h="197623">
                <a:tc>
                  <a:txBody>
                    <a:bodyPr/>
                    <a:lstStyle/>
                    <a:p>
                      <a:r>
                        <a:rPr lang="kk-KZ" sz="2000"/>
                        <a:t>Неверный тип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abc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</a:t>
                      </a:r>
                    </a:p>
                  </a:txBody>
                  <a:tcPr marL="49406" marR="49406" marT="24703" marB="24703" anchor="ctr"/>
                </a:tc>
                <a:extLst>
                  <a:ext uri="{0D108BD9-81ED-4DB2-BD59-A6C34878D82A}">
                    <a16:rowId xmlns:a16="http://schemas.microsoft.com/office/drawing/2014/main" val="2716628498"/>
                  </a:ext>
                </a:extLst>
              </a:tr>
              <a:tr h="197623">
                <a:tc>
                  <a:txBody>
                    <a:bodyPr/>
                    <a:lstStyle/>
                    <a:p>
                      <a:r>
                        <a:rPr lang="kk-KZ" sz="2000"/>
                        <a:t>Пусто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""</a:t>
                      </a:r>
                    </a:p>
                  </a:txBody>
                  <a:tcPr marL="49406" marR="49406" marT="24703" marB="24703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</a:t>
                      </a:r>
                    </a:p>
                  </a:txBody>
                  <a:tcPr marL="49406" marR="49406" marT="24703" marB="24703" anchor="ctr"/>
                </a:tc>
                <a:extLst>
                  <a:ext uri="{0D108BD9-81ED-4DB2-BD59-A6C34878D82A}">
                    <a16:rowId xmlns:a16="http://schemas.microsoft.com/office/drawing/2014/main" val="1368562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328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A468E28-3B8C-4BE9-BDAE-E3373300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24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подготовке тестовых данных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4307BBA-49FD-43F1-8C3D-20DCD83E2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051" y="947651"/>
            <a:ext cx="11382894" cy="11637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2. Классы эквивалентности</a:t>
            </a:r>
            <a:r>
              <a:rPr lang="ru-KZ" sz="2000" b="1" dirty="0"/>
              <a:t> </a:t>
            </a:r>
            <a:r>
              <a:rPr lang="ru-RU" sz="2000" dirty="0"/>
              <a:t>— это метод, при котором все возможные данные делятся на группы, внутри которых система должна вести себя одинаково.</a:t>
            </a:r>
          </a:p>
          <a:p>
            <a:pPr marL="0" indent="0">
              <a:buNone/>
            </a:pPr>
            <a:r>
              <a:rPr lang="ru-RU" sz="2000" dirty="0"/>
              <a:t>Пример:</a:t>
            </a:r>
          </a:p>
          <a:p>
            <a:pPr marL="0" indent="0">
              <a:buNone/>
            </a:pPr>
            <a:r>
              <a:rPr lang="ru-RU" sz="2000" b="1" dirty="0"/>
              <a:t>Требование:</a:t>
            </a:r>
            <a:r>
              <a:rPr lang="ru-RU" sz="2000" dirty="0"/>
              <a:t> возраст от 18 до 65.</a:t>
            </a:r>
          </a:p>
          <a:p>
            <a:pPr marL="0" indent="0">
              <a:buNone/>
            </a:pPr>
            <a:r>
              <a:rPr lang="ru-RU" sz="2000" dirty="0"/>
              <a:t>Классы: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BDB02DA9-40EB-444C-BC3C-B7AAA6F676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1122648"/>
              </p:ext>
            </p:extLst>
          </p:nvPr>
        </p:nvGraphicFramePr>
        <p:xfrm>
          <a:off x="502921" y="2750004"/>
          <a:ext cx="6729153" cy="16432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3051">
                  <a:extLst>
                    <a:ext uri="{9D8B030D-6E8A-4147-A177-3AD203B41FA5}">
                      <a16:colId xmlns:a16="http://schemas.microsoft.com/office/drawing/2014/main" val="1589529839"/>
                    </a:ext>
                  </a:extLst>
                </a:gridCol>
                <a:gridCol w="2243051">
                  <a:extLst>
                    <a:ext uri="{9D8B030D-6E8A-4147-A177-3AD203B41FA5}">
                      <a16:colId xmlns:a16="http://schemas.microsoft.com/office/drawing/2014/main" val="1456523856"/>
                    </a:ext>
                  </a:extLst>
                </a:gridCol>
                <a:gridCol w="2243051">
                  <a:extLst>
                    <a:ext uri="{9D8B030D-6E8A-4147-A177-3AD203B41FA5}">
                      <a16:colId xmlns:a16="http://schemas.microsoft.com/office/drawing/2014/main" val="3876853280"/>
                    </a:ext>
                  </a:extLst>
                </a:gridCol>
              </a:tblGrid>
              <a:tr h="180230">
                <a:tc>
                  <a:txBody>
                    <a:bodyPr/>
                    <a:lstStyle/>
                    <a:p>
                      <a:r>
                        <a:rPr lang="kk-KZ" sz="2400" b="1" dirty="0"/>
                        <a:t>Класс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Диапазон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514204667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400"/>
                        <a:t>Невалидный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меньше 18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17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605984984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400" dirty="0"/>
                        <a:t>Валидный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от 18 до 65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2400"/>
                        <a:t>30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324802206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400"/>
                        <a:t>Невалидный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больше 65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2400" dirty="0"/>
                        <a:t>66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912240325"/>
                  </a:ext>
                </a:extLst>
              </a:tr>
            </a:tbl>
          </a:graphicData>
        </a:graphic>
      </p:graphicFrame>
      <p:sp>
        <p:nvSpPr>
          <p:cNvPr id="9" name="Объект 4">
            <a:extLst>
              <a:ext uri="{FF2B5EF4-FFF2-40B4-BE49-F238E27FC236}">
                <a16:creationId xmlns:a16="http://schemas.microsoft.com/office/drawing/2014/main" id="{7822E490-8F1D-46ED-9D2C-F8688C17F6BF}"/>
              </a:ext>
            </a:extLst>
          </p:cNvPr>
          <p:cNvSpPr txBox="1">
            <a:spLocks/>
          </p:cNvSpPr>
          <p:nvPr/>
        </p:nvSpPr>
        <p:spPr>
          <a:xfrm>
            <a:off x="404553" y="4746567"/>
            <a:ext cx="11382894" cy="1163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Не нужно проверять все значения от 18 до 65. Достаточно взять несколько характерных значений.</a:t>
            </a:r>
          </a:p>
        </p:txBody>
      </p:sp>
    </p:spTree>
    <p:extLst>
      <p:ext uri="{BB962C8B-B14F-4D97-AF65-F5344CB8AC3E}">
        <p14:creationId xmlns:p14="http://schemas.microsoft.com/office/powerpoint/2010/main" val="696612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A468E28-3B8C-4BE9-BDAE-E3373300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24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подготовке тестовых данных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4307BBA-49FD-43F1-8C3D-20DCD83E2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051" y="947651"/>
            <a:ext cx="11382894" cy="11637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3. Анализ граничных значений</a:t>
            </a:r>
            <a:r>
              <a:rPr lang="ru-KZ" sz="2000" b="1" dirty="0"/>
              <a:t> </a:t>
            </a:r>
            <a:r>
              <a:rPr lang="ru-RU" sz="2000" dirty="0"/>
              <a:t>— это метод подбора данных около минимальных и максимальных допустимых значений.</a:t>
            </a:r>
          </a:p>
          <a:p>
            <a:pPr marL="0" indent="0">
              <a:buNone/>
            </a:pPr>
            <a:r>
              <a:rPr lang="ru-RU" sz="2000" dirty="0"/>
              <a:t>Пример:</a:t>
            </a:r>
          </a:p>
          <a:p>
            <a:pPr marL="0" indent="0">
              <a:buNone/>
            </a:pPr>
            <a:r>
              <a:rPr lang="ru-RU" sz="2000" b="1" dirty="0"/>
              <a:t>Требование:</a:t>
            </a:r>
            <a:r>
              <a:rPr lang="ru-RU" sz="2000" dirty="0"/>
              <a:t> пароль от 8 до 20 символов.</a:t>
            </a:r>
          </a:p>
          <a:p>
            <a:pPr marL="0" indent="0">
              <a:buNone/>
            </a:pPr>
            <a:r>
              <a:rPr lang="ru-RU" sz="2000" dirty="0"/>
              <a:t>Данные:</a:t>
            </a:r>
          </a:p>
        </p:txBody>
      </p:sp>
      <p:sp>
        <p:nvSpPr>
          <p:cNvPr id="9" name="Объект 4">
            <a:extLst>
              <a:ext uri="{FF2B5EF4-FFF2-40B4-BE49-F238E27FC236}">
                <a16:creationId xmlns:a16="http://schemas.microsoft.com/office/drawing/2014/main" id="{7822E490-8F1D-46ED-9D2C-F8688C17F6BF}"/>
              </a:ext>
            </a:extLst>
          </p:cNvPr>
          <p:cNvSpPr txBox="1">
            <a:spLocks/>
          </p:cNvSpPr>
          <p:nvPr/>
        </p:nvSpPr>
        <p:spPr>
          <a:xfrm>
            <a:off x="6095999" y="3114147"/>
            <a:ext cx="5691447" cy="2796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Этот метод помогает находить ошибки в условиях:</a:t>
            </a:r>
          </a:p>
          <a:p>
            <a:r>
              <a:rPr lang="ru-RU" sz="2000" dirty="0"/>
              <a:t>&lt; вместо &lt;=; </a:t>
            </a:r>
          </a:p>
          <a:p>
            <a:r>
              <a:rPr lang="ru-RU" sz="2000" dirty="0"/>
              <a:t>&gt; вместо &gt;=; </a:t>
            </a:r>
          </a:p>
          <a:p>
            <a:r>
              <a:rPr lang="ru-RU" sz="2000" dirty="0"/>
              <a:t>неправильная проверка длины; </a:t>
            </a:r>
          </a:p>
          <a:p>
            <a:r>
              <a:rPr lang="ru-RU" sz="2000" dirty="0"/>
              <a:t>неправильное округление; </a:t>
            </a:r>
          </a:p>
          <a:p>
            <a:r>
              <a:rPr lang="ru-RU" sz="2000" dirty="0"/>
              <a:t>неверная обработка минимума и максимума.</a:t>
            </a:r>
          </a:p>
          <a:p>
            <a:endParaRPr lang="ru-KZ" sz="2000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F3466E9E-77BC-488B-862A-C2CF898BC90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0629273"/>
              </p:ext>
            </p:extLst>
          </p:nvPr>
        </p:nvGraphicFramePr>
        <p:xfrm>
          <a:off x="404554" y="3114148"/>
          <a:ext cx="3757354" cy="24490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4647">
                  <a:extLst>
                    <a:ext uri="{9D8B030D-6E8A-4147-A177-3AD203B41FA5}">
                      <a16:colId xmlns:a16="http://schemas.microsoft.com/office/drawing/2014/main" val="772858388"/>
                    </a:ext>
                  </a:extLst>
                </a:gridCol>
                <a:gridCol w="2942707">
                  <a:extLst>
                    <a:ext uri="{9D8B030D-6E8A-4147-A177-3AD203B41FA5}">
                      <a16:colId xmlns:a16="http://schemas.microsoft.com/office/drawing/2014/main" val="1361736249"/>
                    </a:ext>
                  </a:extLst>
                </a:gridCol>
              </a:tblGrid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kk-KZ" sz="2000" b="1" dirty="0"/>
                        <a:t>Длина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676015463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7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007023034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8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726587607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9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940252277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19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230866862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20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25865686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21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168790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443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A468E28-3B8C-4BE9-BDAE-E3373300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24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подготовке тестовых данных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4307BBA-49FD-43F1-8C3D-20DCD83E2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051" y="947651"/>
            <a:ext cx="5681750" cy="55362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600" b="1" dirty="0"/>
              <a:t>4. Позитивные и негативные данные</a:t>
            </a:r>
          </a:p>
          <a:p>
            <a:pPr marL="0" indent="0">
              <a:buNone/>
            </a:pPr>
            <a:r>
              <a:rPr lang="ru-RU" sz="2600" b="1" dirty="0"/>
              <a:t>Позитивные данные</a:t>
            </a:r>
          </a:p>
          <a:p>
            <a:pPr marL="0" indent="0">
              <a:buNone/>
            </a:pPr>
            <a:r>
              <a:rPr lang="ru-RU" sz="2600" dirty="0"/>
              <a:t>Используются для проверки корректной работы системы.</a:t>
            </a:r>
          </a:p>
          <a:p>
            <a:pPr marL="0" indent="0">
              <a:buNone/>
            </a:pPr>
            <a:r>
              <a:rPr lang="ru-RU" sz="2600" dirty="0"/>
              <a:t>Пример:</a:t>
            </a:r>
          </a:p>
          <a:p>
            <a:r>
              <a:rPr lang="ru-RU" sz="2600" dirty="0"/>
              <a:t>правильный </a:t>
            </a:r>
            <a:r>
              <a:rPr lang="ru-RU" sz="2600" dirty="0" err="1"/>
              <a:t>email</a:t>
            </a:r>
            <a:r>
              <a:rPr lang="ru-RU" sz="2600" dirty="0"/>
              <a:t>; </a:t>
            </a:r>
          </a:p>
          <a:p>
            <a:r>
              <a:rPr lang="ru-RU" sz="2600" dirty="0"/>
              <a:t>правильный пароль; </a:t>
            </a:r>
          </a:p>
          <a:p>
            <a:r>
              <a:rPr lang="ru-RU" sz="2600" dirty="0"/>
              <a:t>допустимый возраст; </a:t>
            </a:r>
          </a:p>
          <a:p>
            <a:r>
              <a:rPr lang="ru-RU" sz="2600" dirty="0"/>
              <a:t>существующий товар; </a:t>
            </a:r>
          </a:p>
          <a:p>
            <a:r>
              <a:rPr lang="ru-RU" sz="2600" dirty="0"/>
              <a:t>валидный API-запрос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74C953-65E8-43D5-8969-04635174D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49024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Негативные данные</a:t>
            </a:r>
          </a:p>
          <a:p>
            <a:pPr marL="0" indent="0">
              <a:buNone/>
            </a:pPr>
            <a:r>
              <a:rPr lang="ru-RU" dirty="0"/>
              <a:t>Используются для проверки ошибок и защиты системы.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r>
              <a:rPr lang="ru-RU" dirty="0"/>
              <a:t>пустой </a:t>
            </a:r>
            <a:r>
              <a:rPr lang="ru-RU" dirty="0" err="1"/>
              <a:t>email</a:t>
            </a:r>
            <a:r>
              <a:rPr lang="ru-RU" dirty="0"/>
              <a:t>; </a:t>
            </a:r>
          </a:p>
          <a:p>
            <a:r>
              <a:rPr lang="ru-RU" dirty="0"/>
              <a:t>неверный пароль; </a:t>
            </a:r>
          </a:p>
          <a:p>
            <a:r>
              <a:rPr lang="ru-RU" dirty="0"/>
              <a:t>отрицательная цена; </a:t>
            </a:r>
          </a:p>
          <a:p>
            <a:r>
              <a:rPr lang="ru-RU" dirty="0"/>
              <a:t>несуществующий ID; </a:t>
            </a:r>
          </a:p>
          <a:p>
            <a:r>
              <a:rPr lang="ru-RU" dirty="0" err="1"/>
              <a:t>невалидный</a:t>
            </a:r>
            <a:r>
              <a:rPr lang="ru-RU" dirty="0"/>
              <a:t> JSON; </a:t>
            </a:r>
          </a:p>
          <a:p>
            <a:r>
              <a:rPr lang="ru-RU" dirty="0"/>
              <a:t>неправильный токен авторизации</a:t>
            </a:r>
          </a:p>
        </p:txBody>
      </p:sp>
    </p:spTree>
    <p:extLst>
      <p:ext uri="{BB962C8B-B14F-4D97-AF65-F5344CB8AC3E}">
        <p14:creationId xmlns:p14="http://schemas.microsoft.com/office/powerpoint/2010/main" val="3958760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A468E28-3B8C-4BE9-BDAE-E3373300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24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подготовке тестовых данных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4307BBA-49FD-43F1-8C3D-20DCD83E2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051" y="947651"/>
            <a:ext cx="11382894" cy="11637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5. Комбинирование данных</a:t>
            </a:r>
          </a:p>
          <a:p>
            <a:pPr marL="0" indent="0">
              <a:buNone/>
            </a:pPr>
            <a:r>
              <a:rPr lang="ru-RU" sz="2000" dirty="0"/>
              <a:t>Иногда ошибка появляется только при сочетании нескольких условий.</a:t>
            </a:r>
          </a:p>
          <a:p>
            <a:pPr marL="0" indent="0">
              <a:buNone/>
            </a:pPr>
            <a:r>
              <a:rPr lang="ru-RU" sz="2000" dirty="0"/>
              <a:t>Пример для формы заказа:</a:t>
            </a:r>
          </a:p>
        </p:txBody>
      </p:sp>
      <p:sp>
        <p:nvSpPr>
          <p:cNvPr id="9" name="Объект 4">
            <a:extLst>
              <a:ext uri="{FF2B5EF4-FFF2-40B4-BE49-F238E27FC236}">
                <a16:creationId xmlns:a16="http://schemas.microsoft.com/office/drawing/2014/main" id="{7822E490-8F1D-46ED-9D2C-F8688C17F6BF}"/>
              </a:ext>
            </a:extLst>
          </p:cNvPr>
          <p:cNvSpPr txBox="1">
            <a:spLocks/>
          </p:cNvSpPr>
          <p:nvPr/>
        </p:nvSpPr>
        <p:spPr>
          <a:xfrm>
            <a:off x="404553" y="4746567"/>
            <a:ext cx="11382894" cy="1163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Для сложных комбинаций можно использовать:</a:t>
            </a:r>
          </a:p>
          <a:p>
            <a:r>
              <a:rPr lang="ru-RU" sz="2000" dirty="0" err="1"/>
              <a:t>pairwise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; </a:t>
            </a:r>
          </a:p>
          <a:p>
            <a:r>
              <a:rPr lang="ru-RU" sz="2000" dirty="0"/>
              <a:t>таблицы решений; </a:t>
            </a:r>
          </a:p>
          <a:p>
            <a:r>
              <a:rPr lang="ru-RU" sz="2000" dirty="0"/>
              <a:t>таблицы переходов состояний. 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0BDF3F58-4AED-4A25-AEC2-C2893FBF0FB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4944043"/>
              </p:ext>
            </p:extLst>
          </p:nvPr>
        </p:nvGraphicFramePr>
        <p:xfrm>
          <a:off x="404553" y="2261062"/>
          <a:ext cx="10949248" cy="21957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37312">
                  <a:extLst>
                    <a:ext uri="{9D8B030D-6E8A-4147-A177-3AD203B41FA5}">
                      <a16:colId xmlns:a16="http://schemas.microsoft.com/office/drawing/2014/main" val="2136367895"/>
                    </a:ext>
                  </a:extLst>
                </a:gridCol>
                <a:gridCol w="2737312">
                  <a:extLst>
                    <a:ext uri="{9D8B030D-6E8A-4147-A177-3AD203B41FA5}">
                      <a16:colId xmlns:a16="http://schemas.microsoft.com/office/drawing/2014/main" val="626696585"/>
                    </a:ext>
                  </a:extLst>
                </a:gridCol>
                <a:gridCol w="2737312">
                  <a:extLst>
                    <a:ext uri="{9D8B030D-6E8A-4147-A177-3AD203B41FA5}">
                      <a16:colId xmlns:a16="http://schemas.microsoft.com/office/drawing/2014/main" val="1954222803"/>
                    </a:ext>
                  </a:extLst>
                </a:gridCol>
                <a:gridCol w="2737312">
                  <a:extLst>
                    <a:ext uri="{9D8B030D-6E8A-4147-A177-3AD203B41FA5}">
                      <a16:colId xmlns:a16="http://schemas.microsoft.com/office/drawing/2014/main" val="4224865785"/>
                    </a:ext>
                  </a:extLst>
                </a:gridCol>
              </a:tblGrid>
              <a:tr h="439155">
                <a:tc>
                  <a:txBody>
                    <a:bodyPr/>
                    <a:lstStyle/>
                    <a:p>
                      <a:r>
                        <a:rPr lang="kk-KZ" sz="2000" b="1" dirty="0"/>
                        <a:t>Условие 1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Условие 2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Условие 3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326562082"/>
                  </a:ext>
                </a:extLst>
              </a:tr>
              <a:tr h="439155">
                <a:tc>
                  <a:txBody>
                    <a:bodyPr/>
                    <a:lstStyle/>
                    <a:p>
                      <a:r>
                        <a:rPr lang="kk-KZ" sz="2000"/>
                        <a:t>Товар есть в наличии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Доставка доступна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Оплата успешна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Заказ создан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145714322"/>
                  </a:ext>
                </a:extLst>
              </a:tr>
              <a:tr h="439155">
                <a:tc>
                  <a:txBody>
                    <a:bodyPr/>
                    <a:lstStyle/>
                    <a:p>
                      <a:r>
                        <a:rPr lang="kk-KZ" sz="2000" dirty="0"/>
                        <a:t>Товара нет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Доставка доступна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Оплата успешна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 наличия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497612423"/>
                  </a:ext>
                </a:extLst>
              </a:tr>
              <a:tr h="439155">
                <a:tc>
                  <a:txBody>
                    <a:bodyPr/>
                    <a:lstStyle/>
                    <a:p>
                      <a:r>
                        <a:rPr lang="kk-KZ" sz="2000"/>
                        <a:t>Товар есть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Доставка недоступна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Оплата успешна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 доставки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775440011"/>
                  </a:ext>
                </a:extLst>
              </a:tr>
              <a:tr h="439155">
                <a:tc>
                  <a:txBody>
                    <a:bodyPr/>
                    <a:lstStyle/>
                    <a:p>
                      <a:r>
                        <a:rPr lang="kk-KZ" sz="2000"/>
                        <a:t>Товар есть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Доставка доступна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Оплата неуспешна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 оплаты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541861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219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6EEF5-B745-4A8F-8CB3-74FB4DD0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Этапы подготовки тестовых данных</a:t>
            </a:r>
            <a:endParaRPr lang="ru-KZ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3FE466C-EE5A-41FA-AC8D-B9F0BD89BC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1432" y="1690688"/>
            <a:ext cx="5000060" cy="2931690"/>
          </a:xfrm>
          <a:prstGeom prst="rect">
            <a:avLst/>
          </a:prstGeom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25F56647-A912-4AC9-9A5A-6F852DFB65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51492" y="1690688"/>
            <a:ext cx="6564824" cy="334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43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6EEF5-B745-4A8F-8CB3-74FB4DD0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Этапы подготовки тестовых данных</a:t>
            </a:r>
            <a:endParaRPr lang="ru-KZ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24634E19-726B-4DB6-B7BC-AD2CE0A462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2261" y="1437891"/>
            <a:ext cx="3894695" cy="3982217"/>
          </a:xfrm>
          <a:prstGeom prst="rect">
            <a:avLst/>
          </a:prstGeo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8C76B6B2-CE63-4005-B2DA-456577BAAA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06401" y="1437891"/>
            <a:ext cx="6447399" cy="446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19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6EEF5-B745-4A8F-8CB3-74FB4DD0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Этапы подготовки тестовых данных</a:t>
            </a:r>
            <a:endParaRPr lang="ru-KZ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2848464-A9CA-494F-BBF4-4D119C4B9E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2601" y="1615708"/>
            <a:ext cx="3664360" cy="2984377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073117EB-1AED-40E4-BB89-C51CD0A5B3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30322" y="1615708"/>
            <a:ext cx="8059077" cy="36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01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6EEF5-B745-4A8F-8CB3-74FB4DD0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Этапы подготовки тестовых данных</a:t>
            </a:r>
            <a:endParaRPr lang="ru-KZ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702913F-D196-4F90-AB12-034040578D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8684" y="1539076"/>
            <a:ext cx="8099883" cy="3282306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71AAE168-3A78-4CED-9253-8DD8F34E9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45484" y="1396538"/>
            <a:ext cx="3489959" cy="5096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Этап 8. Проверить актуальность данных</a:t>
            </a:r>
          </a:p>
          <a:p>
            <a:pPr marL="0" indent="0">
              <a:buNone/>
            </a:pPr>
            <a:r>
              <a:rPr lang="ru-RU" sz="1800" dirty="0"/>
              <a:t>Перед выполнением тестов нужно убедиться:</a:t>
            </a:r>
          </a:p>
          <a:p>
            <a:r>
              <a:rPr lang="ru-RU" sz="1800" dirty="0"/>
              <a:t>тестовый пользователь существует или не существует — в зависимости от сценария; </a:t>
            </a:r>
          </a:p>
          <a:p>
            <a:r>
              <a:rPr lang="ru-RU" sz="1800" dirty="0"/>
              <a:t>данные не устарели; </a:t>
            </a:r>
          </a:p>
          <a:p>
            <a:r>
              <a:rPr lang="ru-RU" sz="1800" dirty="0"/>
              <a:t>аккаунт не заблокирован; </a:t>
            </a:r>
          </a:p>
          <a:p>
            <a:r>
              <a:rPr lang="ru-RU" sz="1800" dirty="0"/>
              <a:t>токен авторизации действителен; </a:t>
            </a:r>
          </a:p>
          <a:p>
            <a:r>
              <a:rPr lang="ru-RU" sz="1800" dirty="0"/>
              <a:t>тестовая база доступна; </a:t>
            </a:r>
          </a:p>
          <a:p>
            <a:r>
              <a:rPr lang="ru-RU" sz="1800" dirty="0"/>
              <a:t>данные не были изменены другими тестами.</a:t>
            </a:r>
          </a:p>
          <a:p>
            <a:endParaRPr lang="ru-KZ" sz="1800" dirty="0"/>
          </a:p>
        </p:txBody>
      </p:sp>
    </p:spTree>
    <p:extLst>
      <p:ext uri="{BB962C8B-B14F-4D97-AF65-F5344CB8AC3E}">
        <p14:creationId xmlns:p14="http://schemas.microsoft.com/office/powerpoint/2010/main" val="1421709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6EEF5-B745-4A8F-8CB3-74FB4DD0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57" y="206865"/>
            <a:ext cx="11878886" cy="474779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Пример подготовки тестовых данных для формы регистрации</a:t>
            </a:r>
            <a:endParaRPr lang="ru-KZ" sz="32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D7C80D-39D7-4BD9-9669-FC261E1C5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557" y="877974"/>
            <a:ext cx="2852650" cy="598002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Требования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Имя обязательно.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Имя должно быть от 2 до 50 символов.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err="1"/>
              <a:t>Email</a:t>
            </a:r>
            <a:r>
              <a:rPr lang="ru-RU" sz="2000" dirty="0"/>
              <a:t> обязателен.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err="1"/>
              <a:t>Email</a:t>
            </a:r>
            <a:r>
              <a:rPr lang="ru-RU" sz="2000" dirty="0"/>
              <a:t> должен быть уникальным.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err="1"/>
              <a:t>Email</a:t>
            </a:r>
            <a:r>
              <a:rPr lang="ru-RU" sz="2000" dirty="0"/>
              <a:t> должен быть в корректном формате.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Пароль должен быть от 8 до 20 символов.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Пароль должен содержать букву и цифру.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Подтверждение пароля должно совпадать с паролем.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9A15717D-54BE-42CA-8AE5-BD31A2419CF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15547682"/>
              </p:ext>
            </p:extLst>
          </p:nvPr>
        </p:nvGraphicFramePr>
        <p:xfrm>
          <a:off x="3341716" y="877974"/>
          <a:ext cx="8312731" cy="5706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14895">
                  <a:extLst>
                    <a:ext uri="{9D8B030D-6E8A-4147-A177-3AD203B41FA5}">
                      <a16:colId xmlns:a16="http://schemas.microsoft.com/office/drawing/2014/main" val="4130030572"/>
                    </a:ext>
                  </a:extLst>
                </a:gridCol>
                <a:gridCol w="1660171">
                  <a:extLst>
                    <a:ext uri="{9D8B030D-6E8A-4147-A177-3AD203B41FA5}">
                      <a16:colId xmlns:a16="http://schemas.microsoft.com/office/drawing/2014/main" val="3863043418"/>
                    </a:ext>
                  </a:extLst>
                </a:gridCol>
                <a:gridCol w="966651">
                  <a:extLst>
                    <a:ext uri="{9D8B030D-6E8A-4147-A177-3AD203B41FA5}">
                      <a16:colId xmlns:a16="http://schemas.microsoft.com/office/drawing/2014/main" val="717527340"/>
                    </a:ext>
                  </a:extLst>
                </a:gridCol>
                <a:gridCol w="1408415">
                  <a:extLst>
                    <a:ext uri="{9D8B030D-6E8A-4147-A177-3AD203B41FA5}">
                      <a16:colId xmlns:a16="http://schemas.microsoft.com/office/drawing/2014/main" val="3477919404"/>
                    </a:ext>
                  </a:extLst>
                </a:gridCol>
                <a:gridCol w="935774">
                  <a:extLst>
                    <a:ext uri="{9D8B030D-6E8A-4147-A177-3AD203B41FA5}">
                      <a16:colId xmlns:a16="http://schemas.microsoft.com/office/drawing/2014/main" val="2794091739"/>
                    </a:ext>
                  </a:extLst>
                </a:gridCol>
                <a:gridCol w="1014153">
                  <a:extLst>
                    <a:ext uri="{9D8B030D-6E8A-4147-A177-3AD203B41FA5}">
                      <a16:colId xmlns:a16="http://schemas.microsoft.com/office/drawing/2014/main" val="504839057"/>
                    </a:ext>
                  </a:extLst>
                </a:gridCol>
                <a:gridCol w="1612672">
                  <a:extLst>
                    <a:ext uri="{9D8B030D-6E8A-4147-A177-3AD203B41FA5}">
                      <a16:colId xmlns:a16="http://schemas.microsoft.com/office/drawing/2014/main" val="3307633808"/>
                    </a:ext>
                  </a:extLst>
                </a:gridCol>
              </a:tblGrid>
              <a:tr h="325653">
                <a:tc>
                  <a:txBody>
                    <a:bodyPr/>
                    <a:lstStyle/>
                    <a:p>
                      <a:r>
                        <a:rPr lang="en-US" sz="1400" b="1" dirty="0"/>
                        <a:t>ID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 b="1" dirty="0"/>
                        <a:t>Проверка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 b="1" dirty="0"/>
                        <a:t>Имя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Email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 b="1" dirty="0"/>
                        <a:t>Пароль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 b="1" dirty="0"/>
                        <a:t>Подтверждение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 b="1" dirty="0"/>
                        <a:t>Ожидаемый результат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437861316"/>
                  </a:ext>
                </a:extLst>
              </a:tr>
              <a:tr h="325653">
                <a:tc>
                  <a:txBody>
                    <a:bodyPr/>
                    <a:lstStyle/>
                    <a:p>
                      <a:r>
                        <a:rPr lang="en-US" sz="1400"/>
                        <a:t>TD-001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Успешная регистрация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Регистрация успешна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2681875826"/>
                  </a:ext>
                </a:extLst>
              </a:tr>
              <a:tr h="325653">
                <a:tc>
                  <a:txBody>
                    <a:bodyPr/>
                    <a:lstStyle/>
                    <a:p>
                      <a:r>
                        <a:rPr lang="en-US" sz="1400"/>
                        <a:t>TD-002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Пустое имя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ru-KZ" sz="1400"/>
                        <a:t>""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ivan2@test.com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Ошибка имени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3865371219"/>
                  </a:ext>
                </a:extLst>
              </a:tr>
              <a:tr h="465217">
                <a:tc>
                  <a:txBody>
                    <a:bodyPr/>
                    <a:lstStyle/>
                    <a:p>
                      <a:r>
                        <a:rPr lang="en-US" sz="1400"/>
                        <a:t>TD-003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Имя 1 символ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А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ivan3@test.com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Ошибка длины имени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2647945742"/>
                  </a:ext>
                </a:extLst>
              </a:tr>
              <a:tr h="325653">
                <a:tc>
                  <a:txBody>
                    <a:bodyPr/>
                    <a:lstStyle/>
                    <a:p>
                      <a:r>
                        <a:rPr lang="en-US" sz="1400"/>
                        <a:t>TD-004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Имя 2 символа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ivan4@test.com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Принято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4218792097"/>
                  </a:ext>
                </a:extLst>
              </a:tr>
              <a:tr h="325653">
                <a:tc>
                  <a:txBody>
                    <a:bodyPr/>
                    <a:lstStyle/>
                    <a:p>
                      <a:r>
                        <a:rPr lang="en-US" sz="1400"/>
                        <a:t>TD-005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Пустой </a:t>
                      </a:r>
                      <a:r>
                        <a:rPr lang="en-US" sz="1400"/>
                        <a:t>email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ru-KZ" sz="1400"/>
                        <a:t>""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Ошибка </a:t>
                      </a:r>
                      <a:r>
                        <a:rPr lang="en-US" sz="1400"/>
                        <a:t>email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450737187"/>
                  </a:ext>
                </a:extLst>
              </a:tr>
              <a:tr h="465217">
                <a:tc>
                  <a:txBody>
                    <a:bodyPr/>
                    <a:lstStyle/>
                    <a:p>
                      <a:r>
                        <a:rPr lang="en-US" sz="1400"/>
                        <a:t>TD-006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Невалидный </a:t>
                      </a:r>
                      <a:r>
                        <a:rPr lang="en-US" sz="1400"/>
                        <a:t>email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Ошибка формата </a:t>
                      </a:r>
                      <a:r>
                        <a:rPr lang="en-US" sz="1400"/>
                        <a:t>email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3918605731"/>
                  </a:ext>
                </a:extLst>
              </a:tr>
              <a:tr h="465217">
                <a:tc>
                  <a:txBody>
                    <a:bodyPr/>
                    <a:lstStyle/>
                    <a:p>
                      <a:r>
                        <a:rPr lang="en-US" sz="1400"/>
                        <a:t>TD-007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Уже существующий </a:t>
                      </a:r>
                      <a:r>
                        <a:rPr lang="en-US" sz="1400"/>
                        <a:t>email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used@test.com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Ошибка уникальности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3762791569"/>
                  </a:ext>
                </a:extLst>
              </a:tr>
              <a:tr h="465217">
                <a:tc>
                  <a:txBody>
                    <a:bodyPr/>
                    <a:lstStyle/>
                    <a:p>
                      <a:r>
                        <a:rPr lang="en-US" sz="1400"/>
                        <a:t>TD-008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Пароль 7 символов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ivan8@test.com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Ошибка длины пароля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944734440"/>
                  </a:ext>
                </a:extLst>
              </a:tr>
              <a:tr h="325653">
                <a:tc>
                  <a:txBody>
                    <a:bodyPr/>
                    <a:lstStyle/>
                    <a:p>
                      <a:r>
                        <a:rPr lang="en-US" sz="1400"/>
                        <a:t>TD-009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Пароль 8 символов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ivan9@test.com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Принято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2548928451"/>
                  </a:ext>
                </a:extLst>
              </a:tr>
              <a:tr h="465217">
                <a:tc>
                  <a:txBody>
                    <a:bodyPr/>
                    <a:lstStyle/>
                    <a:p>
                      <a:r>
                        <a:rPr lang="en-US" sz="1400"/>
                        <a:t>TD-010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Пароль без цифр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ivan10@test.com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Password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Password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Ошибка состава пароля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3050036597"/>
                  </a:ext>
                </a:extLst>
              </a:tr>
              <a:tr h="465217">
                <a:tc>
                  <a:txBody>
                    <a:bodyPr/>
                    <a:lstStyle/>
                    <a:p>
                      <a:r>
                        <a:rPr lang="en-US" sz="1400"/>
                        <a:t>TD-011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Пароли не совпадают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ivan11@test.com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Pass5678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Ошибка совпадения паролей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446666182"/>
                  </a:ext>
                </a:extLst>
              </a:tr>
              <a:tr h="465217">
                <a:tc>
                  <a:txBody>
                    <a:bodyPr/>
                    <a:lstStyle/>
                    <a:p>
                      <a:r>
                        <a:rPr lang="en-US" sz="1400"/>
                        <a:t>TD-012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Спецсимволы в имени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/>
                        <a:t>Иван&lt;</a:t>
                      </a:r>
                      <a:r>
                        <a:rPr lang="en-US" sz="1400"/>
                        <a:t>script&gt;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ivan12@test.com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Pass1234</a:t>
                      </a:r>
                    </a:p>
                  </a:txBody>
                  <a:tcPr marL="38851" marR="38851" marT="19426" marB="19426" anchor="ctr"/>
                </a:tc>
                <a:tc>
                  <a:txBody>
                    <a:bodyPr/>
                    <a:lstStyle/>
                    <a:p>
                      <a:r>
                        <a:rPr lang="kk-KZ" sz="1400" dirty="0"/>
                        <a:t>Ошибка или экранирование</a:t>
                      </a:r>
                    </a:p>
                  </a:txBody>
                  <a:tcPr marL="38851" marR="38851" marT="19426" marB="19426" anchor="ctr"/>
                </a:tc>
                <a:extLst>
                  <a:ext uri="{0D108BD9-81ED-4DB2-BD59-A6C34878D82A}">
                    <a16:rowId xmlns:a16="http://schemas.microsoft.com/office/drawing/2014/main" val="45951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710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6EEF5-B745-4A8F-8CB3-74FB4DD0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57" y="206865"/>
            <a:ext cx="11878886" cy="474779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Пример подготовки тестовых данных для формы регистрации</a:t>
            </a:r>
            <a:endParaRPr lang="ru-KZ" sz="32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3E863E0-70B3-4FFB-BFBE-7A724ACB77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6555" y="1051524"/>
            <a:ext cx="5018210" cy="4774833"/>
          </a:xfrm>
          <a:prstGeom prst="rect">
            <a:avLst/>
          </a:prstGeom>
        </p:spPr>
      </p:pic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564ECD08-233B-4755-B3CF-C9B6A44F0B9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86132492"/>
              </p:ext>
            </p:extLst>
          </p:nvPr>
        </p:nvGraphicFramePr>
        <p:xfrm>
          <a:off x="5320145" y="831273"/>
          <a:ext cx="6715300" cy="57556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3977748759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011652537"/>
                    </a:ext>
                  </a:extLst>
                </a:gridCol>
                <a:gridCol w="2992582">
                  <a:extLst>
                    <a:ext uri="{9D8B030D-6E8A-4147-A177-3AD203B41FA5}">
                      <a16:colId xmlns:a16="http://schemas.microsoft.com/office/drawing/2014/main" val="3406769966"/>
                    </a:ext>
                  </a:extLst>
                </a:gridCol>
                <a:gridCol w="1162398">
                  <a:extLst>
                    <a:ext uri="{9D8B030D-6E8A-4147-A177-3AD203B41FA5}">
                      <a16:colId xmlns:a16="http://schemas.microsoft.com/office/drawing/2014/main" val="1870908814"/>
                    </a:ext>
                  </a:extLst>
                </a:gridCol>
              </a:tblGrid>
              <a:tr h="292068">
                <a:tc>
                  <a:txBody>
                    <a:bodyPr/>
                    <a:lstStyle/>
                    <a:p>
                      <a:r>
                        <a:rPr lang="en-US" sz="1800" b="1" dirty="0"/>
                        <a:t>ID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 b="1" dirty="0"/>
                        <a:t>Проверка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JSON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 b="1" dirty="0"/>
                        <a:t>Ожидаемый статус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351648793"/>
                  </a:ext>
                </a:extLst>
              </a:tr>
              <a:tr h="511913">
                <a:tc>
                  <a:txBody>
                    <a:bodyPr/>
                    <a:lstStyle/>
                    <a:p>
                      <a:r>
                        <a:rPr lang="en-US" sz="1800"/>
                        <a:t>TD-API-001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Валидный пользователь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{"name":"Ivan","email":"ivan@test.com","age":25}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1800"/>
                        <a:t>201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016069773"/>
                  </a:ext>
                </a:extLst>
              </a:tr>
              <a:tr h="511913">
                <a:tc>
                  <a:txBody>
                    <a:bodyPr/>
                    <a:lstStyle/>
                    <a:p>
                      <a:r>
                        <a:rPr lang="en-US" sz="1800"/>
                        <a:t>TD-API-002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Пустое имя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{"name":"","email":"ivan@test.com","age":25}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1800"/>
                        <a:t>400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114945332"/>
                  </a:ext>
                </a:extLst>
              </a:tr>
              <a:tr h="511913">
                <a:tc>
                  <a:txBody>
                    <a:bodyPr/>
                    <a:lstStyle/>
                    <a:p>
                      <a:r>
                        <a:rPr lang="en-US" sz="1800"/>
                        <a:t>TD-API-003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Невалидный </a:t>
                      </a:r>
                      <a:r>
                        <a:rPr lang="en-US" sz="1800"/>
                        <a:t>email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{"name":"Ivan","email":"ivantest.com","age":25}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1800"/>
                        <a:t>400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242470565"/>
                  </a:ext>
                </a:extLst>
              </a:tr>
              <a:tr h="511913">
                <a:tc>
                  <a:txBody>
                    <a:bodyPr/>
                    <a:lstStyle/>
                    <a:p>
                      <a:r>
                        <a:rPr lang="en-US" sz="1800"/>
                        <a:t>TD-API-004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Возраст 17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{"name":"Ivan","email":"ivan@test.com","age":17}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1800"/>
                        <a:t>400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678133564"/>
                  </a:ext>
                </a:extLst>
              </a:tr>
              <a:tr h="511913">
                <a:tc>
                  <a:txBody>
                    <a:bodyPr/>
                    <a:lstStyle/>
                    <a:p>
                      <a:r>
                        <a:rPr lang="en-US" sz="1800"/>
                        <a:t>TD-API-005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Возраст 18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{"name":"Ivan","email":"ivan@test.com","age":18}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1800"/>
                        <a:t>201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781639912"/>
                  </a:ext>
                </a:extLst>
              </a:tr>
              <a:tr h="511913">
                <a:tc>
                  <a:txBody>
                    <a:bodyPr/>
                    <a:lstStyle/>
                    <a:p>
                      <a:r>
                        <a:rPr lang="en-US" sz="1800"/>
                        <a:t>TD-API-006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Возраст 65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{"name":"Ivan","email":"ivan@test.com","age":65}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1800"/>
                        <a:t>201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20246237"/>
                  </a:ext>
                </a:extLst>
              </a:tr>
              <a:tr h="511913">
                <a:tc>
                  <a:txBody>
                    <a:bodyPr/>
                    <a:lstStyle/>
                    <a:p>
                      <a:r>
                        <a:rPr lang="en-US" sz="1800"/>
                        <a:t>TD-API-007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Возраст 66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{"name":"Ivan","email":"ivan@test.com","age":66}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1800"/>
                        <a:t>400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999217324"/>
                  </a:ext>
                </a:extLst>
              </a:tr>
              <a:tr h="731759">
                <a:tc>
                  <a:txBody>
                    <a:bodyPr/>
                    <a:lstStyle/>
                    <a:p>
                      <a:r>
                        <a:rPr lang="en-US" sz="1800"/>
                        <a:t>TD-API-008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1800" dirty="0"/>
                        <a:t>Возраст текстом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{"name":"Ivan","email":"ivan@test.com","age":"abc"}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ru-KZ" sz="1800" dirty="0"/>
                        <a:t>400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924706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997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5421612-F30A-4059-9549-61A0EFD6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Ошибки при работе с тестовыми данными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2FF99A3-C7CE-423D-B566-3DB3D8CA1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k-KZ" dirty="0"/>
              <a:t>Использование только позитивных данных</a:t>
            </a:r>
            <a:endParaRPr lang="ru-KZ" dirty="0"/>
          </a:p>
          <a:p>
            <a:r>
              <a:rPr lang="kk-KZ" dirty="0"/>
              <a:t>Отсутствие граничных значений</a:t>
            </a:r>
            <a:endParaRPr lang="ru-KZ" dirty="0"/>
          </a:p>
          <a:p>
            <a:r>
              <a:rPr lang="ru-RU" dirty="0"/>
              <a:t>Использование случайных данных без связи с требованиями</a:t>
            </a:r>
            <a:endParaRPr lang="ru-KZ" dirty="0"/>
          </a:p>
          <a:p>
            <a:r>
              <a:rPr lang="kk-KZ" dirty="0"/>
              <a:t>Использование реальных персональных данных</a:t>
            </a:r>
            <a:endParaRPr lang="ru-KZ" dirty="0"/>
          </a:p>
          <a:p>
            <a:r>
              <a:rPr lang="kk-KZ" dirty="0"/>
              <a:t>Неактуальные данные</a:t>
            </a:r>
            <a:endParaRPr lang="ru-KZ" dirty="0"/>
          </a:p>
          <a:p>
            <a:r>
              <a:rPr lang="ru-RU" dirty="0"/>
              <a:t>Зависимость тестов друг от друга</a:t>
            </a:r>
            <a:r>
              <a:rPr lang="ru-KZ" dirty="0"/>
              <a:t> (</a:t>
            </a:r>
            <a:r>
              <a:rPr lang="ru-RU" dirty="0"/>
              <a:t>Плохо:</a:t>
            </a:r>
            <a:r>
              <a:rPr lang="ru-KZ" dirty="0"/>
              <a:t> </a:t>
            </a:r>
            <a:r>
              <a:rPr lang="ru-RU" dirty="0"/>
              <a:t>Первый тест создает пользователя. Второй тест использует этого пользователя. Если первый тест упал, второй тоже падает. Правильно:</a:t>
            </a:r>
            <a:r>
              <a:rPr lang="ru-KZ" dirty="0"/>
              <a:t> </a:t>
            </a:r>
            <a:r>
              <a:rPr lang="ru-RU" dirty="0"/>
              <a:t>готовить данные перед каждым тестом; использовать независимые тестовые наборы; очищать данные после тестов.</a:t>
            </a:r>
          </a:p>
          <a:p>
            <a:r>
              <a:rPr lang="kk-KZ" dirty="0"/>
              <a:t>Отсутствие очистки данных</a:t>
            </a:r>
            <a:endParaRPr lang="ru-KZ" dirty="0"/>
          </a:p>
          <a:p>
            <a:r>
              <a:rPr lang="kk-KZ" dirty="0"/>
              <a:t>Недостаточная проверка негативных сценариев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652645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59C1B8-5828-4062-88B0-4B6AB4BD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проверить качество тестовых данных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EC5AC59-A81D-4C9C-B93E-1EE7F88A9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943569"/>
              </p:ext>
            </p:extLst>
          </p:nvPr>
        </p:nvGraphicFramePr>
        <p:xfrm>
          <a:off x="393469" y="1646555"/>
          <a:ext cx="11405062" cy="4846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13560">
                  <a:extLst>
                    <a:ext uri="{9D8B030D-6E8A-4147-A177-3AD203B41FA5}">
                      <a16:colId xmlns:a16="http://schemas.microsoft.com/office/drawing/2014/main" val="3653499671"/>
                    </a:ext>
                  </a:extLst>
                </a:gridCol>
                <a:gridCol w="7391502">
                  <a:extLst>
                    <a:ext uri="{9D8B030D-6E8A-4147-A177-3AD203B41FA5}">
                      <a16:colId xmlns:a16="http://schemas.microsoft.com/office/drawing/2014/main" val="2090901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b="1" dirty="0"/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Объяснение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316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Полным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Покрывает основные требования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83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Разнообразным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Включает позитивные, негативные и граничные данные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591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Актуальным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Данные существуют и соответствуют текущей версии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095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Безопасным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Не содержит реальных персональных данных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2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Повторяемым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Позволяет повторно выполнить тест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210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Понятным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Легко понять, для какой проверки используется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096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Связанным с тест-кейсами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У каждого набора данных есть назначение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09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400" dirty="0"/>
                        <a:t>Управляемым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Данные можно создать, изменить или удалить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920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076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CE3D7-CACC-4859-996E-B1584573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365126"/>
            <a:ext cx="11959244" cy="93166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</a:t>
            </a:r>
            <a:r>
              <a:rPr lang="ru-KZ" b="1" dirty="0"/>
              <a:t>. </a:t>
            </a:r>
            <a:r>
              <a:rPr lang="ru-RU" dirty="0"/>
              <a:t>Подготовить набор тестовых данных для формы оплаты.</a:t>
            </a:r>
            <a:endParaRPr lang="ru-KZ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D317AD1-A214-4B0D-91FC-EB193670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296785"/>
            <a:ext cx="11454938" cy="1330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Поля:</a:t>
            </a:r>
            <a:r>
              <a:rPr lang="ru-KZ" dirty="0"/>
              <a:t> </a:t>
            </a:r>
            <a:r>
              <a:rPr lang="ru-RU" dirty="0"/>
              <a:t>номер карты; срок действия; CVV; сумма оплаты; </a:t>
            </a:r>
            <a:r>
              <a:rPr lang="ru-RU" dirty="0" err="1"/>
              <a:t>email</a:t>
            </a:r>
            <a:r>
              <a:rPr lang="ru-RU" dirty="0"/>
              <a:t> для чека.</a:t>
            </a:r>
          </a:p>
          <a:p>
            <a:pPr marL="0" indent="0">
              <a:buNone/>
            </a:pPr>
            <a:r>
              <a:rPr lang="ru-RU" dirty="0"/>
              <a:t>Нужно заполнить таблицу.</a:t>
            </a:r>
          </a:p>
          <a:p>
            <a:endParaRPr lang="ru-KZ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A21E3D7-DB83-45A5-8EBC-8964710B7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663211"/>
              </p:ext>
            </p:extLst>
          </p:nvPr>
        </p:nvGraphicFramePr>
        <p:xfrm>
          <a:off x="508080" y="2208036"/>
          <a:ext cx="10963480" cy="452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0435">
                  <a:extLst>
                    <a:ext uri="{9D8B030D-6E8A-4147-A177-3AD203B41FA5}">
                      <a16:colId xmlns:a16="http://schemas.microsoft.com/office/drawing/2014/main" val="4077375113"/>
                    </a:ext>
                  </a:extLst>
                </a:gridCol>
                <a:gridCol w="2743361">
                  <a:extLst>
                    <a:ext uri="{9D8B030D-6E8A-4147-A177-3AD203B41FA5}">
                      <a16:colId xmlns:a16="http://schemas.microsoft.com/office/drawing/2014/main" val="2491766480"/>
                    </a:ext>
                  </a:extLst>
                </a:gridCol>
                <a:gridCol w="1363288">
                  <a:extLst>
                    <a:ext uri="{9D8B030D-6E8A-4147-A177-3AD203B41FA5}">
                      <a16:colId xmlns:a16="http://schemas.microsoft.com/office/drawing/2014/main" val="1379252883"/>
                    </a:ext>
                  </a:extLst>
                </a:gridCol>
                <a:gridCol w="1130531">
                  <a:extLst>
                    <a:ext uri="{9D8B030D-6E8A-4147-A177-3AD203B41FA5}">
                      <a16:colId xmlns:a16="http://schemas.microsoft.com/office/drawing/2014/main" val="1652948176"/>
                    </a:ext>
                  </a:extLst>
                </a:gridCol>
                <a:gridCol w="980901">
                  <a:extLst>
                    <a:ext uri="{9D8B030D-6E8A-4147-A177-3AD203B41FA5}">
                      <a16:colId xmlns:a16="http://schemas.microsoft.com/office/drawing/2014/main" val="2439604598"/>
                    </a:ext>
                  </a:extLst>
                </a:gridCol>
                <a:gridCol w="1064029">
                  <a:extLst>
                    <a:ext uri="{9D8B030D-6E8A-4147-A177-3AD203B41FA5}">
                      <a16:colId xmlns:a16="http://schemas.microsoft.com/office/drawing/2014/main" val="1591405849"/>
                    </a:ext>
                  </a:extLst>
                </a:gridCol>
                <a:gridCol w="940500">
                  <a:extLst>
                    <a:ext uri="{9D8B030D-6E8A-4147-A177-3AD203B41FA5}">
                      <a16:colId xmlns:a16="http://schemas.microsoft.com/office/drawing/2014/main" val="4280214539"/>
                    </a:ext>
                  </a:extLst>
                </a:gridCol>
                <a:gridCol w="1370435">
                  <a:extLst>
                    <a:ext uri="{9D8B030D-6E8A-4147-A177-3AD203B41FA5}">
                      <a16:colId xmlns:a16="http://schemas.microsoft.com/office/drawing/2014/main" val="39264888"/>
                    </a:ext>
                  </a:extLst>
                </a:gridCol>
              </a:tblGrid>
              <a:tr h="4414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ID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800" b="1" dirty="0"/>
                        <a:t>Проверка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800" b="1" dirty="0"/>
                        <a:t>Номер карты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800" b="1" dirty="0"/>
                        <a:t>Срок действия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CVV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800" b="1" dirty="0"/>
                        <a:t>Сумма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Email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800" b="1" dirty="0"/>
                        <a:t>Ожидаемый результат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616844159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r>
                        <a:rPr lang="en-US" sz="1800"/>
                        <a:t>TD-001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Успешная оплата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r"/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746454365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r>
                        <a:rPr lang="en-US" sz="1800"/>
                        <a:t>TD-002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Пустой номер карты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r"/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985162001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r>
                        <a:rPr lang="en-US" sz="1800"/>
                        <a:t>TD-003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Неверный </a:t>
                      </a:r>
                      <a:r>
                        <a:rPr lang="en-US" sz="1800"/>
                        <a:t>CVV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r"/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230081227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r>
                        <a:rPr lang="en-US" sz="1800"/>
                        <a:t>TD-004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Истекший срок карты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r"/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194647494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r>
                        <a:rPr lang="en-US" sz="1800"/>
                        <a:t>TD-005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Нулевая сумма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r"/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414055659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r>
                        <a:rPr lang="en-US" sz="1800"/>
                        <a:t>TD-006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Невалидный </a:t>
                      </a:r>
                      <a:r>
                        <a:rPr lang="en-US" sz="1800"/>
                        <a:t>email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r"/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694107857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r>
                        <a:rPr lang="en-US" sz="1800"/>
                        <a:t>TD-007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Отрицательная сумма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r"/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013680068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r>
                        <a:rPr lang="en-US" sz="1800"/>
                        <a:t>TD-008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Пустые обязательные поля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r"/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endParaRPr lang="ru-KZ" sz="18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070525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021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7D87FEB-C825-4698-9FDA-536421CA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Контрольные вопросы</a:t>
            </a:r>
            <a:endParaRPr lang="ru-KZ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D7A74CA-805C-4BBF-9F48-1775BB222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9896"/>
            <a:ext cx="1078299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Что такое тестовые данные?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Для чего используются тестовые данные?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бывают виды тестовых данных?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Чем валидные данные отличаются от </a:t>
            </a:r>
            <a:r>
              <a:rPr lang="ru-RU" sz="2400" dirty="0" err="1"/>
              <a:t>невалидных</a:t>
            </a:r>
            <a:r>
              <a:rPr lang="ru-RU" sz="2400" dirty="0"/>
              <a:t>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Что такое граничные значения?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Почему важно проверять пустые поля?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данные используются для негативного тестирования?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Чем реальные данные отличаются от синтетических?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Какие этапы включает подготовка тестовых данных?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 Что такое классы эквивалентности?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Что такое анализ граничных значений?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Почему нельзя использовать реальные персональные данные?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Какие ошибки возникают при работе с тестовыми данными? </a:t>
            </a:r>
            <a:endParaRPr lang="ru-KZ" sz="24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400" dirty="0"/>
              <a:t>Как тестовые данные связаны с тестовым покрытием?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491695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2254</Words>
  <Application>Microsoft Office PowerPoint</Application>
  <PresentationFormat>Широкоэкранный</PresentationFormat>
  <Paragraphs>626</Paragraphs>
  <Slides>30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Тема Office</vt:lpstr>
      <vt:lpstr>Тестовые данные: подготовка, классификация и ошибки при работе с ними</vt:lpstr>
      <vt:lpstr>Цель лекции</vt:lpstr>
      <vt:lpstr>Что такое тестовые данные</vt:lpstr>
      <vt:lpstr>Примеры тестовых данных</vt:lpstr>
      <vt:lpstr>Примеры тестовых данных</vt:lpstr>
      <vt:lpstr>Зачем нужны тестовые данные</vt:lpstr>
      <vt:lpstr>Классификация тестовых данных</vt:lpstr>
      <vt:lpstr>Классификация тестовых данных</vt:lpstr>
      <vt:lpstr>Классификация тестовых данных</vt:lpstr>
      <vt:lpstr>Классификация тестовых данных</vt:lpstr>
      <vt:lpstr>Классификация тестовых данных</vt:lpstr>
      <vt:lpstr>Классификация тестовых данных</vt:lpstr>
      <vt:lpstr>Классификация тестовых данных</vt:lpstr>
      <vt:lpstr>Классификация тестовых данных</vt:lpstr>
      <vt:lpstr>Классификация тестовых данных</vt:lpstr>
      <vt:lpstr>Подходы к подготовке тестовых данных</vt:lpstr>
      <vt:lpstr>Подходы к подготовке тестовых данных</vt:lpstr>
      <vt:lpstr>Подходы к подготовке тестовых данных</vt:lpstr>
      <vt:lpstr>Подходы к подготовке тестовых данных</vt:lpstr>
      <vt:lpstr>Подходы к подготовке тестовых данных</vt:lpstr>
      <vt:lpstr>Этапы подготовки тестовых данных</vt:lpstr>
      <vt:lpstr>Этапы подготовки тестовых данных</vt:lpstr>
      <vt:lpstr>Этапы подготовки тестовых данных</vt:lpstr>
      <vt:lpstr>Этапы подготовки тестовых данных</vt:lpstr>
      <vt:lpstr>Пример подготовки тестовых данных для формы регистрации</vt:lpstr>
      <vt:lpstr>Пример подготовки тестовых данных для формы регистрации</vt:lpstr>
      <vt:lpstr>Ошибки при работе с тестовыми данными</vt:lpstr>
      <vt:lpstr>Как проверить качество тестовых данных</vt:lpstr>
      <vt:lpstr>Задание. Подготовить набор тестовых данных для формы оплаты.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тестирование программного обеспечения</dc:title>
  <dc:creator>raigul_almaty@mail.ru</dc:creator>
  <cp:lastModifiedBy>raigul_almaty@mail.ru</cp:lastModifiedBy>
  <cp:revision>10</cp:revision>
  <dcterms:created xsi:type="dcterms:W3CDTF">2026-05-17T16:20:39Z</dcterms:created>
  <dcterms:modified xsi:type="dcterms:W3CDTF">2026-05-19T06:00:11Z</dcterms:modified>
</cp:coreProperties>
</file>