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90" r:id="rId4"/>
    <p:sldId id="337" r:id="rId5"/>
    <p:sldId id="338" r:id="rId6"/>
    <p:sldId id="339" r:id="rId7"/>
    <p:sldId id="340" r:id="rId8"/>
    <p:sldId id="341" r:id="rId9"/>
    <p:sldId id="343" r:id="rId10"/>
    <p:sldId id="342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2" r:id="rId20"/>
    <p:sldId id="362" r:id="rId21"/>
    <p:sldId id="364" r:id="rId22"/>
    <p:sldId id="363" r:id="rId23"/>
    <p:sldId id="365" r:id="rId24"/>
    <p:sldId id="353" r:id="rId25"/>
    <p:sldId id="354" r:id="rId26"/>
    <p:sldId id="355" r:id="rId27"/>
    <p:sldId id="356" r:id="rId28"/>
    <p:sldId id="357" r:id="rId29"/>
    <p:sldId id="358" r:id="rId30"/>
    <p:sldId id="359" r:id="rId31"/>
    <p:sldId id="360" r:id="rId32"/>
    <p:sldId id="361" r:id="rId33"/>
    <p:sldId id="289" r:id="rId34"/>
    <p:sldId id="270" r:id="rId35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429" autoAdjust="0"/>
  </p:normalViewPr>
  <p:slideViewPr>
    <p:cSldViewPr snapToGrid="0">
      <p:cViewPr varScale="1">
        <p:scale>
          <a:sx n="46" d="100"/>
          <a:sy n="46" d="100"/>
        </p:scale>
        <p:origin x="58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896B4-902B-4A8C-8A1B-D2DC11FE0451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29F4B-E19A-40B0-BD71-22A954E6346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7808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63846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61941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08781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91775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77739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80657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67957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83298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85930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91197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49517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868144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20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79570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21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497392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24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409569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25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852473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26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814624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27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121706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34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20395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A47E1E-BBF0-4F01-92A3-DC885B743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929F19-6ACA-45B0-BAEB-EDCEAA473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BEB61D-B270-406E-99C9-0D350030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32A2AC-41C7-49E3-B21D-53AB5CD65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784B4E-4052-418B-9BEF-DA4569E12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91868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FF563-DC16-475F-B73E-104C55E00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708892-2A08-4CC4-8952-A30348621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636221-7DEA-4997-ADF2-16ADF53E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8CD7C6-C113-4AB8-8907-118D32EA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C6EB98-B8F4-42E9-8484-D36832EB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83089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DFA4F4-6431-4E73-B28F-BC76AA02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64017-1F2D-413F-B869-B9B07BA9F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36D718-6551-4472-BB83-EB99E34AB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AF361B-BD15-4DB9-81A3-C07699CE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851FDA-D796-45E4-B6CF-B3DC513CB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72333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86F2CA-C8B8-479E-9FF6-7D1B567D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7F563D-CC55-46B4-919A-A8661CC25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A3AE65-67FD-488B-B82B-10A2CA0FB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663D80-6B84-4B85-A18E-AC750530A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593B55-887D-4E40-8E38-BAEB59B91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C7527D-C511-4DDB-B5EF-2B9058256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54054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86BCC-3C5C-4F5A-AB46-F3E1AE600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6271C4-D120-41BF-836B-9902D5691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46691E-F214-41B6-B983-F5D1FC39D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77B9105-0F26-43AC-BB86-D465C4F16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FA6D395-ED80-43CE-A7F6-2D9E9B693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9A3792-0A89-4A0F-A976-A55DA0CB2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D60E94D-4BA2-4706-B981-31227E9A9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23AFA38-D1A5-4868-8EF2-1B092CFC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90470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72961-CDFD-478A-A436-659708DD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EFD0378-2F4B-4254-8D0A-427EB63C0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C528FDA-AE66-4FEC-A0F2-A10734EA9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CE31020-6810-4124-9F3E-D181839DF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03453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75715DA-BD0D-4ACD-9F96-150BB67F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0E3595C-4F7F-42CD-BAF9-64DE774AC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FFDD28-905F-4E98-8762-2D5C8CCA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0128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802B6-CF25-4533-9F51-1690C546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029A4C-5DF8-4A44-8AE3-141B307A5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15813F-1FD2-4FD7-8E40-0816827E3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88025F-D252-439C-B151-C8EE9A178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00EF2C-4D5F-4BC8-99AE-A7D880EDD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10B441-7B8A-41D4-8F17-E3859641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37977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3ACEF2-401B-43F8-80CD-E3776B48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C6C4737-A95F-4E1A-9111-770E6574A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6FAFE1-650F-418D-84AC-AAC266D10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72002E-61CB-4C5F-9FDE-D92BCFB9E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F0B6A4-66B9-4358-8F8B-5E4A0105E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66058F-A28D-440A-B2F7-C44B02338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80498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0A5600-AEB5-46D4-A36A-6FCEF061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1F75AA7-55D8-4EED-9367-CB9B673D9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2E55E3-0B21-4A5F-8621-C302183B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FF0EE2-2100-4C8E-9BBC-029CE182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43CED3-B427-4775-B55A-0D2BB6FD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58339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D4C357C-7F87-4933-B26E-51D229D2E5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5EF265-5E4E-4672-82E2-0FE3F23DA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300F02-07E4-4AA2-804B-04042D3B7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12D65A-D49E-45FA-A03B-DBBF7126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581291-4A5F-4743-935C-A91F9F427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6793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583B85-9AB5-4850-984A-092AC26D5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999896-89BB-4072-89D1-FD9ACE626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9BCD95-2248-485B-9CCA-1C7CD26BF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3F9833-AEA6-4FA7-831A-FDF014C93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00B27F-CAD4-41B7-A6C5-2B3DBC277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27854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D674CD-6999-4DF3-81AB-205FF45BA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680" y="1764407"/>
            <a:ext cx="8063345" cy="2310312"/>
          </a:xfrm>
        </p:spPr>
        <p:txBody>
          <a:bodyPr>
            <a:normAutofit fontScale="90000"/>
          </a:bodyPr>
          <a:lstStyle/>
          <a:p>
            <a:r>
              <a:rPr lang="ru-RU" sz="5400" dirty="0"/>
              <a:t>Уровни тестирования: модульное, интеграционное, системное и приемочное тестирование</a:t>
            </a:r>
            <a:endParaRPr lang="ru-KZ" sz="5200" dirty="0">
              <a:solidFill>
                <a:schemeClr val="tx2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B3BE75-DC7B-4962-950C-59FF530CA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Поддержка и тестирование программных модулей</a:t>
            </a:r>
            <a:endParaRPr lang="ru-KZ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008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99B04D-1631-4467-B1F6-B1E48B3E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лекции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616E1D-ABC9-42E8-8BE8-120CD1777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Сформировать у студентов понимание уровней тестирования программного обеспечения: </a:t>
            </a:r>
            <a:r>
              <a:rPr lang="ru-RU" b="1" dirty="0"/>
              <a:t>модульного</a:t>
            </a:r>
            <a:r>
              <a:rPr lang="ru-RU" dirty="0"/>
              <a:t>, </a:t>
            </a:r>
            <a:r>
              <a:rPr lang="ru-RU" b="1" dirty="0"/>
              <a:t>интеграционного</a:t>
            </a:r>
            <a:r>
              <a:rPr lang="ru-RU" dirty="0"/>
              <a:t>, </a:t>
            </a:r>
            <a:r>
              <a:rPr lang="ru-RU" b="1" dirty="0"/>
              <a:t>системного</a:t>
            </a:r>
            <a:r>
              <a:rPr lang="ru-RU" dirty="0"/>
              <a:t> и </a:t>
            </a:r>
            <a:r>
              <a:rPr lang="ru-RU" b="1" dirty="0"/>
              <a:t>приемочного</a:t>
            </a:r>
            <a:r>
              <a:rPr lang="ru-RU" dirty="0"/>
              <a:t> тестирования. Студенты должны научиться различать эти уровни, понимать, на каком этапе разработки они применяются, что именно проверяют и какие дефекты помогают выявить.</a:t>
            </a:r>
          </a:p>
          <a:p>
            <a:pPr marL="0" indent="0">
              <a:buNone/>
            </a:pPr>
            <a:r>
              <a:rPr lang="ru-RU" dirty="0"/>
              <a:t>Главная задача лекции — подготовить студентов к экзаменационным вопросам, связанным с уровнями тестирования и применением видов тестирования на разных этапах разработки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48734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7971C4-11B7-474E-90B8-9ED90148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Что такое уровни тестирования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9E6559-DD52-454F-9C0F-035EE4C7D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" y="1690688"/>
            <a:ext cx="11006051" cy="480218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Уровни тестирования</a:t>
            </a:r>
            <a:r>
              <a:rPr lang="ru-RU" dirty="0"/>
              <a:t> — это этапы проверки программного обеспечения, которые отличаются масштабом объекта тестирования.</a:t>
            </a:r>
          </a:p>
          <a:p>
            <a:pPr marL="0" indent="0">
              <a:buNone/>
            </a:pPr>
            <a:r>
              <a:rPr lang="ru-RU" dirty="0"/>
              <a:t>Проще говоря, уровни показывают, </a:t>
            </a:r>
            <a:r>
              <a:rPr lang="ru-RU" b="1" dirty="0"/>
              <a:t>что именно проверяется</a:t>
            </a:r>
            <a:r>
              <a:rPr lang="ru-RU" dirty="0"/>
              <a:t>:</a:t>
            </a:r>
          </a:p>
          <a:p>
            <a:r>
              <a:rPr lang="ru-RU" dirty="0"/>
              <a:t>отдельная функция; </a:t>
            </a:r>
          </a:p>
          <a:p>
            <a:r>
              <a:rPr lang="ru-RU" dirty="0"/>
              <a:t>несколько связанных модулей; </a:t>
            </a:r>
          </a:p>
          <a:p>
            <a:r>
              <a:rPr lang="ru-RU" dirty="0"/>
              <a:t>вся система; </a:t>
            </a:r>
          </a:p>
          <a:p>
            <a:r>
              <a:rPr lang="ru-RU" dirty="0"/>
              <a:t>готовность продукта для пользователя или заказчика. </a:t>
            </a:r>
          </a:p>
          <a:p>
            <a:pPr marL="0" indent="0">
              <a:buNone/>
            </a:pPr>
            <a:r>
              <a:rPr lang="ru-RU" dirty="0"/>
              <a:t>Классические уровни тестирования: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Модульное тестирование</a:t>
            </a:r>
            <a:r>
              <a:rPr lang="ru-RU" dirty="0"/>
              <a:t> — проверка отдельной части программы. 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Интеграционное тестирование</a:t>
            </a:r>
            <a:r>
              <a:rPr lang="ru-RU" dirty="0"/>
              <a:t> — проверка взаимодействия частей программы. 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Системное тестирование</a:t>
            </a:r>
            <a:r>
              <a:rPr lang="ru-RU" dirty="0"/>
              <a:t> — проверка всей системы целиком. 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Приемочное тестирование</a:t>
            </a:r>
            <a:r>
              <a:rPr lang="ru-RU" dirty="0"/>
              <a:t> — проверка готовности продукта к использованию.</a:t>
            </a:r>
          </a:p>
        </p:txBody>
      </p:sp>
    </p:spTree>
    <p:extLst>
      <p:ext uri="{BB962C8B-B14F-4D97-AF65-F5344CB8AC3E}">
        <p14:creationId xmlns:p14="http://schemas.microsoft.com/office/powerpoint/2010/main" val="754795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44CD6EA-196F-470A-BDC3-DFA7958D6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Общая логика уровней тестирования</a:t>
            </a:r>
            <a:endParaRPr lang="ru-KZ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BF4CDCD-7623-4CF0-A59B-4A3D7EFADD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174" y="1690688"/>
            <a:ext cx="3851564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Представим, что разрабатывается интернет-магазин.</a:t>
            </a:r>
          </a:p>
          <a:p>
            <a:pPr marL="0" indent="0">
              <a:buNone/>
            </a:pPr>
            <a:r>
              <a:rPr lang="ru-RU" dirty="0"/>
              <a:t>Система состоит из модулей:</a:t>
            </a:r>
          </a:p>
          <a:p>
            <a:r>
              <a:rPr lang="ru-RU" dirty="0"/>
              <a:t>регистрация; </a:t>
            </a:r>
          </a:p>
          <a:p>
            <a:r>
              <a:rPr lang="ru-RU" dirty="0"/>
              <a:t>авторизация; </a:t>
            </a:r>
          </a:p>
          <a:p>
            <a:r>
              <a:rPr lang="ru-RU" dirty="0"/>
              <a:t>каталог товаров; </a:t>
            </a:r>
          </a:p>
          <a:p>
            <a:r>
              <a:rPr lang="ru-RU" dirty="0"/>
              <a:t>корзина; </a:t>
            </a:r>
          </a:p>
          <a:p>
            <a:r>
              <a:rPr lang="ru-RU" dirty="0"/>
              <a:t>оформление заказа; </a:t>
            </a:r>
          </a:p>
          <a:p>
            <a:r>
              <a:rPr lang="ru-RU" dirty="0"/>
              <a:t>оплата; </a:t>
            </a:r>
          </a:p>
          <a:p>
            <a:r>
              <a:rPr lang="ru-RU" dirty="0"/>
              <a:t>отправка </a:t>
            </a:r>
            <a:r>
              <a:rPr lang="ru-RU" dirty="0" err="1"/>
              <a:t>email</a:t>
            </a:r>
            <a:r>
              <a:rPr lang="ru-RU" dirty="0"/>
              <a:t>; </a:t>
            </a:r>
          </a:p>
          <a:p>
            <a:r>
              <a:rPr lang="ru-RU" dirty="0"/>
              <a:t>личный кабинет. </a:t>
            </a:r>
          </a:p>
          <a:p>
            <a:r>
              <a:rPr lang="ru-RU" dirty="0"/>
              <a:t>Каждый уровень тестирования проверяет систему с разной глубиной.</a:t>
            </a:r>
          </a:p>
          <a:p>
            <a:endParaRPr lang="ru-KZ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3E53E435-0D2E-4603-A25E-526E582346E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21188987"/>
              </p:ext>
            </p:extLst>
          </p:nvPr>
        </p:nvGraphicFramePr>
        <p:xfrm>
          <a:off x="4355869" y="1825625"/>
          <a:ext cx="7547955" cy="3706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45178">
                  <a:extLst>
                    <a:ext uri="{9D8B030D-6E8A-4147-A177-3AD203B41FA5}">
                      <a16:colId xmlns:a16="http://schemas.microsoft.com/office/drawing/2014/main" val="1847904152"/>
                    </a:ext>
                  </a:extLst>
                </a:gridCol>
                <a:gridCol w="2344189">
                  <a:extLst>
                    <a:ext uri="{9D8B030D-6E8A-4147-A177-3AD203B41FA5}">
                      <a16:colId xmlns:a16="http://schemas.microsoft.com/office/drawing/2014/main" val="269514251"/>
                    </a:ext>
                  </a:extLst>
                </a:gridCol>
                <a:gridCol w="3258588">
                  <a:extLst>
                    <a:ext uri="{9D8B030D-6E8A-4147-A177-3AD203B41FA5}">
                      <a16:colId xmlns:a16="http://schemas.microsoft.com/office/drawing/2014/main" val="1773787513"/>
                    </a:ext>
                  </a:extLst>
                </a:gridCol>
              </a:tblGrid>
              <a:tr h="393061">
                <a:tc>
                  <a:txBody>
                    <a:bodyPr/>
                    <a:lstStyle/>
                    <a:p>
                      <a:r>
                        <a:rPr lang="kk-KZ" sz="2000" b="1" dirty="0"/>
                        <a:t>Уровень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Что проверяется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Пример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729183478"/>
                  </a:ext>
                </a:extLst>
              </a:tr>
              <a:tr h="393061">
                <a:tc>
                  <a:txBody>
                    <a:bodyPr/>
                    <a:lstStyle/>
                    <a:p>
                      <a:r>
                        <a:rPr lang="kk-KZ" sz="2000"/>
                        <a:t>Модульное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Отдельная функция или модуль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Функция расчета скидки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736061095"/>
                  </a:ext>
                </a:extLst>
              </a:tr>
              <a:tr h="688929">
                <a:tc>
                  <a:txBody>
                    <a:bodyPr/>
                    <a:lstStyle/>
                    <a:p>
                      <a:r>
                        <a:rPr lang="kk-KZ" sz="2000"/>
                        <a:t>Интеграционное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Взаимодействие модулей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Корзина передает сумму в модуль оплаты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157348916"/>
                  </a:ext>
                </a:extLst>
              </a:tr>
              <a:tr h="984796">
                <a:tc>
                  <a:txBody>
                    <a:bodyPr/>
                    <a:lstStyle/>
                    <a:p>
                      <a:r>
                        <a:rPr lang="kk-KZ" sz="2000"/>
                        <a:t>Системное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Вся система целиком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Пользователь выбирает товар, оплачивает заказ и получает письмо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559212318"/>
                  </a:ext>
                </a:extLst>
              </a:tr>
              <a:tr h="984796">
                <a:tc>
                  <a:txBody>
                    <a:bodyPr/>
                    <a:lstStyle/>
                    <a:p>
                      <a:r>
                        <a:rPr lang="kk-KZ" sz="2000"/>
                        <a:t>Приемочное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Готовность для заказчика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Заказчик проверяет, соответствует ли интернет-магазин требованиям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021432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05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3FAFBF5-3F1E-4169-A5E7-AF6776C90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Модульное тестирование</a:t>
            </a:r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5BF0F9A-71C5-48DF-8026-CEF60D311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Модульное тестирование</a:t>
            </a:r>
            <a:r>
              <a:rPr lang="ru-RU" dirty="0"/>
              <a:t> — это уровень тестирования, при котором проверяется отдельный модуль, функция, метод, класс или компонент программы изолированно от остальных частей системы.</a:t>
            </a:r>
          </a:p>
          <a:p>
            <a:pPr marL="0" indent="0">
              <a:buNone/>
            </a:pPr>
            <a:r>
              <a:rPr lang="ru-RU" dirty="0"/>
              <a:t>Главный вопрос модульного тестирования:</a:t>
            </a:r>
          </a:p>
          <a:p>
            <a:pPr marL="0" indent="0">
              <a:buNone/>
            </a:pPr>
            <a:r>
              <a:rPr lang="ru-RU" dirty="0"/>
              <a:t>Правильно ли работает отдельная часть программы сама по себе?</a:t>
            </a:r>
          </a:p>
          <a:p>
            <a:pPr marL="0" indent="0">
              <a:buNone/>
            </a:pPr>
            <a:endParaRPr lang="ru-KZ" dirty="0"/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922831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32F1F2-11C5-4D5D-92D4-A717BD41D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2650"/>
          </a:xfrm>
        </p:spPr>
        <p:txBody>
          <a:bodyPr>
            <a:normAutofit fontScale="90000"/>
          </a:bodyPr>
          <a:lstStyle/>
          <a:p>
            <a:r>
              <a:rPr lang="kk-KZ" dirty="0"/>
              <a:t>Модульное тестирование</a:t>
            </a:r>
            <a:endParaRPr lang="ru-KZ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FCDC788-D551-44AA-959D-EB6EC4CE8A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9258" y="897776"/>
            <a:ext cx="3840480" cy="527918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Модулем может быть:</a:t>
            </a:r>
          </a:p>
          <a:p>
            <a:r>
              <a:rPr lang="ru-RU" dirty="0"/>
              <a:t>функция; </a:t>
            </a:r>
          </a:p>
          <a:p>
            <a:r>
              <a:rPr lang="ru-RU" dirty="0"/>
              <a:t>метод; </a:t>
            </a:r>
          </a:p>
          <a:p>
            <a:r>
              <a:rPr lang="ru-RU" dirty="0"/>
              <a:t>класс; </a:t>
            </a:r>
          </a:p>
          <a:p>
            <a:r>
              <a:rPr lang="ru-RU" dirty="0"/>
              <a:t>компонент интерфейса; </a:t>
            </a:r>
          </a:p>
          <a:p>
            <a:r>
              <a:rPr lang="ru-RU" dirty="0"/>
              <a:t>отдельный сервис; </a:t>
            </a:r>
          </a:p>
          <a:p>
            <a:r>
              <a:rPr lang="ru-RU" dirty="0"/>
              <a:t>отдельный API-метод; </a:t>
            </a:r>
          </a:p>
          <a:p>
            <a:r>
              <a:rPr lang="ru-RU" dirty="0"/>
              <a:t>модуль расчета; </a:t>
            </a:r>
          </a:p>
          <a:p>
            <a:r>
              <a:rPr lang="ru-RU" dirty="0"/>
              <a:t>модуль валидации.</a:t>
            </a:r>
          </a:p>
          <a:p>
            <a:endParaRPr lang="ru-KZ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0E4B7AE6-5A46-4627-A774-F02F8C250A9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27014069"/>
              </p:ext>
            </p:extLst>
          </p:nvPr>
        </p:nvGraphicFramePr>
        <p:xfrm>
          <a:off x="4139738" y="1163782"/>
          <a:ext cx="7752224" cy="35494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08466">
                  <a:extLst>
                    <a:ext uri="{9D8B030D-6E8A-4147-A177-3AD203B41FA5}">
                      <a16:colId xmlns:a16="http://schemas.microsoft.com/office/drawing/2014/main" val="3895110888"/>
                    </a:ext>
                  </a:extLst>
                </a:gridCol>
                <a:gridCol w="4443758">
                  <a:extLst>
                    <a:ext uri="{9D8B030D-6E8A-4147-A177-3AD203B41FA5}">
                      <a16:colId xmlns:a16="http://schemas.microsoft.com/office/drawing/2014/main" val="1382158059"/>
                    </a:ext>
                  </a:extLst>
                </a:gridCol>
              </a:tblGrid>
              <a:tr h="496729">
                <a:tc>
                  <a:txBody>
                    <a:bodyPr/>
                    <a:lstStyle/>
                    <a:p>
                      <a:r>
                        <a:rPr lang="kk-KZ" sz="2400" b="1" dirty="0"/>
                        <a:t>Система</a:t>
                      </a:r>
                    </a:p>
                  </a:txBody>
                  <a:tcPr marL="49737" marR="49737" marT="24869" marB="24869"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Модуль</a:t>
                      </a:r>
                    </a:p>
                  </a:txBody>
                  <a:tcPr marL="49737" marR="49737" marT="24869" marB="24869" anchor="ctr"/>
                </a:tc>
                <a:extLst>
                  <a:ext uri="{0D108BD9-81ED-4DB2-BD59-A6C34878D82A}">
                    <a16:rowId xmlns:a16="http://schemas.microsoft.com/office/drawing/2014/main" val="4251339168"/>
                  </a:ext>
                </a:extLst>
              </a:tr>
              <a:tr h="496729">
                <a:tc>
                  <a:txBody>
                    <a:bodyPr/>
                    <a:lstStyle/>
                    <a:p>
                      <a:r>
                        <a:rPr lang="kk-KZ" sz="2400"/>
                        <a:t>Интернет-магазин</a:t>
                      </a:r>
                    </a:p>
                  </a:txBody>
                  <a:tcPr marL="49737" marR="49737" marT="24869" marB="2486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Функция расчета итоговой суммы</a:t>
                      </a:r>
                    </a:p>
                  </a:txBody>
                  <a:tcPr marL="49737" marR="49737" marT="24869" marB="24869" anchor="ctr"/>
                </a:tc>
                <a:extLst>
                  <a:ext uri="{0D108BD9-81ED-4DB2-BD59-A6C34878D82A}">
                    <a16:rowId xmlns:a16="http://schemas.microsoft.com/office/drawing/2014/main" val="2560631344"/>
                  </a:ext>
                </a:extLst>
              </a:tr>
              <a:tr h="496729">
                <a:tc>
                  <a:txBody>
                    <a:bodyPr/>
                    <a:lstStyle/>
                    <a:p>
                      <a:r>
                        <a:rPr lang="kk-KZ" sz="2400"/>
                        <a:t>Банковское приложение</a:t>
                      </a:r>
                    </a:p>
                  </a:txBody>
                  <a:tcPr marL="49737" marR="49737" marT="24869" marB="2486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Функция проверки баланса</a:t>
                      </a:r>
                    </a:p>
                  </a:txBody>
                  <a:tcPr marL="49737" marR="49737" marT="24869" marB="24869" anchor="ctr"/>
                </a:tc>
                <a:extLst>
                  <a:ext uri="{0D108BD9-81ED-4DB2-BD59-A6C34878D82A}">
                    <a16:rowId xmlns:a16="http://schemas.microsoft.com/office/drawing/2014/main" val="571689620"/>
                  </a:ext>
                </a:extLst>
              </a:tr>
              <a:tr h="496729">
                <a:tc>
                  <a:txBody>
                    <a:bodyPr/>
                    <a:lstStyle/>
                    <a:p>
                      <a:r>
                        <a:rPr lang="kk-KZ" sz="2400"/>
                        <a:t>Образовательная платформа</a:t>
                      </a:r>
                    </a:p>
                  </a:txBody>
                  <a:tcPr marL="49737" marR="49737" marT="24869" marB="2486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Функция подсчета среднего балла</a:t>
                      </a:r>
                    </a:p>
                  </a:txBody>
                  <a:tcPr marL="49737" marR="49737" marT="24869" marB="24869" anchor="ctr"/>
                </a:tc>
                <a:extLst>
                  <a:ext uri="{0D108BD9-81ED-4DB2-BD59-A6C34878D82A}">
                    <a16:rowId xmlns:a16="http://schemas.microsoft.com/office/drawing/2014/main" val="1492595976"/>
                  </a:ext>
                </a:extLst>
              </a:tr>
              <a:tr h="496729">
                <a:tc>
                  <a:txBody>
                    <a:bodyPr/>
                    <a:lstStyle/>
                    <a:p>
                      <a:r>
                        <a:rPr lang="kk-KZ" sz="2400"/>
                        <a:t>Форма регистрации</a:t>
                      </a:r>
                    </a:p>
                  </a:txBody>
                  <a:tcPr marL="49737" marR="49737" marT="24869" marB="2486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Функция проверки </a:t>
                      </a:r>
                      <a:r>
                        <a:rPr lang="en-US" sz="2400"/>
                        <a:t>email</a:t>
                      </a:r>
                    </a:p>
                  </a:txBody>
                  <a:tcPr marL="49737" marR="49737" marT="24869" marB="24869" anchor="ctr"/>
                </a:tc>
                <a:extLst>
                  <a:ext uri="{0D108BD9-81ED-4DB2-BD59-A6C34878D82A}">
                    <a16:rowId xmlns:a16="http://schemas.microsoft.com/office/drawing/2014/main" val="2796975745"/>
                  </a:ext>
                </a:extLst>
              </a:tr>
              <a:tr h="496729">
                <a:tc>
                  <a:txBody>
                    <a:bodyPr/>
                    <a:lstStyle/>
                    <a:p>
                      <a:r>
                        <a:rPr lang="en-US" sz="2400"/>
                        <a:t>API</a:t>
                      </a:r>
                    </a:p>
                  </a:txBody>
                  <a:tcPr marL="49737" marR="49737" marT="24869" marB="24869"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Метод создания пользователя</a:t>
                      </a:r>
                    </a:p>
                  </a:txBody>
                  <a:tcPr marL="49737" marR="49737" marT="24869" marB="24869" anchor="ctr"/>
                </a:tc>
                <a:extLst>
                  <a:ext uri="{0D108BD9-81ED-4DB2-BD59-A6C34878D82A}">
                    <a16:rowId xmlns:a16="http://schemas.microsoft.com/office/drawing/2014/main" val="2414209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802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32F1F2-11C5-4D5D-92D4-A717BD41D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2650"/>
          </a:xfrm>
        </p:spPr>
        <p:txBody>
          <a:bodyPr>
            <a:normAutofit fontScale="90000"/>
          </a:bodyPr>
          <a:lstStyle/>
          <a:p>
            <a:r>
              <a:rPr lang="kk-KZ" dirty="0"/>
              <a:t>Модульное тестирование</a:t>
            </a:r>
            <a:endParaRPr lang="ru-KZ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FCDC788-D551-44AA-959D-EB6EC4CE8A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9258" y="1147156"/>
            <a:ext cx="5004262" cy="50298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Цели модульного тестирования</a:t>
            </a:r>
          </a:p>
          <a:p>
            <a:pPr marL="0" indent="0">
              <a:buNone/>
            </a:pPr>
            <a:r>
              <a:rPr lang="ru-RU" dirty="0"/>
              <a:t>Цели модульного тестирования:</a:t>
            </a:r>
          </a:p>
          <a:p>
            <a:r>
              <a:rPr lang="ru-RU" dirty="0"/>
              <a:t>проверить отдельную функцию или компонент; </a:t>
            </a:r>
          </a:p>
          <a:p>
            <a:r>
              <a:rPr lang="ru-RU" dirty="0"/>
              <a:t>убедиться, что модуль работает по требованиям; </a:t>
            </a:r>
          </a:p>
          <a:p>
            <a:r>
              <a:rPr lang="ru-RU" dirty="0"/>
              <a:t>выявить ошибки в логике на раннем этапе; </a:t>
            </a:r>
          </a:p>
          <a:p>
            <a:r>
              <a:rPr lang="ru-RU" dirty="0"/>
              <a:t>облегчить поиск причины дефекта; </a:t>
            </a:r>
          </a:p>
          <a:p>
            <a:r>
              <a:rPr lang="ru-RU" dirty="0"/>
              <a:t>повысить надежность кода; </a:t>
            </a:r>
          </a:p>
          <a:p>
            <a:r>
              <a:rPr lang="ru-RU" dirty="0"/>
              <a:t>предотвратить накопление ошибок перед интеграцией.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43C373-3AC5-461B-9A64-EE98E99E4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47156"/>
            <a:ext cx="5181600" cy="50298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Кто обычно выполняет модульное тестирование</a:t>
            </a:r>
          </a:p>
          <a:p>
            <a:pPr marL="0" indent="0">
              <a:buNone/>
            </a:pPr>
            <a:r>
              <a:rPr lang="ru-RU" dirty="0"/>
              <a:t>Чаще всего модульное тестирование выполняют:</a:t>
            </a:r>
          </a:p>
          <a:p>
            <a:r>
              <a:rPr lang="ru-RU" dirty="0"/>
              <a:t>разработчики; </a:t>
            </a:r>
          </a:p>
          <a:p>
            <a:r>
              <a:rPr lang="ru-RU" dirty="0"/>
              <a:t>QA </a:t>
            </a:r>
            <a:r>
              <a:rPr lang="ru-RU" dirty="0" err="1"/>
              <a:t>Automation</a:t>
            </a:r>
            <a:r>
              <a:rPr lang="ru-RU" dirty="0"/>
              <a:t>-инженеры; </a:t>
            </a:r>
          </a:p>
          <a:p>
            <a:r>
              <a:rPr lang="ru-RU" dirty="0"/>
              <a:t>иногда тестировщики с техническими навыками. </a:t>
            </a:r>
          </a:p>
          <a:p>
            <a:pPr marL="0" indent="0">
              <a:buNone/>
            </a:pPr>
            <a:r>
              <a:rPr lang="ru-RU" dirty="0"/>
              <a:t>Причина: для модульного тестирования часто нужен доступ к коду и понимание внутренней логики программы.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084332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32F1F2-11C5-4D5D-92D4-A717BD41D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2650"/>
          </a:xfrm>
        </p:spPr>
        <p:txBody>
          <a:bodyPr>
            <a:normAutofit fontScale="90000"/>
          </a:bodyPr>
          <a:lstStyle/>
          <a:p>
            <a:r>
              <a:rPr lang="kk-KZ" dirty="0"/>
              <a:t>Модульное тестирование</a:t>
            </a:r>
            <a:endParaRPr lang="ru-KZ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FCDC788-D551-44AA-959D-EB6EC4CE8A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9258" y="1147156"/>
            <a:ext cx="5004262" cy="157941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Пример 1. Функция сложения</a:t>
            </a:r>
          </a:p>
          <a:p>
            <a:pPr marL="0" indent="0">
              <a:buNone/>
            </a:pPr>
            <a:r>
              <a:rPr lang="ru-RU" dirty="0"/>
              <a:t>Функция:</a:t>
            </a:r>
          </a:p>
          <a:p>
            <a:pPr marL="0" indent="0">
              <a:buNone/>
            </a:pPr>
            <a:r>
              <a:rPr lang="ru-RU" dirty="0" err="1"/>
              <a:t>sum</a:t>
            </a:r>
            <a:r>
              <a:rPr lang="ru-RU" dirty="0"/>
              <a:t>(a, b)</a:t>
            </a:r>
          </a:p>
          <a:p>
            <a:pPr marL="0" indent="0">
              <a:buNone/>
            </a:pPr>
            <a:r>
              <a:rPr lang="ru-RU" dirty="0"/>
              <a:t>Проверки: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43C373-3AC5-461B-9A64-EE98E99E4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47157"/>
            <a:ext cx="5181600" cy="184542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Пример 2. Функция проверки возраста</a:t>
            </a:r>
          </a:p>
          <a:p>
            <a:pPr marL="0" indent="0">
              <a:buNone/>
            </a:pPr>
            <a:r>
              <a:rPr lang="ru-RU" dirty="0"/>
              <a:t>Требование:</a:t>
            </a:r>
          </a:p>
          <a:p>
            <a:pPr marL="0" indent="0">
              <a:buNone/>
            </a:pPr>
            <a:r>
              <a:rPr lang="ru-RU" dirty="0"/>
              <a:t>Возраст пользователя должен быть от 18 до 65.</a:t>
            </a:r>
          </a:p>
          <a:p>
            <a:pPr marL="0" indent="0">
              <a:buNone/>
            </a:pPr>
            <a:r>
              <a:rPr lang="ru-RU" dirty="0"/>
              <a:t>Проверки: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65D58805-8A66-4769-863E-40522CF7B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94582"/>
              </p:ext>
            </p:extLst>
          </p:nvPr>
        </p:nvGraphicFramePr>
        <p:xfrm>
          <a:off x="182880" y="3086894"/>
          <a:ext cx="512064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47835126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1380172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kk-KZ" dirty="0"/>
                        <a:t>Входные данные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k-KZ" dirty="0"/>
                        <a:t>Ожидаемый 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7723308"/>
                  </a:ext>
                </a:extLst>
              </a:tr>
              <a:tr h="138444">
                <a:tc>
                  <a:txBody>
                    <a:bodyPr/>
                    <a:lstStyle/>
                    <a:p>
                      <a:pPr algn="r"/>
                      <a:r>
                        <a:rPr lang="kk-KZ" dirty="0"/>
                        <a:t>2 и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280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kk-KZ" dirty="0"/>
                        <a:t>-1 и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11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kk-KZ" dirty="0"/>
                        <a:t>0 и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6314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kk-KZ" dirty="0"/>
                        <a:t>100 и 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dirty="0"/>
                        <a:t>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980499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7784C3DB-19C1-4E08-8D4E-BB0226275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534110"/>
              </p:ext>
            </p:extLst>
          </p:nvPr>
        </p:nvGraphicFramePr>
        <p:xfrm>
          <a:off x="6172200" y="2904014"/>
          <a:ext cx="5181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572872483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3663042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kk-KZ"/>
                        <a:t>Возраст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/>
                        <a:t>Ожидаемый 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237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ru-KZ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686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ru-KZ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/>
                        <a:t>Принято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502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ru-KZ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/>
                        <a:t>Принято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8894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ru-KZ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/>
                        <a:t>Принято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7017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ru-KZ"/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dirty="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3031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1541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59CCAA-0669-4124-A996-986D5CD6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Модульное тестирование</a:t>
            </a:r>
            <a:br>
              <a:rPr lang="ru-KZ" dirty="0"/>
            </a:br>
            <a:r>
              <a:rPr lang="kk-KZ" sz="2800" b="1" dirty="0"/>
              <a:t>Особенности модульного тестирования</a:t>
            </a:r>
            <a:endParaRPr lang="ru-KZ" sz="2800" b="1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F387E113-6FB5-4924-9AFA-E6FF87A906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171288"/>
              </p:ext>
            </p:extLst>
          </p:nvPr>
        </p:nvGraphicFramePr>
        <p:xfrm>
          <a:off x="838200" y="1835829"/>
          <a:ext cx="105156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71522632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81469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Особенность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Объяснение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8530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Проверяется маленькая часть системы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Например, одна функция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5405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Тестирование проводится изолированно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Остальные модули могут быть заменены заглушками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440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Ошибки легче локализовать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Если тест упал, проблема в конкретном модуле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564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Часто автоматизируется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Unit-</a:t>
                      </a:r>
                      <a:r>
                        <a:rPr lang="kk-KZ" sz="2400"/>
                        <a:t>тесты удобно запускать автоматически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859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Обычно выполняется рано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До интеграции с другими модулями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4981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Требует знания кода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Часто связано с </a:t>
                      </a:r>
                      <a:r>
                        <a:rPr lang="ru-RU" sz="2400" dirty="0" err="1"/>
                        <a:t>white-box</a:t>
                      </a:r>
                      <a:r>
                        <a:rPr lang="ru-RU" sz="2400" dirty="0"/>
                        <a:t> </a:t>
                      </a:r>
                      <a:r>
                        <a:rPr lang="ru-RU" sz="2400" dirty="0" err="1"/>
                        <a:t>testing</a:t>
                      </a:r>
                      <a:endParaRPr lang="ru-R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7361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9338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4A20BB-C367-4418-A68D-660DEA33D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Модульное тестирование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B11DBC-6D7C-44DC-85C1-030DA6239C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Преимущества модульного тестирования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Ошибки находятся рано.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Исправление дефектов дешевле.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Легче понять, где находится ошибка.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Улучшается качество кода.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Проще выполнять регрессионные проверки.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Можно запускать тесты при каждом изменении кода.</a:t>
            </a:r>
          </a:p>
          <a:p>
            <a:pPr marL="0" indent="0">
              <a:buNone/>
            </a:pPr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568C08A-8997-48DC-A03C-F218E517E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432367" cy="4667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Ограничения модульного тестирования</a:t>
            </a:r>
          </a:p>
          <a:p>
            <a:pPr marL="0" indent="0">
              <a:buNone/>
            </a:pPr>
            <a:r>
              <a:rPr lang="ru-RU" dirty="0"/>
              <a:t>Модульное тестирование не проверяет: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взаимодействие между модулями;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работу системы целиком;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пользовательские сценарии;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интерфейс в полном виде;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реальные бизнес-процессы;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интеграцию с базой данных, API, платежами, </a:t>
            </a:r>
            <a:r>
              <a:rPr lang="ru-RU" dirty="0" err="1"/>
              <a:t>email</a:t>
            </a:r>
            <a:r>
              <a:rPr lang="ru-RU" dirty="0"/>
              <a:t>-сервисом — если они заменены заглушками. </a:t>
            </a:r>
          </a:p>
          <a:p>
            <a:pPr marL="0" indent="0">
              <a:buNone/>
            </a:pPr>
            <a:r>
              <a:rPr lang="ru-RU" dirty="0"/>
              <a:t>Поэтому одного модульного тестирования недостаточно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408406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C0DD912-BB5B-46B6-8723-BBCD9558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Интеграционное тестирование</a:t>
            </a:r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0E3BBE8-201A-4CFD-A3AA-7D4A0AB35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Интеграционное тестирование</a:t>
            </a:r>
            <a:r>
              <a:rPr lang="ru-RU" dirty="0"/>
              <a:t> — это уровень тестирования, при котором проверяется взаимодействие между модулями, компонентами, сервисами или системами.</a:t>
            </a:r>
          </a:p>
          <a:p>
            <a:pPr marL="0" indent="0">
              <a:buNone/>
            </a:pPr>
            <a:r>
              <a:rPr lang="ru-RU" dirty="0"/>
              <a:t>Главный вопрос интеграционного тестирования:</a:t>
            </a:r>
          </a:p>
          <a:p>
            <a:pPr marL="0" indent="0">
              <a:buNone/>
            </a:pPr>
            <a:r>
              <a:rPr lang="ru-RU" dirty="0"/>
              <a:t>Правильно ли разные части системы работают вместе?</a:t>
            </a:r>
          </a:p>
          <a:p>
            <a:pPr marL="0" indent="0">
              <a:buNone/>
            </a:pPr>
            <a:r>
              <a:rPr lang="ru-RU" dirty="0"/>
              <a:t>В учебном материале интеграционное тестирование определяется как тестирование, выполняемое для обнаружения дефектов в интерфейсах и во взаимодействии между интегрированными компонентами или системами </a:t>
            </a:r>
          </a:p>
          <a:p>
            <a:endParaRPr lang="ru-KZ" dirty="0"/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469584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C0DD912-BB5B-46B6-8723-BBCD9558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Интеграционное тестирование</a:t>
            </a:r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0E3BBE8-201A-4CFD-A3AA-7D4A0AB35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Интеграционное тестирование проверяет:</a:t>
            </a:r>
          </a:p>
          <a:p>
            <a:r>
              <a:rPr lang="ru-RU" dirty="0"/>
              <a:t>передачу данных между модулями; </a:t>
            </a:r>
          </a:p>
          <a:p>
            <a:r>
              <a:rPr lang="ru-RU" dirty="0"/>
              <a:t>правильность форматов данных; </a:t>
            </a:r>
          </a:p>
          <a:p>
            <a:r>
              <a:rPr lang="ru-RU" dirty="0"/>
              <a:t>обработку ответов API; </a:t>
            </a:r>
          </a:p>
          <a:p>
            <a:r>
              <a:rPr lang="ru-RU" dirty="0"/>
              <a:t>взаимодействие </a:t>
            </a:r>
            <a:r>
              <a:rPr lang="ru-RU" dirty="0" err="1"/>
              <a:t>frontend</a:t>
            </a:r>
            <a:r>
              <a:rPr lang="ru-RU" dirty="0"/>
              <a:t> и </a:t>
            </a:r>
            <a:r>
              <a:rPr lang="ru-RU" dirty="0" err="1"/>
              <a:t>backend</a:t>
            </a:r>
            <a:r>
              <a:rPr lang="ru-RU" dirty="0"/>
              <a:t>; </a:t>
            </a:r>
          </a:p>
          <a:p>
            <a:r>
              <a:rPr lang="ru-RU" dirty="0"/>
              <a:t>работу приложения с базой данных; </a:t>
            </a:r>
          </a:p>
          <a:p>
            <a:r>
              <a:rPr lang="ru-RU" dirty="0"/>
              <a:t>связь с внешними сервисами; </a:t>
            </a:r>
          </a:p>
          <a:p>
            <a:r>
              <a:rPr lang="ru-RU" dirty="0"/>
              <a:t>авторизацию между сервисами; </a:t>
            </a:r>
          </a:p>
          <a:p>
            <a:r>
              <a:rPr lang="ru-RU" dirty="0"/>
              <a:t>обработку ошибок при сбое одного из компонентов.</a:t>
            </a:r>
          </a:p>
        </p:txBody>
      </p:sp>
    </p:spTree>
    <p:extLst>
      <p:ext uri="{BB962C8B-B14F-4D97-AF65-F5344CB8AC3E}">
        <p14:creationId xmlns:p14="http://schemas.microsoft.com/office/powerpoint/2010/main" val="4156204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C0DD912-BB5B-46B6-8723-BBCD9558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Интеграционное тестирование</a:t>
            </a:r>
            <a:br>
              <a:rPr lang="ru-KZ" dirty="0"/>
            </a:br>
            <a:r>
              <a:rPr lang="kk-KZ" dirty="0"/>
              <a:t>п</a:t>
            </a:r>
            <a:r>
              <a:rPr lang="ru-KZ" dirty="0"/>
              <a:t>р</a:t>
            </a:r>
            <a:r>
              <a:rPr lang="kk-KZ" dirty="0"/>
              <a:t>и</a:t>
            </a:r>
            <a:r>
              <a:rPr lang="ru-KZ" dirty="0"/>
              <a:t>м</a:t>
            </a:r>
            <a:r>
              <a:rPr lang="kk-KZ" dirty="0"/>
              <a:t>е</a:t>
            </a:r>
            <a:r>
              <a:rPr lang="ru-KZ" dirty="0"/>
              <a:t>р</a:t>
            </a:r>
            <a:r>
              <a:rPr lang="kk-KZ" dirty="0"/>
              <a:t>ы</a:t>
            </a:r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25C5543-635E-4FCB-93F0-8EE07B2C07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376684"/>
              </p:ext>
            </p:extLst>
          </p:nvPr>
        </p:nvGraphicFramePr>
        <p:xfrm>
          <a:off x="838200" y="1885705"/>
          <a:ext cx="10515600" cy="3931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8426692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578395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Интеграция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Что проверяем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409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Форма регистрации + база данных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Пользователь сохраняется в БД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808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Корзина + модуль оплаты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Сумма заказа передается корректно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779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Сайт + </a:t>
                      </a:r>
                      <a:r>
                        <a:rPr lang="en-US" sz="2400"/>
                        <a:t>email-</a:t>
                      </a:r>
                      <a:r>
                        <a:rPr lang="kk-KZ" sz="2400"/>
                        <a:t>сервис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Письмо подтверждения отправляется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636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Frontend + backend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Интерфейс корректно отображает ответ сервера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137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Мобильное приложение + веб-сервис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Видео загружается на сервер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459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Авторизация + личный кабинет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После входа пользователь попадает в свой профиль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077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614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C0DD912-BB5B-46B6-8723-BBCD9558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k-KZ" dirty="0"/>
              <a:t>Интеграционное тестирование</a:t>
            </a:r>
            <a:br>
              <a:rPr lang="ru-KZ" dirty="0"/>
            </a:br>
            <a:r>
              <a:rPr lang="ru-RU" sz="3100" dirty="0"/>
              <a:t>Какие дефекты выявляет интеграционное тестирование</a:t>
            </a:r>
            <a:endParaRPr lang="ru-KZ" sz="3100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9AF78EDE-6FA7-42A4-B8D8-353C87DD2B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2675116"/>
              </p:ext>
            </p:extLst>
          </p:nvPr>
        </p:nvGraphicFramePr>
        <p:xfrm>
          <a:off x="861753" y="1690688"/>
          <a:ext cx="10515600" cy="5120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099560">
                  <a:extLst>
                    <a:ext uri="{9D8B030D-6E8A-4147-A177-3AD203B41FA5}">
                      <a16:colId xmlns:a16="http://schemas.microsoft.com/office/drawing/2014/main" val="1824292337"/>
                    </a:ext>
                  </a:extLst>
                </a:gridCol>
                <a:gridCol w="6416040">
                  <a:extLst>
                    <a:ext uri="{9D8B030D-6E8A-4147-A177-3AD203B41FA5}">
                      <a16:colId xmlns:a16="http://schemas.microsoft.com/office/drawing/2014/main" val="2215273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Вид дефекта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Пример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7211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Неверный формат данных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Frontend отправляет дату 12.05.2025, backend ожидает 2025-05-12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958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Потеря данных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Поле телефона не сохраняется в базе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977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Ошибка </a:t>
                      </a:r>
                      <a:r>
                        <a:rPr lang="en-US" sz="2400"/>
                        <a:t>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Сервер возвращает 500 вместо 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940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Неверная обработка ошибок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При отказе платежа пользователь видит пустой экран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4978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Несовпадение контрактов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API требует поле user_id, frontend отправляет userId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6825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Ошибка авторизации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Один модуль не передает токен другому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7684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Проблема синхронизации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Данные обновились в БД, но не отображаются в интерфейсе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92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258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C0DD912-BB5B-46B6-8723-BBCD9558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k-KZ" dirty="0"/>
              <a:t>Интеграционное тестирование</a:t>
            </a:r>
            <a:br>
              <a:rPr lang="ru-KZ" dirty="0"/>
            </a:br>
            <a:r>
              <a:rPr lang="kk-KZ" sz="3200" dirty="0"/>
              <a:t>Когда применяется интеграционное тестирование</a:t>
            </a:r>
            <a:endParaRPr lang="ru-KZ" sz="31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CF65C9-BCD7-4166-9CE6-C5BEE156B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Интеграционное тестирование применяется:</a:t>
            </a:r>
          </a:p>
          <a:p>
            <a:r>
              <a:rPr lang="ru-RU" dirty="0"/>
              <a:t>после модульного тестирования; </a:t>
            </a:r>
          </a:p>
          <a:p>
            <a:r>
              <a:rPr lang="ru-RU" dirty="0"/>
              <a:t>когда несколько компонентов объединены; </a:t>
            </a:r>
          </a:p>
          <a:p>
            <a:r>
              <a:rPr lang="ru-RU" dirty="0"/>
              <a:t>при подключении нового модуля; </a:t>
            </a:r>
          </a:p>
          <a:p>
            <a:r>
              <a:rPr lang="ru-RU" dirty="0"/>
              <a:t>при изменении API; </a:t>
            </a:r>
          </a:p>
          <a:p>
            <a:r>
              <a:rPr lang="ru-RU" dirty="0"/>
              <a:t>при интеграции с базой данных; </a:t>
            </a:r>
          </a:p>
          <a:p>
            <a:r>
              <a:rPr lang="ru-RU" dirty="0"/>
              <a:t>при подключении внешнего сервиса; </a:t>
            </a:r>
          </a:p>
          <a:p>
            <a:r>
              <a:rPr lang="ru-RU" dirty="0"/>
              <a:t>перед системным тестированием; </a:t>
            </a:r>
          </a:p>
          <a:p>
            <a:r>
              <a:rPr lang="ru-RU" dirty="0"/>
              <a:t>после исправлений в логике взаимодействия. </a:t>
            </a:r>
          </a:p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ru-RU" dirty="0"/>
              <a:t>Сначала разработчик проверил отдельно модуль корзины и отдельно модуль оплаты. Затем нужно проверить, правильно ли корзина передает сумму заказа в оплату. Это уже интеграционное тестирование.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976891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C0DD912-BB5B-46B6-8723-BBCD9558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k-KZ" dirty="0"/>
              <a:t>Интеграционное тестирование</a:t>
            </a:r>
            <a:br>
              <a:rPr lang="ru-KZ" dirty="0"/>
            </a:br>
            <a:r>
              <a:rPr lang="kk-KZ" sz="3200" dirty="0"/>
              <a:t>Подходы к интеграционному тестированию</a:t>
            </a:r>
            <a:endParaRPr lang="ru-KZ" sz="31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4C075FF-AB79-4391-8705-FC7F5892B0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1. </a:t>
            </a:r>
            <a:r>
              <a:rPr lang="ru-RU" b="1" dirty="0" err="1"/>
              <a:t>Big</a:t>
            </a:r>
            <a:r>
              <a:rPr lang="ru-RU" b="1" dirty="0"/>
              <a:t> </a:t>
            </a:r>
            <a:r>
              <a:rPr lang="ru-RU" b="1" dirty="0" err="1"/>
              <a:t>Bang</a:t>
            </a:r>
            <a:r>
              <a:rPr lang="ru-RU" b="1" dirty="0"/>
              <a:t> </a:t>
            </a:r>
            <a:r>
              <a:rPr lang="ru-RU" b="1" dirty="0" err="1"/>
              <a:t>integration</a:t>
            </a:r>
            <a:endParaRPr lang="ru-RU" b="1" dirty="0"/>
          </a:p>
          <a:p>
            <a:pPr marL="0" indent="0">
              <a:buNone/>
            </a:pPr>
            <a:r>
              <a:rPr lang="ru-RU" dirty="0"/>
              <a:t>Все модули объединяются сразу, затем тестируется вся связка.</a:t>
            </a:r>
          </a:p>
          <a:p>
            <a:pPr marL="0" indent="0">
              <a:buNone/>
            </a:pPr>
            <a:r>
              <a:rPr lang="ru-RU" dirty="0"/>
              <a:t>Плюсы:</a:t>
            </a:r>
          </a:p>
          <a:p>
            <a:r>
              <a:rPr lang="ru-RU" dirty="0"/>
              <a:t>быстро начать проверку полной системы; </a:t>
            </a:r>
          </a:p>
          <a:p>
            <a:r>
              <a:rPr lang="ru-RU" dirty="0"/>
              <a:t>удобно для небольших проектов. </a:t>
            </a:r>
          </a:p>
          <a:p>
            <a:pPr marL="0" indent="0">
              <a:buNone/>
            </a:pPr>
            <a:r>
              <a:rPr lang="ru-RU" dirty="0"/>
              <a:t>Минусы:</a:t>
            </a:r>
          </a:p>
          <a:p>
            <a:r>
              <a:rPr lang="ru-RU" dirty="0"/>
              <a:t>трудно найти причину дефекта; </a:t>
            </a:r>
          </a:p>
          <a:p>
            <a:r>
              <a:rPr lang="ru-RU" dirty="0"/>
              <a:t>если что-то сломалось, непонятно, какой модуль виноват.</a:t>
            </a:r>
          </a:p>
          <a:p>
            <a:pPr marL="0" indent="0">
              <a:buNone/>
            </a:pPr>
            <a:endParaRPr lang="ru-KZ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3121A20A-0973-4C81-9CC1-E6ACA2D3ED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2. </a:t>
            </a:r>
            <a:r>
              <a:rPr lang="ru-RU" b="1" dirty="0" err="1"/>
              <a:t>Incremental</a:t>
            </a:r>
            <a:r>
              <a:rPr lang="ru-RU" b="1" dirty="0"/>
              <a:t> </a:t>
            </a:r>
            <a:r>
              <a:rPr lang="ru-RU" b="1" dirty="0" err="1"/>
              <a:t>integration</a:t>
            </a:r>
            <a:endParaRPr lang="ru-RU" b="1" dirty="0"/>
          </a:p>
          <a:p>
            <a:pPr marL="0" indent="0">
              <a:buNone/>
            </a:pPr>
            <a:r>
              <a:rPr lang="ru-RU" dirty="0"/>
              <a:t>Модули подключаются постепенно.</a:t>
            </a:r>
          </a:p>
          <a:p>
            <a:pPr marL="0" indent="0">
              <a:buNone/>
            </a:pPr>
            <a:r>
              <a:rPr lang="ru-RU" dirty="0"/>
              <a:t>Плюсы:</a:t>
            </a:r>
          </a:p>
          <a:p>
            <a:r>
              <a:rPr lang="ru-RU" dirty="0"/>
              <a:t>легче находить ошибки; </a:t>
            </a:r>
          </a:p>
          <a:p>
            <a:r>
              <a:rPr lang="ru-RU" dirty="0"/>
              <a:t>можно контролировать качество на каждом шаге. </a:t>
            </a:r>
          </a:p>
          <a:p>
            <a:pPr marL="0" indent="0">
              <a:buNone/>
            </a:pPr>
            <a:r>
              <a:rPr lang="ru-RU" dirty="0"/>
              <a:t>Минусы:</a:t>
            </a:r>
          </a:p>
          <a:p>
            <a:r>
              <a:rPr lang="ru-RU" dirty="0"/>
              <a:t>требует больше планирования; </a:t>
            </a:r>
          </a:p>
          <a:p>
            <a:r>
              <a:rPr lang="ru-RU" dirty="0"/>
              <a:t>занимает больше времени.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375701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C0DD912-BB5B-46B6-8723-BBCD9558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k-KZ" dirty="0"/>
              <a:t>Интеграционное тестирование</a:t>
            </a:r>
            <a:br>
              <a:rPr lang="ru-KZ" dirty="0"/>
            </a:br>
            <a:r>
              <a:rPr lang="kk-KZ" sz="3200" dirty="0"/>
              <a:t>Подходы к интеграционному тестированию</a:t>
            </a:r>
            <a:endParaRPr lang="ru-KZ" sz="31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4C075FF-AB79-4391-8705-FC7F5892B0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3. </a:t>
            </a:r>
            <a:r>
              <a:rPr lang="ru-RU" b="1" dirty="0" err="1"/>
              <a:t>Top-down</a:t>
            </a:r>
            <a:r>
              <a:rPr lang="ru-RU" b="1" dirty="0"/>
              <a:t> </a:t>
            </a:r>
            <a:r>
              <a:rPr lang="ru-RU" b="1" dirty="0" err="1"/>
              <a:t>integration</a:t>
            </a:r>
            <a:endParaRPr lang="ru-RU" b="1" dirty="0"/>
          </a:p>
          <a:p>
            <a:pPr marL="0" indent="0">
              <a:buNone/>
            </a:pPr>
            <a:r>
              <a:rPr lang="ru-RU" dirty="0"/>
              <a:t>Тестирование начинается с верхних уровней системы, нижние модули могут заменяться заглушками.</a:t>
            </a:r>
          </a:p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ru-RU" dirty="0"/>
              <a:t>Сначала тестируется интерфейс оформления заказа, а платежный сервис временно заменен заглушкой.</a:t>
            </a:r>
          </a:p>
          <a:p>
            <a:pPr marL="0" indent="0">
              <a:buNone/>
            </a:pPr>
            <a:endParaRPr lang="ru-KZ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3121A20A-0973-4C81-9CC1-E6ACA2D3ED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4. </a:t>
            </a:r>
            <a:r>
              <a:rPr lang="ru-RU" b="1" dirty="0" err="1"/>
              <a:t>Bottom-up</a:t>
            </a:r>
            <a:r>
              <a:rPr lang="ru-RU" b="1" dirty="0"/>
              <a:t> </a:t>
            </a:r>
            <a:r>
              <a:rPr lang="ru-RU" b="1" dirty="0" err="1"/>
              <a:t>integration</a:t>
            </a:r>
            <a:endParaRPr lang="ru-RU" b="1" dirty="0"/>
          </a:p>
          <a:p>
            <a:pPr marL="0" indent="0">
              <a:buNone/>
            </a:pPr>
            <a:r>
              <a:rPr lang="ru-RU" dirty="0"/>
              <a:t>Тестирование начинается с нижних модулей, затем подключаются верхние.</a:t>
            </a:r>
          </a:p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ru-RU" dirty="0"/>
              <a:t>Сначала проверяется база данных и API, затем подключается интерфейс.</a:t>
            </a:r>
          </a:p>
          <a:p>
            <a:pPr marL="0" indent="0">
              <a:buNone/>
            </a:pPr>
            <a:r>
              <a:rPr lang="ru-RU" b="1" dirty="0"/>
              <a:t>5. </a:t>
            </a:r>
            <a:r>
              <a:rPr lang="ru-RU" b="1" dirty="0" err="1"/>
              <a:t>Sandwich</a:t>
            </a:r>
            <a:r>
              <a:rPr lang="ru-RU" b="1" dirty="0"/>
              <a:t> / </a:t>
            </a:r>
            <a:r>
              <a:rPr lang="ru-RU" b="1" dirty="0" err="1"/>
              <a:t>Hybrid</a:t>
            </a:r>
            <a:r>
              <a:rPr lang="ru-RU" b="1" dirty="0"/>
              <a:t> </a:t>
            </a:r>
            <a:r>
              <a:rPr lang="ru-RU" b="1" dirty="0" err="1"/>
              <a:t>integration</a:t>
            </a:r>
            <a:endParaRPr lang="ru-RU" b="1" dirty="0"/>
          </a:p>
          <a:p>
            <a:pPr marL="0" indent="0">
              <a:buNone/>
            </a:pPr>
            <a:r>
              <a:rPr lang="ru-RU" dirty="0"/>
              <a:t>Комбинированный подход: часть модулей проверяется сверху вниз, часть снизу вверх.</a:t>
            </a:r>
          </a:p>
        </p:txBody>
      </p:sp>
    </p:spTree>
    <p:extLst>
      <p:ext uri="{BB962C8B-B14F-4D97-AF65-F5344CB8AC3E}">
        <p14:creationId xmlns:p14="http://schemas.microsoft.com/office/powerpoint/2010/main" val="1887177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C0DD912-BB5B-46B6-8723-BBCD9558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k-KZ" dirty="0"/>
              <a:t>Интеграционное тестирование</a:t>
            </a:r>
            <a:br>
              <a:rPr lang="ru-KZ" dirty="0"/>
            </a:br>
            <a:r>
              <a:rPr lang="ru-RU" sz="3200" dirty="0"/>
              <a:t>Как разрабатывать тест-кейсы для интеграционного тестирования</a:t>
            </a:r>
            <a:endParaRPr lang="ru-KZ" sz="31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4C075FF-AB79-4391-8705-FC7F5892B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2633" y="1825625"/>
            <a:ext cx="573716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Алгоритм разработки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/>
              <a:t>Чтобы разработать интеграционные тест-кейсы, нужно: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определить, какие модули взаимодействуют;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изучить интерфейс взаимодействия;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определить входные и выходные данные;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проверить успешный сценарий обмена;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проверить ошибочные сценарии;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проверить обработку отсутствующих или некорректных данных;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проверить </a:t>
            </a:r>
            <a:r>
              <a:rPr lang="ru-RU" sz="2000" dirty="0" err="1"/>
              <a:t>логи</a:t>
            </a:r>
            <a:r>
              <a:rPr lang="ru-RU" sz="2000" dirty="0"/>
              <a:t> и сообщения об ошибках;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проверить сохранение данных;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проверить безопасность передачи данных;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зафиксировать ожидаемый результат.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KZ" sz="2000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3121A20A-0973-4C81-9CC1-E6ACA2D3E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737167" cy="466725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Пример: корзина + оплата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Интеграция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/>
              <a:t>Модуль корзины передает данные в модуль оплаты.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Данные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ID заказа;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список товаров;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количество;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итоговая сумма;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валюта;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пользователь;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способ оплаты.</a:t>
            </a:r>
          </a:p>
        </p:txBody>
      </p:sp>
    </p:spTree>
    <p:extLst>
      <p:ext uri="{BB962C8B-B14F-4D97-AF65-F5344CB8AC3E}">
        <p14:creationId xmlns:p14="http://schemas.microsoft.com/office/powerpoint/2010/main" val="1627495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C0DD912-BB5B-46B6-8723-BBCD9558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k-KZ" dirty="0"/>
              <a:t>Интеграционное тестирование</a:t>
            </a:r>
            <a:br>
              <a:rPr lang="ru-KZ" dirty="0"/>
            </a:br>
            <a:r>
              <a:rPr lang="ru-RU" sz="3200" dirty="0"/>
              <a:t>Как разрабатывать тест-кейсы для интеграционного тестирования</a:t>
            </a:r>
            <a:endParaRPr lang="ru-KZ" sz="3100" dirty="0"/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EE540611-BE78-4875-9C09-529370553D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7486115"/>
              </p:ext>
            </p:extLst>
          </p:nvPr>
        </p:nvGraphicFramePr>
        <p:xfrm>
          <a:off x="326968" y="1474851"/>
          <a:ext cx="11538064" cy="538314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80408">
                  <a:extLst>
                    <a:ext uri="{9D8B030D-6E8A-4147-A177-3AD203B41FA5}">
                      <a16:colId xmlns:a16="http://schemas.microsoft.com/office/drawing/2014/main" val="770010425"/>
                    </a:ext>
                  </a:extLst>
                </a:gridCol>
                <a:gridCol w="3059084">
                  <a:extLst>
                    <a:ext uri="{9D8B030D-6E8A-4147-A177-3AD203B41FA5}">
                      <a16:colId xmlns:a16="http://schemas.microsoft.com/office/drawing/2014/main" val="2664019494"/>
                    </a:ext>
                  </a:extLst>
                </a:gridCol>
                <a:gridCol w="3507971">
                  <a:extLst>
                    <a:ext uri="{9D8B030D-6E8A-4147-A177-3AD203B41FA5}">
                      <a16:colId xmlns:a16="http://schemas.microsoft.com/office/drawing/2014/main" val="3141735857"/>
                    </a:ext>
                  </a:extLst>
                </a:gridCol>
                <a:gridCol w="3790601">
                  <a:extLst>
                    <a:ext uri="{9D8B030D-6E8A-4147-A177-3AD203B41FA5}">
                      <a16:colId xmlns:a16="http://schemas.microsoft.com/office/drawing/2014/main" val="4250594402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r>
                        <a:rPr lang="en-US" sz="2400"/>
                        <a:t>ID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Название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Шаги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Ожидаемый результат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193934196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r>
                        <a:rPr lang="en-US" sz="2400"/>
                        <a:t>INT-001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Успешная передача суммы в оплату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Добавить товар в корзину, перейти к оплате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Сумма в оплате совпадает с суммой корзины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578493795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r>
                        <a:rPr lang="en-US" sz="2400"/>
                        <a:t>INT-002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Оплата пустой корзины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Открыть оплату без товаров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Система запрещает оплату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950549294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r>
                        <a:rPr lang="en-US" sz="2400"/>
                        <a:t>INT-003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Изменение количества перед оплатой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Изменить количество товара и перейти к оплате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В оплату передается обновленная сумма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760536827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r>
                        <a:rPr lang="en-US" sz="2400"/>
                        <a:t>INT-004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Ошибка платежного сервиса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Смоделировать отказ оплаты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Пользователь видит сообщение об ошибке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40047922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r>
                        <a:rPr lang="en-US" sz="2400"/>
                        <a:t>INT-005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Потеря соединения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Прервать соединение во время оплаты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Заказ не должен получить статус «Оплачен»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119848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266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85E1C0-7F9F-4E6C-A715-ACCD52B78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Системное тестирование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753DC7-953A-4410-A733-AD53E9F18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Системное тестирование</a:t>
            </a:r>
            <a:r>
              <a:rPr lang="ru-RU" dirty="0"/>
              <a:t> — это уровень тестирования, при котором проверяется вся система целиком как единый программный продукт.</a:t>
            </a:r>
          </a:p>
          <a:p>
            <a:pPr marL="0" indent="0">
              <a:buNone/>
            </a:pPr>
            <a:r>
              <a:rPr lang="ru-RU" dirty="0"/>
              <a:t>Главный вопрос системного тестирования:</a:t>
            </a:r>
          </a:p>
          <a:p>
            <a:pPr marL="0" indent="0">
              <a:buNone/>
            </a:pPr>
            <a:r>
              <a:rPr lang="ru-RU" dirty="0"/>
              <a:t>Работает ли вся система в целом в соответствии с требованиями?</a:t>
            </a:r>
          </a:p>
          <a:p>
            <a:pPr marL="0" indent="0">
              <a:buNone/>
            </a:pPr>
            <a:r>
              <a:rPr lang="ru-RU" dirty="0"/>
              <a:t>Системное тестирование проводится после модульного и интеграционного тестирования, когда основные компоненты уже объединены.</a:t>
            </a:r>
          </a:p>
          <a:p>
            <a:endParaRPr lang="ru-KZ" dirty="0"/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616677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85E1C0-7F9F-4E6C-A715-ACCD52B78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956" y="-223657"/>
            <a:ext cx="10515600" cy="1443391"/>
          </a:xfrm>
        </p:spPr>
        <p:txBody>
          <a:bodyPr/>
          <a:lstStyle/>
          <a:p>
            <a:r>
              <a:rPr lang="kk-KZ" dirty="0"/>
              <a:t>Системное тестирование</a:t>
            </a:r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91C55C-9D80-46DF-8D4F-DF08263BB6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2756" y="947651"/>
            <a:ext cx="4365567" cy="570253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Что проверяется при системном тестировании</a:t>
            </a:r>
          </a:p>
          <a:p>
            <a:pPr marL="0" indent="0">
              <a:buNone/>
            </a:pPr>
            <a:r>
              <a:rPr lang="ru-RU" dirty="0"/>
              <a:t>Системное тестирование проверяет:</a:t>
            </a:r>
          </a:p>
          <a:p>
            <a:r>
              <a:rPr lang="ru-RU" dirty="0"/>
              <a:t>полный пользовательский сценарий; </a:t>
            </a:r>
          </a:p>
          <a:p>
            <a:r>
              <a:rPr lang="ru-RU" dirty="0"/>
              <a:t>бизнес-процессы; </a:t>
            </a:r>
          </a:p>
          <a:p>
            <a:r>
              <a:rPr lang="ru-RU" dirty="0"/>
              <a:t>работу всех модулей вместе; </a:t>
            </a:r>
          </a:p>
          <a:p>
            <a:r>
              <a:rPr lang="ru-RU" dirty="0"/>
              <a:t>функциональные требования; </a:t>
            </a:r>
          </a:p>
          <a:p>
            <a:r>
              <a:rPr lang="ru-RU" dirty="0"/>
              <a:t>нефункциональные требования; </a:t>
            </a:r>
          </a:p>
          <a:p>
            <a:r>
              <a:rPr lang="ru-RU" dirty="0"/>
              <a:t>интерфейс; </a:t>
            </a:r>
          </a:p>
          <a:p>
            <a:r>
              <a:rPr lang="ru-RU" dirty="0"/>
              <a:t>роли и права доступа; </a:t>
            </a:r>
          </a:p>
          <a:p>
            <a:r>
              <a:rPr lang="ru-RU" dirty="0"/>
              <a:t>обработку ошибок; </a:t>
            </a:r>
          </a:p>
          <a:p>
            <a:r>
              <a:rPr lang="ru-RU" dirty="0"/>
              <a:t>совместимость; </a:t>
            </a:r>
          </a:p>
          <a:p>
            <a:r>
              <a:rPr lang="ru-RU" dirty="0"/>
              <a:t>производительность; </a:t>
            </a:r>
          </a:p>
          <a:p>
            <a:r>
              <a:rPr lang="ru-RU" dirty="0"/>
              <a:t>безопасность.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56DB846A-9F6F-4A64-BE87-753CC5002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98323" y="947651"/>
            <a:ext cx="7360921" cy="570253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Пример системного тестирования</a:t>
            </a:r>
          </a:p>
          <a:p>
            <a:pPr marL="0" indent="0">
              <a:buNone/>
            </a:pPr>
            <a:r>
              <a:rPr lang="ru-RU" dirty="0"/>
              <a:t>Объект: интернет-магазин.</a:t>
            </a:r>
          </a:p>
          <a:p>
            <a:pPr marL="0" indent="0">
              <a:buNone/>
            </a:pPr>
            <a:r>
              <a:rPr lang="ru-RU" dirty="0"/>
              <a:t>Полный сценарий:</a:t>
            </a:r>
          </a:p>
          <a:p>
            <a:r>
              <a:rPr lang="ru-RU" dirty="0"/>
              <a:t>Пользователь открывает сайт. </a:t>
            </a:r>
          </a:p>
          <a:p>
            <a:r>
              <a:rPr lang="ru-RU" dirty="0"/>
              <a:t>Регистрируется. </a:t>
            </a:r>
          </a:p>
          <a:p>
            <a:r>
              <a:rPr lang="ru-RU" dirty="0"/>
              <a:t>Входит в аккаунт. </a:t>
            </a:r>
          </a:p>
          <a:p>
            <a:r>
              <a:rPr lang="ru-RU" dirty="0"/>
              <a:t>Выбирает товар. </a:t>
            </a:r>
          </a:p>
          <a:p>
            <a:r>
              <a:rPr lang="ru-RU" dirty="0"/>
              <a:t>Добавляет товар в корзину. </a:t>
            </a:r>
          </a:p>
          <a:p>
            <a:r>
              <a:rPr lang="ru-RU" dirty="0"/>
              <a:t>Изменяет количество. </a:t>
            </a:r>
          </a:p>
          <a:p>
            <a:r>
              <a:rPr lang="ru-RU" dirty="0"/>
              <a:t>Оформляет заказ. </a:t>
            </a:r>
          </a:p>
          <a:p>
            <a:r>
              <a:rPr lang="ru-RU" dirty="0"/>
              <a:t>Выбирает доставку. </a:t>
            </a:r>
          </a:p>
          <a:p>
            <a:r>
              <a:rPr lang="ru-RU" dirty="0"/>
              <a:t>Оплачивает заказ. </a:t>
            </a:r>
          </a:p>
          <a:p>
            <a:r>
              <a:rPr lang="ru-RU" dirty="0"/>
              <a:t>Получает </a:t>
            </a:r>
            <a:r>
              <a:rPr lang="ru-RU" dirty="0" err="1"/>
              <a:t>email</a:t>
            </a:r>
            <a:r>
              <a:rPr lang="ru-RU" dirty="0"/>
              <a:t>-подтверждение. </a:t>
            </a:r>
          </a:p>
          <a:p>
            <a:r>
              <a:rPr lang="ru-RU" dirty="0"/>
              <a:t>Проверяет заказ в личном кабинете. </a:t>
            </a:r>
          </a:p>
          <a:p>
            <a:pPr marL="0" indent="0">
              <a:buNone/>
            </a:pPr>
            <a:r>
              <a:rPr lang="ru-RU" dirty="0"/>
              <a:t>Это системное тестирование, потому что проверяется не один модуль и не только взаимодействие двух модулей, а вся система целиком.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511811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B98D30-EB1E-40BC-BCF1-C6DD7D7F0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проверок в системном тестировании</a:t>
            </a:r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2BB722F-C9C3-4055-8126-B47F2D1617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2256986"/>
              </p:ext>
            </p:extLst>
          </p:nvPr>
        </p:nvGraphicFramePr>
        <p:xfrm>
          <a:off x="838200" y="1519945"/>
          <a:ext cx="1051560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66804">
                  <a:extLst>
                    <a:ext uri="{9D8B030D-6E8A-4147-A177-3AD203B41FA5}">
                      <a16:colId xmlns:a16="http://schemas.microsoft.com/office/drawing/2014/main" val="2689033346"/>
                    </a:ext>
                  </a:extLst>
                </a:gridCol>
                <a:gridCol w="6648796">
                  <a:extLst>
                    <a:ext uri="{9D8B030D-6E8A-4147-A177-3AD203B41FA5}">
                      <a16:colId xmlns:a16="http://schemas.microsoft.com/office/drawing/2014/main" val="7081696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Проверка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Пример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472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Функциональная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Пользователь может оформить заказ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295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Нефункциональная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Сайт работает при 1000 пользователях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3538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Все элементы интерфейса отображаются корректно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2554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Пользователь не видит чужие заказы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901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Compatibility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Сайт работает в разных браузерах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1147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Usability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Пользователь понимает путь оформления заказа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027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Error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При ошибке оплаты отображается понятное сообщение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0267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888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84911-9C0F-4582-B971-38CDF3407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KZ" dirty="0"/>
              <a:t>К</a:t>
            </a:r>
            <a:r>
              <a:rPr lang="ru-RU" dirty="0" err="1"/>
              <a:t>акие</a:t>
            </a:r>
            <a:r>
              <a:rPr lang="ru-RU" dirty="0"/>
              <a:t> дефекты выявляет системное тестирование</a:t>
            </a:r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2B02F66-4F0A-4413-BCBE-F855C00099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8122930"/>
              </p:ext>
            </p:extLst>
          </p:nvPr>
        </p:nvGraphicFramePr>
        <p:xfrm>
          <a:off x="838200" y="1690688"/>
          <a:ext cx="10515600" cy="4754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864331">
                  <a:extLst>
                    <a:ext uri="{9D8B030D-6E8A-4147-A177-3AD203B41FA5}">
                      <a16:colId xmlns:a16="http://schemas.microsoft.com/office/drawing/2014/main" val="4068263621"/>
                    </a:ext>
                  </a:extLst>
                </a:gridCol>
                <a:gridCol w="5651269">
                  <a:extLst>
                    <a:ext uri="{9D8B030D-6E8A-4147-A177-3AD203B41FA5}">
                      <a16:colId xmlns:a16="http://schemas.microsoft.com/office/drawing/2014/main" val="2071863255"/>
                    </a:ext>
                  </a:extLst>
                </a:gridCol>
              </a:tblGrid>
              <a:tr h="225710">
                <a:tc>
                  <a:txBody>
                    <a:bodyPr/>
                    <a:lstStyle/>
                    <a:p>
                      <a:r>
                        <a:rPr lang="kk-KZ" sz="2400" b="1" dirty="0"/>
                        <a:t>Дефект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Пример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8441835"/>
                  </a:ext>
                </a:extLst>
              </a:tr>
              <a:tr h="446949">
                <a:tc>
                  <a:txBody>
                    <a:bodyPr/>
                    <a:lstStyle/>
                    <a:p>
                      <a:r>
                        <a:rPr lang="kk-KZ" sz="2400"/>
                        <a:t>Нарушение бизнес-сценария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Заказ создается без оплаты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376297"/>
                  </a:ext>
                </a:extLst>
              </a:tr>
              <a:tr h="446949">
                <a:tc>
                  <a:txBody>
                    <a:bodyPr/>
                    <a:lstStyle/>
                    <a:p>
                      <a:r>
                        <a:rPr lang="kk-KZ" sz="2400"/>
                        <a:t>Ошибка ролей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Обычный пользователь видит админ-панель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2402107"/>
                  </a:ext>
                </a:extLst>
              </a:tr>
              <a:tr h="446949">
                <a:tc>
                  <a:txBody>
                    <a:bodyPr/>
                    <a:lstStyle/>
                    <a:p>
                      <a:r>
                        <a:rPr lang="kk-KZ" sz="2400"/>
                        <a:t>Проблема полного процесса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Товар добавлен, но не отображается в заказе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7229512"/>
                  </a:ext>
                </a:extLst>
              </a:tr>
              <a:tr h="446949">
                <a:tc>
                  <a:txBody>
                    <a:bodyPr/>
                    <a:lstStyle/>
                    <a:p>
                      <a:r>
                        <a:rPr lang="kk-KZ" sz="2400"/>
                        <a:t>Ошибка уведомлений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Email не отправляется после оплаты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9999906"/>
                  </a:ext>
                </a:extLst>
              </a:tr>
              <a:tr h="446949">
                <a:tc>
                  <a:txBody>
                    <a:bodyPr/>
                    <a:lstStyle/>
                    <a:p>
                      <a:r>
                        <a:rPr lang="kk-KZ" sz="2400"/>
                        <a:t>Проблема совместимости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В Safari не работает кнопка оплаты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404239"/>
                  </a:ext>
                </a:extLst>
              </a:tr>
              <a:tr h="446949">
                <a:tc>
                  <a:txBody>
                    <a:bodyPr/>
                    <a:lstStyle/>
                    <a:p>
                      <a:r>
                        <a:rPr lang="kk-KZ" sz="2400"/>
                        <a:t>Производительность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Система медленно работает при нагрузке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3969809"/>
                  </a:ext>
                </a:extLst>
              </a:tr>
              <a:tr h="782161">
                <a:tc>
                  <a:txBody>
                    <a:bodyPr/>
                    <a:lstStyle/>
                    <a:p>
                      <a:r>
                        <a:rPr lang="kk-KZ" sz="2400"/>
                        <a:t>Некорректная обработка ошибок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При сбое сервера пользователь видит технический текст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8660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941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BB666A-E808-4698-870D-0F22298E1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Приемочное тестирование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E42239-9CA9-4A42-B10D-BB06C7264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Приемочное тестирование</a:t>
            </a:r>
            <a:r>
              <a:rPr lang="ru-RU" dirty="0"/>
              <a:t> — это уровень тестирования, при котором проверяется, готов ли продукт к использованию заказчиком, пользователем или бизнесом.</a:t>
            </a:r>
          </a:p>
          <a:p>
            <a:pPr marL="0" indent="0">
              <a:buNone/>
            </a:pPr>
            <a:r>
              <a:rPr lang="ru-RU" dirty="0"/>
              <a:t>Главный вопрос приемочного тестирования:</a:t>
            </a:r>
          </a:p>
          <a:p>
            <a:pPr marL="0" indent="0">
              <a:buNone/>
            </a:pPr>
            <a:r>
              <a:rPr lang="ru-RU" dirty="0"/>
              <a:t>Можно ли принять продукт и передать его в эксплуатацию?</a:t>
            </a:r>
          </a:p>
          <a:p>
            <a:pPr marL="0" indent="0">
              <a:buNone/>
            </a:pPr>
            <a:r>
              <a:rPr lang="ru-RU" dirty="0"/>
              <a:t>Приемочное тестирование обычно проводится на завершающем этапе перед релизом или передачей продукта заказчику.</a:t>
            </a:r>
          </a:p>
          <a:p>
            <a:endParaRPr lang="ru-KZ" dirty="0"/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753741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BB666A-E808-4698-870D-0F22298E1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Приемочное тестирование</a:t>
            </a:r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70CDED7-357A-4464-8054-56A384C718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135" y="1825625"/>
            <a:ext cx="5670665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Цели приемочного тестирования</a:t>
            </a:r>
          </a:p>
          <a:p>
            <a:pPr marL="0" indent="0">
              <a:buNone/>
            </a:pPr>
            <a:r>
              <a:rPr lang="ru-RU" dirty="0"/>
              <a:t>Цели: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подтвердить соответствие продукта бизнес-требованиям;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проверить готовность системы к использованию;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убедиться, что критичные функции работают;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получить подтверждение от заказчика или пользователя;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принять решение о релизе;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выявить блокирующие проблемы перед запуском.</a:t>
            </a:r>
          </a:p>
          <a:p>
            <a:endParaRPr lang="ru-KZ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39B212F5-F050-4465-BB3E-0A83B99C14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Кто участвует в приемочном тестировании</a:t>
            </a:r>
          </a:p>
          <a:p>
            <a:pPr marL="0" indent="0">
              <a:buNone/>
            </a:pPr>
            <a:r>
              <a:rPr lang="ru-RU" dirty="0"/>
              <a:t>Участвовать могут:</a:t>
            </a:r>
          </a:p>
          <a:p>
            <a:r>
              <a:rPr lang="ru-RU" dirty="0"/>
              <a:t>заказчик; </a:t>
            </a:r>
          </a:p>
          <a:p>
            <a:r>
              <a:rPr lang="ru-RU" dirty="0" err="1"/>
              <a:t>Product</a:t>
            </a:r>
            <a:r>
              <a:rPr lang="ru-RU" dirty="0"/>
              <a:t> </a:t>
            </a:r>
            <a:r>
              <a:rPr lang="ru-RU" dirty="0" err="1"/>
              <a:t>Owner</a:t>
            </a:r>
            <a:r>
              <a:rPr lang="ru-RU" dirty="0"/>
              <a:t>; </a:t>
            </a:r>
          </a:p>
          <a:p>
            <a:r>
              <a:rPr lang="ru-RU" dirty="0"/>
              <a:t>бизнес-аналитик; </a:t>
            </a:r>
          </a:p>
          <a:p>
            <a:r>
              <a:rPr lang="ru-RU" dirty="0"/>
              <a:t>конечные пользователи; </a:t>
            </a:r>
          </a:p>
          <a:p>
            <a:r>
              <a:rPr lang="ru-RU" dirty="0"/>
              <a:t>QA-инженер; </a:t>
            </a:r>
          </a:p>
          <a:p>
            <a:r>
              <a:rPr lang="ru-RU" dirty="0"/>
              <a:t>представители бизнеса; </a:t>
            </a:r>
          </a:p>
          <a:p>
            <a:r>
              <a:rPr lang="ru-RU" dirty="0"/>
              <a:t>преподаватель или комиссия — если речь об учебном проекте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4227108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BB666A-E808-4698-870D-0F22298E1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Приемочное тестирование</a:t>
            </a:r>
            <a:br>
              <a:rPr lang="ru-KZ" dirty="0"/>
            </a:br>
            <a:r>
              <a:rPr lang="kk-KZ" sz="2400" dirty="0"/>
              <a:t>Виды приемочного тестирования</a:t>
            </a:r>
            <a:endParaRPr lang="ru-KZ" sz="2400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842557A5-4101-4299-90CC-168A221CDC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8669863"/>
              </p:ext>
            </p:extLst>
          </p:nvPr>
        </p:nvGraphicFramePr>
        <p:xfrm>
          <a:off x="838200" y="1690688"/>
          <a:ext cx="10515600" cy="4663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83676">
                  <a:extLst>
                    <a:ext uri="{9D8B030D-6E8A-4147-A177-3AD203B41FA5}">
                      <a16:colId xmlns:a16="http://schemas.microsoft.com/office/drawing/2014/main" val="873559937"/>
                    </a:ext>
                  </a:extLst>
                </a:gridCol>
                <a:gridCol w="6731924">
                  <a:extLst>
                    <a:ext uri="{9D8B030D-6E8A-4147-A177-3AD203B41FA5}">
                      <a16:colId xmlns:a16="http://schemas.microsoft.com/office/drawing/2014/main" val="18979913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Вид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Описание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845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User Acceptance Testing, UAT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Пользователь проверяет, можно ли использовать продукт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4300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Business Acceptance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Бизнес проверяет соответствие целям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6065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Contract Acceptance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Проверка по условиям договора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557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Regulatory Acceptance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Проверка соответствия стандартам и нормам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01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Alpha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Проверка внутри организации до внешнего релиза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343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Beta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Проверка внешними пользователями до финального выпуска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6002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152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BB666A-E808-4698-870D-0F22298E1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Приемочное тестирование</a:t>
            </a:r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70CDED7-357A-4464-8054-56A384C718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135" y="1825625"/>
            <a:ext cx="4638501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/>
              <a:t>Пример приемочного тестирования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/>
              <a:t>Объект: система сдачи домашних заданий.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/>
              <a:t>Бизнес-требования: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Студент может загрузить работу.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Преподаватель может открыть работу.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Преподаватель может поставить оценку.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Студент видит оценку.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Система хранит историю сдачи.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/>
              <a:t>Приемочные сценарии: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3101A3DB-B8AE-42B3-B2A7-F724B2FDAD1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75858950"/>
              </p:ext>
            </p:extLst>
          </p:nvPr>
        </p:nvGraphicFramePr>
        <p:xfrm>
          <a:off x="5153891" y="1961803"/>
          <a:ext cx="6833061" cy="43204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46909">
                  <a:extLst>
                    <a:ext uri="{9D8B030D-6E8A-4147-A177-3AD203B41FA5}">
                      <a16:colId xmlns:a16="http://schemas.microsoft.com/office/drawing/2014/main" val="523705067"/>
                    </a:ext>
                  </a:extLst>
                </a:gridCol>
                <a:gridCol w="2543695">
                  <a:extLst>
                    <a:ext uri="{9D8B030D-6E8A-4147-A177-3AD203B41FA5}">
                      <a16:colId xmlns:a16="http://schemas.microsoft.com/office/drawing/2014/main" val="1420534769"/>
                    </a:ext>
                  </a:extLst>
                </a:gridCol>
                <a:gridCol w="3042457">
                  <a:extLst>
                    <a:ext uri="{9D8B030D-6E8A-4147-A177-3AD203B41FA5}">
                      <a16:colId xmlns:a16="http://schemas.microsoft.com/office/drawing/2014/main" val="544800316"/>
                    </a:ext>
                  </a:extLst>
                </a:gridCol>
              </a:tblGrid>
              <a:tr h="481157">
                <a:tc>
                  <a:txBody>
                    <a:bodyPr/>
                    <a:lstStyle/>
                    <a:p>
                      <a:r>
                        <a:rPr lang="en-US" sz="2000" b="1" dirty="0"/>
                        <a:t>ID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Сценарий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Критерий приемки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770163941"/>
                  </a:ext>
                </a:extLst>
              </a:tr>
              <a:tr h="843337">
                <a:tc>
                  <a:txBody>
                    <a:bodyPr/>
                    <a:lstStyle/>
                    <a:p>
                      <a:r>
                        <a:rPr lang="en-US" sz="2000"/>
                        <a:t>UAT-001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Студент загружает файл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Файл отображается в списке работ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212731692"/>
                  </a:ext>
                </a:extLst>
              </a:tr>
              <a:tr h="481157">
                <a:tc>
                  <a:txBody>
                    <a:bodyPr/>
                    <a:lstStyle/>
                    <a:p>
                      <a:r>
                        <a:rPr lang="en-US" sz="2000"/>
                        <a:t>UAT-002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Преподаватель открывает файл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Файл доступен для просмотра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907877360"/>
                  </a:ext>
                </a:extLst>
              </a:tr>
              <a:tr h="481157">
                <a:tc>
                  <a:txBody>
                    <a:bodyPr/>
                    <a:lstStyle/>
                    <a:p>
                      <a:r>
                        <a:rPr lang="en-US" sz="2000"/>
                        <a:t>UAT-003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Преподаватель ставит оценку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Оценка сохраняется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4187185694"/>
                  </a:ext>
                </a:extLst>
              </a:tr>
              <a:tr h="843337">
                <a:tc>
                  <a:txBody>
                    <a:bodyPr/>
                    <a:lstStyle/>
                    <a:p>
                      <a:r>
                        <a:rPr lang="en-US" sz="2000"/>
                        <a:t>UAT-004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Студент видит результат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Оценка отображается в личном кабинете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716390877"/>
                  </a:ext>
                </a:extLst>
              </a:tr>
              <a:tr h="843337">
                <a:tc>
                  <a:txBody>
                    <a:bodyPr/>
                    <a:lstStyle/>
                    <a:p>
                      <a:r>
                        <a:rPr lang="en-US" sz="2000"/>
                        <a:t>UAT-005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История сохраняется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Дата и статус сдачи отображаются корректно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448170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2197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9470E5EC-4865-400E-8C42-443A9FF95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Отличие системного и приемочного тестирования</a:t>
            </a:r>
            <a:endParaRPr lang="ru-KZ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1B25BD90-B1AB-421E-BB4F-A4DD7AC057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7361130"/>
              </p:ext>
            </p:extLst>
          </p:nvPr>
        </p:nvGraphicFramePr>
        <p:xfrm>
          <a:off x="845127" y="1881184"/>
          <a:ext cx="10515600" cy="42937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4258">
                  <a:extLst>
                    <a:ext uri="{9D8B030D-6E8A-4147-A177-3AD203B41FA5}">
                      <a16:colId xmlns:a16="http://schemas.microsoft.com/office/drawing/2014/main" val="2028861733"/>
                    </a:ext>
                  </a:extLst>
                </a:gridCol>
                <a:gridCol w="4189615">
                  <a:extLst>
                    <a:ext uri="{9D8B030D-6E8A-4147-A177-3AD203B41FA5}">
                      <a16:colId xmlns:a16="http://schemas.microsoft.com/office/drawing/2014/main" val="403437923"/>
                    </a:ext>
                  </a:extLst>
                </a:gridCol>
                <a:gridCol w="4121727">
                  <a:extLst>
                    <a:ext uri="{9D8B030D-6E8A-4147-A177-3AD203B41FA5}">
                      <a16:colId xmlns:a16="http://schemas.microsoft.com/office/drawing/2014/main" val="310485431"/>
                    </a:ext>
                  </a:extLst>
                </a:gridCol>
              </a:tblGrid>
              <a:tr h="180230">
                <a:tc>
                  <a:txBody>
                    <a:bodyPr/>
                    <a:lstStyle/>
                    <a:p>
                      <a:r>
                        <a:rPr lang="kk-KZ" sz="2400" b="1" dirty="0"/>
                        <a:t>Критерий</a:t>
                      </a:r>
                    </a:p>
                  </a:txBody>
                  <a:tcPr marL="91439" marR="91439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Системное тестирование</a:t>
                      </a:r>
                    </a:p>
                  </a:txBody>
                  <a:tcPr marL="91439" marR="91439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Приемочное тестирование</a:t>
                      </a:r>
                    </a:p>
                  </a:txBody>
                  <a:tcPr marL="91439" marR="91439" marT="22529" marB="22529" anchor="ctr"/>
                </a:tc>
                <a:extLst>
                  <a:ext uri="{0D108BD9-81ED-4DB2-BD59-A6C34878D82A}">
                    <a16:rowId xmlns:a16="http://schemas.microsoft.com/office/drawing/2014/main" val="562413775"/>
                  </a:ext>
                </a:extLst>
              </a:tr>
              <a:tr h="315402">
                <a:tc>
                  <a:txBody>
                    <a:bodyPr/>
                    <a:lstStyle/>
                    <a:p>
                      <a:r>
                        <a:rPr lang="kk-KZ" sz="2400"/>
                        <a:t>Кто проводит</a:t>
                      </a:r>
                    </a:p>
                  </a:txBody>
                  <a:tcPr marL="91439" marR="91439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QA-</a:t>
                      </a:r>
                      <a:r>
                        <a:rPr lang="kk-KZ" sz="2400"/>
                        <a:t>команда</a:t>
                      </a:r>
                    </a:p>
                  </a:txBody>
                  <a:tcPr marL="91439" marR="91439" marT="22529" marB="22529"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Заказчик, пользователь, Product Owner, QA</a:t>
                      </a:r>
                    </a:p>
                  </a:txBody>
                  <a:tcPr marL="91439" marR="91439" marT="22529" marB="22529" anchor="ctr"/>
                </a:tc>
                <a:extLst>
                  <a:ext uri="{0D108BD9-81ED-4DB2-BD59-A6C34878D82A}">
                    <a16:rowId xmlns:a16="http://schemas.microsoft.com/office/drawing/2014/main" val="182466580"/>
                  </a:ext>
                </a:extLst>
              </a:tr>
              <a:tr h="315402">
                <a:tc>
                  <a:txBody>
                    <a:bodyPr/>
                    <a:lstStyle/>
                    <a:p>
                      <a:r>
                        <a:rPr lang="kk-KZ" sz="2400" dirty="0"/>
                        <a:t>Цель</a:t>
                      </a:r>
                    </a:p>
                  </a:txBody>
                  <a:tcPr marL="91439" marR="91439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Проверить систему по требованиям</a:t>
                      </a:r>
                    </a:p>
                  </a:txBody>
                  <a:tcPr marL="91439" marR="91439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Подтвердить готовность к использованию</a:t>
                      </a:r>
                    </a:p>
                  </a:txBody>
                  <a:tcPr marL="91439" marR="91439" marT="22529" marB="22529" anchor="ctr"/>
                </a:tc>
                <a:extLst>
                  <a:ext uri="{0D108BD9-81ED-4DB2-BD59-A6C34878D82A}">
                    <a16:rowId xmlns:a16="http://schemas.microsoft.com/office/drawing/2014/main" val="223302701"/>
                  </a:ext>
                </a:extLst>
              </a:tr>
              <a:tr h="315402">
                <a:tc>
                  <a:txBody>
                    <a:bodyPr/>
                    <a:lstStyle/>
                    <a:p>
                      <a:r>
                        <a:rPr lang="kk-KZ" sz="2400"/>
                        <a:t>Фокус</a:t>
                      </a:r>
                    </a:p>
                  </a:txBody>
                  <a:tcPr marL="91439" marR="91439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Техническое и функциональное качество</a:t>
                      </a:r>
                    </a:p>
                  </a:txBody>
                  <a:tcPr marL="91439" marR="91439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Бизнес-ценность и готовность</a:t>
                      </a:r>
                    </a:p>
                  </a:txBody>
                  <a:tcPr marL="91439" marR="91439" marT="22529" marB="22529" anchor="ctr"/>
                </a:tc>
                <a:extLst>
                  <a:ext uri="{0D108BD9-81ED-4DB2-BD59-A6C34878D82A}">
                    <a16:rowId xmlns:a16="http://schemas.microsoft.com/office/drawing/2014/main" val="833938582"/>
                  </a:ext>
                </a:extLst>
              </a:tr>
              <a:tr h="315402">
                <a:tc>
                  <a:txBody>
                    <a:bodyPr/>
                    <a:lstStyle/>
                    <a:p>
                      <a:r>
                        <a:rPr lang="kk-KZ" sz="2400"/>
                        <a:t>Пример</a:t>
                      </a:r>
                    </a:p>
                  </a:txBody>
                  <a:tcPr marL="91439" marR="91439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Проверить все функции интернет-магазина</a:t>
                      </a:r>
                    </a:p>
                  </a:txBody>
                  <a:tcPr marL="91439" marR="91439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Заказчик принимает интернет-магазин</a:t>
                      </a:r>
                    </a:p>
                  </a:txBody>
                  <a:tcPr marL="91439" marR="91439" marT="22529" marB="22529" anchor="ctr"/>
                </a:tc>
                <a:extLst>
                  <a:ext uri="{0D108BD9-81ED-4DB2-BD59-A6C34878D82A}">
                    <a16:rowId xmlns:a16="http://schemas.microsoft.com/office/drawing/2014/main" val="2056367210"/>
                  </a:ext>
                </a:extLst>
              </a:tr>
              <a:tr h="315402">
                <a:tc>
                  <a:txBody>
                    <a:bodyPr/>
                    <a:lstStyle/>
                    <a:p>
                      <a:r>
                        <a:rPr lang="kk-KZ" sz="2400"/>
                        <a:t>Результат</a:t>
                      </a:r>
                    </a:p>
                  </a:txBody>
                  <a:tcPr marL="91439" marR="91439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Отчет о качестве</a:t>
                      </a:r>
                    </a:p>
                  </a:txBody>
                  <a:tcPr marL="91439" marR="91439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Решение: принять или доработать</a:t>
                      </a:r>
                    </a:p>
                  </a:txBody>
                  <a:tcPr marL="91439" marR="91439" marT="22529" marB="22529" anchor="ctr"/>
                </a:tc>
                <a:extLst>
                  <a:ext uri="{0D108BD9-81ED-4DB2-BD59-A6C34878D82A}">
                    <a16:rowId xmlns:a16="http://schemas.microsoft.com/office/drawing/2014/main" val="1087479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777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74092-C0B4-448E-B773-79A19622C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Связь уровней тестирования с этапами разработки</a:t>
            </a:r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72CDB9D-14FD-46E3-8338-16BA3430A1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0407436"/>
              </p:ext>
            </p:extLst>
          </p:nvPr>
        </p:nvGraphicFramePr>
        <p:xfrm>
          <a:off x="332509" y="1690688"/>
          <a:ext cx="11355186" cy="1981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85062">
                  <a:extLst>
                    <a:ext uri="{9D8B030D-6E8A-4147-A177-3AD203B41FA5}">
                      <a16:colId xmlns:a16="http://schemas.microsoft.com/office/drawing/2014/main" val="245653855"/>
                    </a:ext>
                  </a:extLst>
                </a:gridCol>
                <a:gridCol w="3785062">
                  <a:extLst>
                    <a:ext uri="{9D8B030D-6E8A-4147-A177-3AD203B41FA5}">
                      <a16:colId xmlns:a16="http://schemas.microsoft.com/office/drawing/2014/main" val="4234798267"/>
                    </a:ext>
                  </a:extLst>
                </a:gridCol>
                <a:gridCol w="3785062">
                  <a:extLst>
                    <a:ext uri="{9D8B030D-6E8A-4147-A177-3AD203B41FA5}">
                      <a16:colId xmlns:a16="http://schemas.microsoft.com/office/drawing/2014/main" val="5430942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000" b="1" dirty="0"/>
                        <a:t>Этап разработки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Уровень тестирования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Что проверяется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234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Написание отдельной функции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Модульное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Корректность функции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2338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Объединение компонентов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Интеграционное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Взаимодействие модулей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7829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Готовая сборка продукта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Системное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Работа всей системы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765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Передача заказчику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Приемочное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Готовность к использованию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026041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108CA59-693A-4B5A-92B1-06DFD8824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027445"/>
              </p:ext>
            </p:extLst>
          </p:nvPr>
        </p:nvGraphicFramePr>
        <p:xfrm>
          <a:off x="971204" y="4252912"/>
          <a:ext cx="10515600" cy="1981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4694776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129861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000" b="1" dirty="0"/>
                        <a:t>Разработка интернет-магазина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Тестирование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265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Написана функция расчета скидки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Модульное тестирование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809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Корзина связана с оплатой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Интеграционное тестирование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939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Собран весь интернет-магазин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Системное тестирование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789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Заказчик проверяет готовность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Приемочное тестирование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682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6109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0D3BB3-6384-4015-883A-CD0AB2BFC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Сравнение всех уровней тестирования</a:t>
            </a:r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D2D36E6-D1FE-4359-BFE0-ED4B6DC739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2668400"/>
              </p:ext>
            </p:extLst>
          </p:nvPr>
        </p:nvGraphicFramePr>
        <p:xfrm>
          <a:off x="391975" y="1446415"/>
          <a:ext cx="11345595" cy="5157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69119">
                  <a:extLst>
                    <a:ext uri="{9D8B030D-6E8A-4147-A177-3AD203B41FA5}">
                      <a16:colId xmlns:a16="http://schemas.microsoft.com/office/drawing/2014/main" val="2930294500"/>
                    </a:ext>
                  </a:extLst>
                </a:gridCol>
                <a:gridCol w="2269119">
                  <a:extLst>
                    <a:ext uri="{9D8B030D-6E8A-4147-A177-3AD203B41FA5}">
                      <a16:colId xmlns:a16="http://schemas.microsoft.com/office/drawing/2014/main" val="1205377682"/>
                    </a:ext>
                  </a:extLst>
                </a:gridCol>
                <a:gridCol w="2269119">
                  <a:extLst>
                    <a:ext uri="{9D8B030D-6E8A-4147-A177-3AD203B41FA5}">
                      <a16:colId xmlns:a16="http://schemas.microsoft.com/office/drawing/2014/main" val="4104079323"/>
                    </a:ext>
                  </a:extLst>
                </a:gridCol>
                <a:gridCol w="2269119">
                  <a:extLst>
                    <a:ext uri="{9D8B030D-6E8A-4147-A177-3AD203B41FA5}">
                      <a16:colId xmlns:a16="http://schemas.microsoft.com/office/drawing/2014/main" val="2506424850"/>
                    </a:ext>
                  </a:extLst>
                </a:gridCol>
                <a:gridCol w="2269119">
                  <a:extLst>
                    <a:ext uri="{9D8B030D-6E8A-4147-A177-3AD203B41FA5}">
                      <a16:colId xmlns:a16="http://schemas.microsoft.com/office/drawing/2014/main" val="1238039554"/>
                    </a:ext>
                  </a:extLst>
                </a:gridCol>
              </a:tblGrid>
              <a:tr h="363888">
                <a:tc>
                  <a:txBody>
                    <a:bodyPr/>
                    <a:lstStyle/>
                    <a:p>
                      <a:r>
                        <a:rPr lang="kk-KZ" sz="2000" b="1" dirty="0"/>
                        <a:t>Критерий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Модульное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Интеграционное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Системное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Приемочное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254374487"/>
                  </a:ext>
                </a:extLst>
              </a:tr>
              <a:tr h="636804">
                <a:tc>
                  <a:txBody>
                    <a:bodyPr/>
                    <a:lstStyle/>
                    <a:p>
                      <a:r>
                        <a:rPr lang="kk-KZ" sz="2000" b="1" dirty="0"/>
                        <a:t>Объект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Функция, метод, модуль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Несколько модулей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Вся система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Готовый продукт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756828593"/>
                  </a:ext>
                </a:extLst>
              </a:tr>
              <a:tr h="636804">
                <a:tc>
                  <a:txBody>
                    <a:bodyPr/>
                    <a:lstStyle/>
                    <a:p>
                      <a:r>
                        <a:rPr lang="kk-KZ" sz="2000" b="1" dirty="0"/>
                        <a:t>Цель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Проверить отдельную часть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Проверить взаимодействие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Проверить систему целиком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Подтвердить готовность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731640978"/>
                  </a:ext>
                </a:extLst>
              </a:tr>
              <a:tr h="636804">
                <a:tc>
                  <a:txBody>
                    <a:bodyPr/>
                    <a:lstStyle/>
                    <a:p>
                      <a:r>
                        <a:rPr lang="kk-KZ" sz="2000" b="1" dirty="0"/>
                        <a:t>Кто чаще выполняет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Разработчик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QA, </a:t>
                      </a:r>
                      <a:r>
                        <a:rPr lang="kk-KZ" sz="2000"/>
                        <a:t>разработчик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QA-</a:t>
                      </a:r>
                      <a:r>
                        <a:rPr lang="kk-KZ" sz="2000"/>
                        <a:t>команда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Заказчик, пользователи, </a:t>
                      </a:r>
                      <a:r>
                        <a:rPr lang="en-US" sz="2000"/>
                        <a:t>QA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080026045"/>
                  </a:ext>
                </a:extLst>
              </a:tr>
              <a:tr h="909721">
                <a:tc>
                  <a:txBody>
                    <a:bodyPr/>
                    <a:lstStyle/>
                    <a:p>
                      <a:r>
                        <a:rPr lang="kk-KZ" sz="2000" b="1" dirty="0"/>
                        <a:t>Когда проводится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Рано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После объединения модулей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После интеграции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Перед релизом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696781190"/>
                  </a:ext>
                </a:extLst>
              </a:tr>
              <a:tr h="909721">
                <a:tc>
                  <a:txBody>
                    <a:bodyPr/>
                    <a:lstStyle/>
                    <a:p>
                      <a:r>
                        <a:rPr lang="kk-KZ" sz="2000" b="1" dirty="0"/>
                        <a:t>Пример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Проверка функции скидки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Корзина + оплата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Покупка товара полностью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Заказчик принимает магазин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86115537"/>
                  </a:ext>
                </a:extLst>
              </a:tr>
              <a:tr h="636804">
                <a:tc>
                  <a:txBody>
                    <a:bodyPr/>
                    <a:lstStyle/>
                    <a:p>
                      <a:r>
                        <a:rPr lang="kk-KZ" sz="2000" b="1" dirty="0"/>
                        <a:t>Какие дефекты находит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Ошибки логики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Ошибки взаимодействия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Ошибки бизнес-процесса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Несоответствие ожиданиям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250017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369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0FA97B-DF24-48B8-BDD2-03E839C57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17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Пример на одном проекте</a:t>
            </a:r>
            <a:br>
              <a:rPr lang="ru-RU" b="1" dirty="0"/>
            </a:br>
            <a:r>
              <a:rPr lang="ru-RU" sz="2700" dirty="0"/>
              <a:t>Проект: </a:t>
            </a:r>
            <a:r>
              <a:rPr lang="ru-RU" sz="2700" b="1" dirty="0"/>
              <a:t>форма регистрации и личный кабинет студента</a:t>
            </a:r>
            <a:r>
              <a:rPr lang="ru-RU" sz="2700" dirty="0"/>
              <a:t>.</a:t>
            </a:r>
            <a:endParaRPr lang="ru-KZ" sz="2700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DC35FE9-D05D-48C7-BADA-C2DFCD29F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175" y="1379916"/>
            <a:ext cx="4415444" cy="124429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k-KZ" b="1" dirty="0"/>
              <a:t>Модульное тестирование</a:t>
            </a:r>
            <a:endParaRPr lang="ru-KZ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k-KZ" dirty="0"/>
              <a:t>Проверяется функция валидации </a:t>
            </a:r>
            <a:r>
              <a:rPr lang="en-US" dirty="0"/>
              <a:t>email.</a:t>
            </a:r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2A5C7EE-E9C4-4CD1-B894-170703E19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54633" y="1379916"/>
            <a:ext cx="7049192" cy="88178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k-KZ" b="1" dirty="0"/>
              <a:t>Интеграционное тестирование</a:t>
            </a:r>
            <a:endParaRPr lang="ru-KZ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/>
              <a:t>Проверяется связь формы регистрации и </a:t>
            </a:r>
            <a:r>
              <a:rPr lang="ru-KZ" dirty="0"/>
              <a:t>БД</a:t>
            </a:r>
            <a:r>
              <a:rPr lang="ru-RU" dirty="0"/>
              <a:t>.</a:t>
            </a:r>
            <a:endParaRPr lang="ru-KZ" dirty="0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288304A0-7FFB-453D-A316-4A85A2758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60516"/>
              </p:ext>
            </p:extLst>
          </p:nvPr>
        </p:nvGraphicFramePr>
        <p:xfrm>
          <a:off x="439189" y="2707337"/>
          <a:ext cx="4415444" cy="3383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7722">
                  <a:extLst>
                    <a:ext uri="{9D8B030D-6E8A-4147-A177-3AD203B41FA5}">
                      <a16:colId xmlns:a16="http://schemas.microsoft.com/office/drawing/2014/main" val="2292910978"/>
                    </a:ext>
                  </a:extLst>
                </a:gridCol>
                <a:gridCol w="2207722">
                  <a:extLst>
                    <a:ext uri="{9D8B030D-6E8A-4147-A177-3AD203B41FA5}">
                      <a16:colId xmlns:a16="http://schemas.microsoft.com/office/drawing/2014/main" val="3071113158"/>
                    </a:ext>
                  </a:extLst>
                </a:gridCol>
              </a:tblGrid>
              <a:tr h="744603">
                <a:tc>
                  <a:txBody>
                    <a:bodyPr/>
                    <a:lstStyle/>
                    <a:p>
                      <a:r>
                        <a:rPr lang="kk-KZ" sz="2400"/>
                        <a:t>Данные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Ожидаемый 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005525"/>
                  </a:ext>
                </a:extLst>
              </a:tr>
              <a:tr h="425488">
                <a:tc>
                  <a:txBody>
                    <a:bodyPr/>
                    <a:lstStyle/>
                    <a:p>
                      <a:r>
                        <a:rPr lang="en-US" sz="2400"/>
                        <a:t>student@mail.com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Валидный </a:t>
                      </a:r>
                      <a:r>
                        <a:rPr lang="en-US" sz="2400"/>
                        <a:t>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4170914"/>
                  </a:ext>
                </a:extLst>
              </a:tr>
              <a:tr h="425488">
                <a:tc>
                  <a:txBody>
                    <a:bodyPr/>
                    <a:lstStyle/>
                    <a:p>
                      <a:r>
                        <a:rPr lang="en-US" sz="2400"/>
                        <a:t>studentmail.com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7759691"/>
                  </a:ext>
                </a:extLst>
              </a:tr>
              <a:tr h="425488">
                <a:tc>
                  <a:txBody>
                    <a:bodyPr/>
                    <a:lstStyle/>
                    <a:p>
                      <a:r>
                        <a:rPr lang="en-US" sz="2400"/>
                        <a:t>student@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382240"/>
                  </a:ext>
                </a:extLst>
              </a:tr>
              <a:tr h="425488">
                <a:tc>
                  <a:txBody>
                    <a:bodyPr/>
                    <a:lstStyle/>
                    <a:p>
                      <a:r>
                        <a:rPr lang="kk-KZ" sz="2400"/>
                        <a:t>пустое поле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757871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B098126D-DAE8-4165-9CAC-C859E8AD2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38826"/>
              </p:ext>
            </p:extLst>
          </p:nvPr>
        </p:nvGraphicFramePr>
        <p:xfrm>
          <a:off x="5187139" y="2400652"/>
          <a:ext cx="6716686" cy="42059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58343">
                  <a:extLst>
                    <a:ext uri="{9D8B030D-6E8A-4147-A177-3AD203B41FA5}">
                      <a16:colId xmlns:a16="http://schemas.microsoft.com/office/drawing/2014/main" val="530536506"/>
                    </a:ext>
                  </a:extLst>
                </a:gridCol>
                <a:gridCol w="3358343">
                  <a:extLst>
                    <a:ext uri="{9D8B030D-6E8A-4147-A177-3AD203B41FA5}">
                      <a16:colId xmlns:a16="http://schemas.microsoft.com/office/drawing/2014/main" val="380314767"/>
                    </a:ext>
                  </a:extLst>
                </a:gridCol>
              </a:tblGrid>
              <a:tr h="639828">
                <a:tc>
                  <a:txBody>
                    <a:bodyPr/>
                    <a:lstStyle/>
                    <a:p>
                      <a:r>
                        <a:rPr lang="kk-KZ" sz="2400" dirty="0"/>
                        <a:t>Проверка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Ожидаемый 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50889"/>
                  </a:ext>
                </a:extLst>
              </a:tr>
              <a:tr h="745123">
                <a:tc>
                  <a:txBody>
                    <a:bodyPr/>
                    <a:lstStyle/>
                    <a:p>
                      <a:r>
                        <a:rPr lang="ru-RU" sz="2400"/>
                        <a:t>Ввести валидные данные и нажать «Регистрация»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Пользователь сохраняется в БД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098037"/>
                  </a:ext>
                </a:extLst>
              </a:tr>
              <a:tr h="1119699">
                <a:tc>
                  <a:txBody>
                    <a:bodyPr/>
                    <a:lstStyle/>
                    <a:p>
                      <a:r>
                        <a:rPr lang="kk-KZ" sz="2400" dirty="0"/>
                        <a:t>Зарегистрировать уже существующий </a:t>
                      </a:r>
                      <a:r>
                        <a:rPr lang="en-US" sz="2400" dirty="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API возвращает ошибку, интерфейс показывает сообщение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6421703"/>
                  </a:ext>
                </a:extLst>
              </a:tr>
              <a:tr h="1119699">
                <a:tc>
                  <a:txBody>
                    <a:bodyPr/>
                    <a:lstStyle/>
                    <a:p>
                      <a:r>
                        <a:rPr lang="kk-KZ" sz="2400"/>
                        <a:t>БД недоступна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Пользователь видит сообщение о временной ошибке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706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7132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0FA97B-DF24-48B8-BDD2-03E839C57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17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Пример на одном проекте</a:t>
            </a:r>
            <a:br>
              <a:rPr lang="ru-RU" b="1" dirty="0"/>
            </a:br>
            <a:r>
              <a:rPr lang="ru-RU" sz="2700" dirty="0"/>
              <a:t>Проект: </a:t>
            </a:r>
            <a:r>
              <a:rPr lang="ru-RU" sz="2700" b="1" dirty="0"/>
              <a:t>форма регистрации и личный кабинет студента</a:t>
            </a:r>
            <a:r>
              <a:rPr lang="ru-RU" sz="2700" dirty="0"/>
              <a:t>.</a:t>
            </a:r>
            <a:endParaRPr lang="ru-KZ" sz="27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7A751B-8591-4006-BF79-29DDBCD11F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Системное тестирование</a:t>
            </a:r>
          </a:p>
          <a:p>
            <a:pPr marL="0" indent="0">
              <a:buNone/>
            </a:pPr>
            <a:r>
              <a:rPr lang="ru-RU" dirty="0"/>
              <a:t>Проверяется полный сценарий:</a:t>
            </a:r>
          </a:p>
          <a:p>
            <a:r>
              <a:rPr lang="ru-RU" dirty="0"/>
              <a:t>студент регистрируется; </a:t>
            </a:r>
          </a:p>
          <a:p>
            <a:r>
              <a:rPr lang="ru-RU" dirty="0"/>
              <a:t>входит в систему; </a:t>
            </a:r>
          </a:p>
          <a:p>
            <a:r>
              <a:rPr lang="ru-RU" dirty="0"/>
              <a:t>открывает личный кабинет; </a:t>
            </a:r>
          </a:p>
          <a:p>
            <a:r>
              <a:rPr lang="ru-RU" dirty="0"/>
              <a:t>загружает домашнее задание; </a:t>
            </a:r>
          </a:p>
          <a:p>
            <a:r>
              <a:rPr lang="ru-RU" dirty="0"/>
              <a:t>видит статус загрузки.</a:t>
            </a:r>
          </a:p>
          <a:p>
            <a:endParaRPr lang="ru-KZ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D7E6FC7C-F91A-4C32-87D3-6F9619FEBA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Приемочное тестирование</a:t>
            </a:r>
          </a:p>
          <a:p>
            <a:pPr marL="0" indent="0">
              <a:buNone/>
            </a:pPr>
            <a:r>
              <a:rPr lang="ru-RU" dirty="0"/>
              <a:t>Преподаватель и студент проверяют, можно ли реально использовать систему:</a:t>
            </a:r>
          </a:p>
          <a:p>
            <a:r>
              <a:rPr lang="ru-RU" dirty="0"/>
              <a:t>студент может сдать работу; </a:t>
            </a:r>
          </a:p>
          <a:p>
            <a:r>
              <a:rPr lang="ru-RU" dirty="0"/>
              <a:t>преподаватель может ее открыть; </a:t>
            </a:r>
          </a:p>
          <a:p>
            <a:r>
              <a:rPr lang="ru-RU" dirty="0"/>
              <a:t>оценка сохраняется; </a:t>
            </a:r>
          </a:p>
          <a:p>
            <a:r>
              <a:rPr lang="ru-RU" dirty="0"/>
              <a:t>студент видит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36974526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CE3D7-CACC-4859-996E-B1584573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78" y="365126"/>
            <a:ext cx="11959244" cy="93166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</a:t>
            </a:r>
            <a:r>
              <a:rPr lang="ru-KZ" b="1" dirty="0"/>
              <a:t> 1. </a:t>
            </a:r>
            <a:r>
              <a:rPr lang="ru-RU" dirty="0"/>
              <a:t>Для системы </a:t>
            </a:r>
            <a:r>
              <a:rPr lang="ru-RU" b="1" dirty="0"/>
              <a:t>«Интернет-магазин»</a:t>
            </a:r>
            <a:r>
              <a:rPr lang="ru-RU" dirty="0"/>
              <a:t> заполнить таблицу.</a:t>
            </a:r>
            <a:endParaRPr lang="ru-KZ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FB49D3AE-B0C3-437C-B29E-9CBAFF0F93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2831307"/>
              </p:ext>
            </p:extLst>
          </p:nvPr>
        </p:nvGraphicFramePr>
        <p:xfrm>
          <a:off x="518853" y="1474226"/>
          <a:ext cx="10622280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55570">
                  <a:extLst>
                    <a:ext uri="{9D8B030D-6E8A-4147-A177-3AD203B41FA5}">
                      <a16:colId xmlns:a16="http://schemas.microsoft.com/office/drawing/2014/main" val="908890023"/>
                    </a:ext>
                  </a:extLst>
                </a:gridCol>
                <a:gridCol w="2655570">
                  <a:extLst>
                    <a:ext uri="{9D8B030D-6E8A-4147-A177-3AD203B41FA5}">
                      <a16:colId xmlns:a16="http://schemas.microsoft.com/office/drawing/2014/main" val="2911363539"/>
                    </a:ext>
                  </a:extLst>
                </a:gridCol>
                <a:gridCol w="2655570">
                  <a:extLst>
                    <a:ext uri="{9D8B030D-6E8A-4147-A177-3AD203B41FA5}">
                      <a16:colId xmlns:a16="http://schemas.microsoft.com/office/drawing/2014/main" val="1676514166"/>
                    </a:ext>
                  </a:extLst>
                </a:gridCol>
                <a:gridCol w="2655570">
                  <a:extLst>
                    <a:ext uri="{9D8B030D-6E8A-4147-A177-3AD203B41FA5}">
                      <a16:colId xmlns:a16="http://schemas.microsoft.com/office/drawing/2014/main" val="19315535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000" b="1" dirty="0"/>
                        <a:t>Уровень тестирования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Пример проверки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Что проверяется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Возможный дефект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1088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Модульное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8769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Интеграционное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0447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Системное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227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Приемочное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862626"/>
                  </a:ext>
                </a:extLst>
              </a:tr>
            </a:tbl>
          </a:graphicData>
        </a:graphic>
      </p:graphicFrame>
      <p:sp>
        <p:nvSpPr>
          <p:cNvPr id="9" name="Заголовок 4">
            <a:extLst>
              <a:ext uri="{FF2B5EF4-FFF2-40B4-BE49-F238E27FC236}">
                <a16:creationId xmlns:a16="http://schemas.microsoft.com/office/drawing/2014/main" id="{D534A0D9-783D-446D-BBB8-AB1CF9CC0249}"/>
              </a:ext>
            </a:extLst>
          </p:cNvPr>
          <p:cNvSpPr txBox="1">
            <a:spLocks/>
          </p:cNvSpPr>
          <p:nvPr/>
        </p:nvSpPr>
        <p:spPr>
          <a:xfrm>
            <a:off x="232756" y="3990416"/>
            <a:ext cx="11959244" cy="9316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Задание</a:t>
            </a:r>
            <a:r>
              <a:rPr lang="ru-KZ" b="1" dirty="0"/>
              <a:t> 2. </a:t>
            </a:r>
            <a:r>
              <a:rPr lang="ru-RU" dirty="0"/>
              <a:t>Разработать </a:t>
            </a:r>
            <a:r>
              <a:rPr lang="ru-RU" b="1" dirty="0"/>
              <a:t>3 интеграционных тест-кейса</a:t>
            </a:r>
            <a:r>
              <a:rPr lang="ru-RU" dirty="0"/>
              <a:t> для связки:</a:t>
            </a:r>
          </a:p>
          <a:p>
            <a:r>
              <a:rPr lang="ru-RU" b="1" dirty="0"/>
              <a:t>Корзина интернет-магазина → Модуль оплаты</a:t>
            </a:r>
            <a:endParaRPr lang="ru-RU" dirty="0"/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0BF21637-4F8B-4D7A-8F22-46B25FA68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035402"/>
              </p:ext>
            </p:extLst>
          </p:nvPr>
        </p:nvGraphicFramePr>
        <p:xfrm>
          <a:off x="625533" y="4789706"/>
          <a:ext cx="10515600" cy="1737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7053922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4441850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543262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0075038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526403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b="1" dirty="0"/>
                        <a:t>Название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b="1" dirty="0"/>
                        <a:t>Предусловие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b="1" dirty="0"/>
                        <a:t>Шаги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b="1" dirty="0"/>
                        <a:t>Ожидаемый 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8456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INT-001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30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INT-002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19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INT-003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142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0213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7D87FEB-C825-4698-9FDA-536421CA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Контрольные вопросы</a:t>
            </a:r>
            <a:endParaRPr lang="ru-KZ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D7A74CA-805C-4BBF-9F48-1775BB2222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29898"/>
            <a:ext cx="1078299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Что такое уровни тестирования?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 Какие основные уровни тестирования существуют?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 Что проверяет модульное тестирование?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Кто чаще всего выполняет модульное тестирование?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Какие преимущества есть у модульного тестирования?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 Что проверяет интеграционное тестирование?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 Когда применяется интеграционное тестирование?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Какие дефекты выявляет интеграционное тестирование?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 Чем интеграционное тестирование отличается от системного?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 Что проверяет системное тестирование?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Что такое </a:t>
            </a:r>
            <a:r>
              <a:rPr lang="ru-RU" sz="2400" dirty="0" err="1"/>
              <a:t>end-to-end</a:t>
            </a:r>
            <a:r>
              <a:rPr lang="ru-RU" sz="2400" dirty="0"/>
              <a:t> сценарий? Что такое приемочное тестирование?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Кто участвует в приемочном тестировании?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Чем системное тестирование отличается от приемочного?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 Как уровни тестирования связаны с этапами разработки?</a:t>
            </a:r>
            <a:endParaRPr lang="ru-KZ" sz="2400" dirty="0"/>
          </a:p>
        </p:txBody>
      </p:sp>
    </p:spTree>
    <p:extLst>
      <p:ext uri="{BB962C8B-B14F-4D97-AF65-F5344CB8AC3E}">
        <p14:creationId xmlns:p14="http://schemas.microsoft.com/office/powerpoint/2010/main" val="4916953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2407</Words>
  <Application>Microsoft Office PowerPoint</Application>
  <PresentationFormat>Широкоэкранный</PresentationFormat>
  <Paragraphs>589</Paragraphs>
  <Slides>34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Тема Office</vt:lpstr>
      <vt:lpstr>Уровни тестирования: модульное, интеграционное, системное и приемочное тестирование</vt:lpstr>
      <vt:lpstr>Цель лекции</vt:lpstr>
      <vt:lpstr>Что такое уровни тестирования</vt:lpstr>
      <vt:lpstr>Общая логика уровней тестирования</vt:lpstr>
      <vt:lpstr>Модульное тестирование</vt:lpstr>
      <vt:lpstr>Модульное тестирование</vt:lpstr>
      <vt:lpstr>Модульное тестирование</vt:lpstr>
      <vt:lpstr>Модульное тестирование</vt:lpstr>
      <vt:lpstr>Модульное тестирование Особенности модульного тестирования</vt:lpstr>
      <vt:lpstr>Модульное тестирование</vt:lpstr>
      <vt:lpstr>Интеграционное тестирование</vt:lpstr>
      <vt:lpstr>Интеграционное тестирование</vt:lpstr>
      <vt:lpstr>Интеграционное тестирование примеры</vt:lpstr>
      <vt:lpstr>Интеграционное тестирование Какие дефекты выявляет интеграционное тестирование</vt:lpstr>
      <vt:lpstr>Интеграционное тестирование Когда применяется интеграционное тестирование</vt:lpstr>
      <vt:lpstr>Интеграционное тестирование Подходы к интеграционному тестированию</vt:lpstr>
      <vt:lpstr>Интеграционное тестирование Подходы к интеграционному тестированию</vt:lpstr>
      <vt:lpstr>Интеграционное тестирование Как разрабатывать тест-кейсы для интеграционного тестирования</vt:lpstr>
      <vt:lpstr>Интеграционное тестирование Как разрабатывать тест-кейсы для интеграционного тестирования</vt:lpstr>
      <vt:lpstr>Системное тестирование</vt:lpstr>
      <vt:lpstr>Системное тестирование</vt:lpstr>
      <vt:lpstr>Виды проверок в системном тестировании</vt:lpstr>
      <vt:lpstr>Какие дефекты выявляет системное тестирование</vt:lpstr>
      <vt:lpstr>Приемочное тестирование</vt:lpstr>
      <vt:lpstr>Приемочное тестирование</vt:lpstr>
      <vt:lpstr>Приемочное тестирование Виды приемочного тестирования</vt:lpstr>
      <vt:lpstr>Приемочное тестирование</vt:lpstr>
      <vt:lpstr>Отличие системного и приемочного тестирования</vt:lpstr>
      <vt:lpstr>Связь уровней тестирования с этапами разработки</vt:lpstr>
      <vt:lpstr>Сравнение всех уровней тестирования</vt:lpstr>
      <vt:lpstr>Пример на одном проекте Проект: форма регистрации и личный кабинет студента.</vt:lpstr>
      <vt:lpstr>Пример на одном проекте Проект: форма регистрации и личный кабинет студента.</vt:lpstr>
      <vt:lpstr>Задание 1. Для системы «Интернет-магазин» заполнить таблицу.</vt:lpstr>
      <vt:lpstr>Контрольные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тестирование программного обеспечения</dc:title>
  <dc:creator>raigul_almaty@mail.ru</dc:creator>
  <cp:lastModifiedBy>raigul_almaty@mail.ru</cp:lastModifiedBy>
  <cp:revision>13</cp:revision>
  <dcterms:created xsi:type="dcterms:W3CDTF">2026-05-17T16:20:39Z</dcterms:created>
  <dcterms:modified xsi:type="dcterms:W3CDTF">2026-05-19T10:49:19Z</dcterms:modified>
</cp:coreProperties>
</file>