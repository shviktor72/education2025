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8" r:id="rId11"/>
    <p:sldId id="297" r:id="rId12"/>
    <p:sldId id="299" r:id="rId13"/>
    <p:sldId id="301" r:id="rId14"/>
    <p:sldId id="302" r:id="rId15"/>
    <p:sldId id="300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289" r:id="rId28"/>
    <p:sldId id="270" r:id="rId29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429" autoAdjust="0"/>
  </p:normalViewPr>
  <p:slideViewPr>
    <p:cSldViewPr snapToGrid="0">
      <p:cViewPr varScale="1">
        <p:scale>
          <a:sx n="46" d="100"/>
          <a:sy n="46" d="100"/>
        </p:scale>
        <p:origin x="58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896B4-902B-4A8C-8A1B-D2DC11FE0451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29F4B-E19A-40B0-BD71-22A954E6346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7808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1150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83103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18921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1665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22138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10998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2799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91699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34096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96006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12204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40271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13200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783987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84347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20395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47E1E-BBF0-4F01-92A3-DC885B743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929F19-6ACA-45B0-BAEB-EDCEAA473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BEB61D-B270-406E-99C9-0D350030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32A2AC-41C7-49E3-B21D-53AB5CD6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784B4E-4052-418B-9BEF-DA4569E12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9186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FF563-DC16-475F-B73E-104C55E0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08892-2A08-4CC4-8952-A3034862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636221-7DEA-4997-ADF2-16ADF53E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8CD7C6-C113-4AB8-8907-118D32EA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C6EB98-B8F4-42E9-8484-D36832EB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8308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FA4F4-6431-4E73-B28F-BC76AA02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64017-1F2D-413F-B869-B9B07BA9F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36D718-6551-4472-BB83-EB99E34AB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AF361B-BD15-4DB9-81A3-C07699CE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851FDA-D796-45E4-B6CF-B3DC513C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7233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6F2CA-C8B8-479E-9FF6-7D1B567D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7F563D-CC55-46B4-919A-A8661CC25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A3AE65-67FD-488B-B82B-10A2CA0FB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663D80-6B84-4B85-A18E-AC750530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593B55-887D-4E40-8E38-BAEB59B9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C7527D-C511-4DDB-B5EF-2B905825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5405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86BCC-3C5C-4F5A-AB46-F3E1AE60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6271C4-D120-41BF-836B-9902D5691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46691E-F214-41B6-B983-F5D1FC39D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7B9105-0F26-43AC-BB86-D465C4F16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A6D395-ED80-43CE-A7F6-2D9E9B693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9A3792-0A89-4A0F-A976-A55DA0CB2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60E94D-4BA2-4706-B981-31227E9A9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3AFA38-D1A5-4868-8EF2-1B092CFC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9047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72961-CDFD-478A-A436-659708DD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FD0378-2F4B-4254-8D0A-427EB63C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528FDA-AE66-4FEC-A0F2-A10734EA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E31020-6810-4124-9F3E-D181839D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0345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5715DA-BD0D-4ACD-9F96-150BB67F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E3595C-4F7F-42CD-BAF9-64DE774A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FFDD28-905F-4E98-8762-2D5C8CCA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0128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802B6-CF25-4533-9F51-1690C546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029A4C-5DF8-4A44-8AE3-141B307A5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15813F-1FD2-4FD7-8E40-0816827E3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88025F-D252-439C-B151-C8EE9A17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00EF2C-4D5F-4BC8-99AE-A7D880ED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10B441-7B8A-41D4-8F17-E3859641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37977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ACEF2-401B-43F8-80CD-E3776B48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C6C4737-A95F-4E1A-9111-770E6574A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6FAFE1-650F-418D-84AC-AAC266D10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72002E-61CB-4C5F-9FDE-D92BCFB9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F0B6A4-66B9-4358-8F8B-5E4A0105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66058F-A28D-440A-B2F7-C44B0233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8049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A5600-AEB5-46D4-A36A-6FCEF061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F75AA7-55D8-4EED-9367-CB9B673D9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2E55E3-0B21-4A5F-8621-C302183B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FF0EE2-2100-4C8E-9BBC-029CE182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43CED3-B427-4775-B55A-0D2BB6FD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5833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4C357C-7F87-4933-B26E-51D229D2E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5EF265-5E4E-4672-82E2-0FE3F23DA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300F02-07E4-4AA2-804B-04042D3B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12D65A-D49E-45FA-A03B-DBBF7126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581291-4A5F-4743-935C-A91F9F42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6793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83B85-9AB5-4850-984A-092AC26D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999896-89BB-4072-89D1-FD9ACE626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9BCD95-2248-485B-9CCA-1C7CD26BF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3F9833-AEA6-4FA7-831A-FDF014C93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00B27F-CAD4-41B7-A6C5-2B3DBC277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2785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674CD-6999-4DF3-81AB-205FF45BA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764407"/>
            <a:ext cx="8063345" cy="2310312"/>
          </a:xfrm>
        </p:spPr>
        <p:txBody>
          <a:bodyPr>
            <a:normAutofit/>
          </a:bodyPr>
          <a:lstStyle/>
          <a:p>
            <a:r>
              <a:rPr lang="ru-RU" sz="5400" dirty="0"/>
              <a:t>Требования и подготовка к тестированию</a:t>
            </a:r>
            <a:endParaRPr lang="ru-KZ" sz="5200" dirty="0">
              <a:solidFill>
                <a:schemeClr val="tx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B3BE75-DC7B-4962-950C-59FF530CA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Поддержка и тестирование программных модулей</a:t>
            </a:r>
            <a:endParaRPr lang="ru-KZ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00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9B04D-1631-4467-B1F6-B1E48B3E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лекции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616E1D-ABC9-42E8-8BE8-120CD1777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Сформировать у студентов понимание того, как требования используются при подготовке тестирования: как анализировать требования, какие этапы включает сбор требований для разработки тестов, как на основе требований определяются цели тестирования, тестовые сценарии, тест-кейсы и ожидаемые результаты.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8734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971C4-11B7-474E-90B8-9ED90148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Что такое требование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E6559-DD52-454F-9C0F-035EE4C7D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Требование</a:t>
            </a:r>
            <a:r>
              <a:rPr lang="ru-RU" dirty="0"/>
              <a:t> — это описание того, что система должна делать или какими свойствами должна обладать.</a:t>
            </a:r>
          </a:p>
          <a:p>
            <a:pPr marL="0" indent="0">
              <a:buNone/>
            </a:pPr>
            <a:r>
              <a:rPr lang="ru-RU" dirty="0"/>
              <a:t>Требования отвечают на вопросы:</a:t>
            </a:r>
          </a:p>
          <a:p>
            <a:r>
              <a:rPr lang="ru-RU" dirty="0"/>
              <a:t>какую задачу должна решать система; </a:t>
            </a:r>
          </a:p>
          <a:p>
            <a:r>
              <a:rPr lang="ru-RU" dirty="0"/>
              <a:t>какие функции должны быть реализованы; </a:t>
            </a:r>
          </a:p>
          <a:p>
            <a:r>
              <a:rPr lang="ru-RU" dirty="0"/>
              <a:t>какие ограничения нужно соблюдать; </a:t>
            </a:r>
          </a:p>
          <a:p>
            <a:r>
              <a:rPr lang="ru-RU" dirty="0"/>
              <a:t>каким должен быть результат работы системы; </a:t>
            </a:r>
          </a:p>
          <a:p>
            <a:r>
              <a:rPr lang="ru-RU" dirty="0"/>
              <a:t>какие характеристики качества важны: скорость, безопасность, надежность, удобство.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75479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Виды требований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8265907-DF1D-414F-A42E-4077F04EC6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480698"/>
              </p:ext>
            </p:extLst>
          </p:nvPr>
        </p:nvGraphicFramePr>
        <p:xfrm>
          <a:off x="628996" y="2413096"/>
          <a:ext cx="10724804" cy="2651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09011">
                  <a:extLst>
                    <a:ext uri="{9D8B030D-6E8A-4147-A177-3AD203B41FA5}">
                      <a16:colId xmlns:a16="http://schemas.microsoft.com/office/drawing/2014/main" val="1988990232"/>
                    </a:ext>
                  </a:extLst>
                </a:gridCol>
                <a:gridCol w="6515793">
                  <a:extLst>
                    <a:ext uri="{9D8B030D-6E8A-4147-A177-3AD203B41FA5}">
                      <a16:colId xmlns:a16="http://schemas.microsoft.com/office/drawing/2014/main" val="2816972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Продукт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Бизнес-требование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969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Интернет-магазин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Увеличить количество онлайн-заказов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733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Банковское приложение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Позволить клиентам выполнять переводы без посещения банка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814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CRM-</a:t>
                      </a:r>
                      <a:r>
                        <a:rPr lang="kk-KZ" sz="2400" dirty="0"/>
                        <a:t>система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Сократить время обработки заявок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387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Образовательная платформа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Организовать онлайн-сдачу заданий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14618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96" y="1295480"/>
            <a:ext cx="11125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Бизнес-требования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Бизнес-требования</a:t>
            </a: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описывают, зачем создается продукт и какую пользу он должен принести..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D3C2EEB-2F9D-446D-8D76-7072AE104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11" y="5316846"/>
            <a:ext cx="1135518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Бизнес-требования обычно формулируются на высоком уровне.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Пример: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Система должна позволить студентам сдавать задания онлайн и получать обратную связь от преподавателя.</a:t>
            </a:r>
          </a:p>
        </p:txBody>
      </p:sp>
    </p:spTree>
    <p:extLst>
      <p:ext uri="{BB962C8B-B14F-4D97-AF65-F5344CB8AC3E}">
        <p14:creationId xmlns:p14="http://schemas.microsoft.com/office/powerpoint/2010/main" val="183247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Виды требований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02" y="1251227"/>
            <a:ext cx="11125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2. Пользовательские требования</a:t>
            </a:r>
          </a:p>
          <a:p>
            <a:r>
              <a:rPr lang="ru-RU" sz="2400" b="1" dirty="0"/>
              <a:t>Пользовательские требования</a:t>
            </a:r>
            <a:r>
              <a:rPr lang="ru-RU" sz="2400" dirty="0"/>
              <a:t> описывают, что пользователь должен иметь возможность сделать в системе.</a:t>
            </a:r>
          </a:p>
          <a:p>
            <a:r>
              <a:rPr lang="ru-RU" sz="2400" dirty="0"/>
              <a:t>Примеры: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D3C2EEB-2F9D-446D-8D76-7072AE104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11" y="5316845"/>
            <a:ext cx="1135518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/>
              <a:t>Пользовательские требования часто оформляются как:</a:t>
            </a:r>
            <a:r>
              <a:rPr lang="ru-KZ" sz="2000" dirty="0"/>
              <a:t> </a:t>
            </a:r>
            <a:r>
              <a:rPr lang="ru-RU" sz="2000" dirty="0" err="1"/>
              <a:t>user</a:t>
            </a:r>
            <a:r>
              <a:rPr lang="ru-RU" sz="2000" dirty="0"/>
              <a:t> </a:t>
            </a:r>
            <a:r>
              <a:rPr lang="ru-RU" sz="2000" dirty="0" err="1"/>
              <a:t>story</a:t>
            </a:r>
            <a:r>
              <a:rPr lang="ru-RU" sz="2000" dirty="0"/>
              <a:t>;</a:t>
            </a:r>
            <a:r>
              <a:rPr lang="ru-KZ" sz="2000" dirty="0"/>
              <a:t> </a:t>
            </a:r>
            <a:r>
              <a:rPr lang="ru-RU" sz="2000" dirty="0" err="1"/>
              <a:t>use</a:t>
            </a:r>
            <a:r>
              <a:rPr lang="ru-RU" sz="2000" dirty="0"/>
              <a:t> </a:t>
            </a:r>
            <a:r>
              <a:rPr lang="ru-RU" sz="2000" dirty="0" err="1"/>
              <a:t>case</a:t>
            </a:r>
            <a:r>
              <a:rPr lang="ru-RU" sz="2000" dirty="0"/>
              <a:t>; пользовательский сценарий. </a:t>
            </a:r>
          </a:p>
          <a:p>
            <a:r>
              <a:rPr lang="ru-RU" sz="2000" dirty="0"/>
              <a:t>Пример </a:t>
            </a:r>
            <a:r>
              <a:rPr lang="ru-RU" sz="2000" dirty="0" err="1"/>
              <a:t>user</a:t>
            </a:r>
            <a:r>
              <a:rPr lang="ru-RU" sz="2000" dirty="0"/>
              <a:t> </a:t>
            </a:r>
            <a:r>
              <a:rPr lang="ru-RU" sz="2000" dirty="0" err="1"/>
              <a:t>story</a:t>
            </a:r>
            <a:r>
              <a:rPr lang="ru-RU" sz="2000" dirty="0"/>
              <a:t>:</a:t>
            </a:r>
          </a:p>
          <a:p>
            <a:r>
              <a:rPr lang="ru-RU" sz="2000" dirty="0"/>
              <a:t>Как студент, я хочу загрузить файл с домашним заданием, чтобы преподаватель мог его проверить.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B6C2D010-7216-455E-971F-40EE39A0F8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901554"/>
              </p:ext>
            </p:extLst>
          </p:nvPr>
        </p:nvGraphicFramePr>
        <p:xfrm>
          <a:off x="399011" y="2820887"/>
          <a:ext cx="1051560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91593">
                  <a:extLst>
                    <a:ext uri="{9D8B030D-6E8A-4147-A177-3AD203B41FA5}">
                      <a16:colId xmlns:a16="http://schemas.microsoft.com/office/drawing/2014/main" val="2872832256"/>
                    </a:ext>
                  </a:extLst>
                </a:gridCol>
                <a:gridCol w="7124007">
                  <a:extLst>
                    <a:ext uri="{9D8B030D-6E8A-4147-A177-3AD203B41FA5}">
                      <a16:colId xmlns:a16="http://schemas.microsoft.com/office/drawing/2014/main" val="423180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Роль пользователя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Пользовательское требование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289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Студент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Может загрузить выполненную работу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200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Преподаватель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Может проверить работу и поставить оценку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233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Администратор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Может управлять пользователями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4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Покупатель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Может добавить товар в корзину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087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121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Виды требований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02" y="1236392"/>
            <a:ext cx="11125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3. Функциональные требования</a:t>
            </a:r>
          </a:p>
          <a:p>
            <a:r>
              <a:rPr lang="ru-RU" sz="2400" b="1" dirty="0"/>
              <a:t>Функциональные требования</a:t>
            </a:r>
            <a:r>
              <a:rPr lang="ru-RU" sz="2400" dirty="0"/>
              <a:t> описывают, что именно должна делать система.</a:t>
            </a:r>
          </a:p>
          <a:p>
            <a:r>
              <a:rPr lang="ru-RU" sz="2400" dirty="0"/>
              <a:t>Примеры: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D3C2EEB-2F9D-446D-8D76-7072AE104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11" y="5316845"/>
            <a:ext cx="1135518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/>
              <a:t>Функциональные требования напрямую превращаются в тест-кейсы.</a:t>
            </a:r>
          </a:p>
          <a:p>
            <a:r>
              <a:rPr lang="ru-RU" sz="2000" dirty="0"/>
              <a:t>Пример:</a:t>
            </a:r>
          </a:p>
          <a:p>
            <a:r>
              <a:rPr lang="ru-RU" sz="2000" b="1" dirty="0"/>
              <a:t>Требование:</a:t>
            </a:r>
            <a:r>
              <a:rPr lang="ru-RU" sz="2000" dirty="0"/>
              <a:t> пароль должен содержать минимум 8 символов.</a:t>
            </a:r>
            <a:br>
              <a:rPr lang="ru-RU" sz="2000" dirty="0"/>
            </a:br>
            <a:r>
              <a:rPr lang="ru-RU" sz="2000" b="1" dirty="0"/>
              <a:t>Тест:</a:t>
            </a:r>
            <a:r>
              <a:rPr lang="ru-RU" sz="2000" dirty="0"/>
              <a:t> ввести пароль из 7 символов и проверить, что система показывает ошибку.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F834392B-7FD6-4675-9EE4-0A1E5E6BE3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0797631"/>
              </p:ext>
            </p:extLst>
          </p:nvPr>
        </p:nvGraphicFramePr>
        <p:xfrm>
          <a:off x="228600" y="2410208"/>
          <a:ext cx="11708476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28352">
                  <a:extLst>
                    <a:ext uri="{9D8B030D-6E8A-4147-A177-3AD203B41FA5}">
                      <a16:colId xmlns:a16="http://schemas.microsoft.com/office/drawing/2014/main" val="3863146083"/>
                    </a:ext>
                  </a:extLst>
                </a:gridCol>
                <a:gridCol w="9180124">
                  <a:extLst>
                    <a:ext uri="{9D8B030D-6E8A-4147-A177-3AD203B41FA5}">
                      <a16:colId xmlns:a16="http://schemas.microsoft.com/office/drawing/2014/main" val="11439979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Модуль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Функциональное требование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75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Регистрация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Система должна проверять корректность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7077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Авторизация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Система должна выполнять вход по логину и паролю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159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Корзина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Система должна пересчитывать итоговую сумму заказа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173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Оплата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Система должна принимать данные банковской карты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881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Система должна возвращать список пользователей по GET-запросу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9708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383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Виды требований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11" y="1236392"/>
            <a:ext cx="115643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4. Нефункциональные требования</a:t>
            </a:r>
          </a:p>
          <a:p>
            <a:r>
              <a:rPr lang="ru-RU" sz="2400" b="1" dirty="0"/>
              <a:t>Нефункциональные требования</a:t>
            </a:r>
            <a:r>
              <a:rPr lang="ru-RU" sz="2400" dirty="0"/>
              <a:t> описывают не то, что система делает, а как она должна работать.</a:t>
            </a:r>
            <a:r>
              <a:rPr lang="ru-KZ" sz="2400" dirty="0"/>
              <a:t> </a:t>
            </a:r>
            <a:r>
              <a:rPr lang="ru-RU" sz="2400" dirty="0"/>
              <a:t>Примеры: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374F7443-6B34-4FCE-9066-BA921850B8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0582730"/>
              </p:ext>
            </p:extLst>
          </p:nvPr>
        </p:nvGraphicFramePr>
        <p:xfrm>
          <a:off x="838200" y="2446814"/>
          <a:ext cx="10515600" cy="3566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35531">
                  <a:extLst>
                    <a:ext uri="{9D8B030D-6E8A-4147-A177-3AD203B41FA5}">
                      <a16:colId xmlns:a16="http://schemas.microsoft.com/office/drawing/2014/main" val="368680563"/>
                    </a:ext>
                  </a:extLst>
                </a:gridCol>
                <a:gridCol w="7480069">
                  <a:extLst>
                    <a:ext uri="{9D8B030D-6E8A-4147-A177-3AD203B41FA5}">
                      <a16:colId xmlns:a16="http://schemas.microsoft.com/office/drawing/2014/main" val="10283338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Характеристика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Пример требования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644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Производительность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Страница должна загружаться не дольше 2 секунд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719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Безопасность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Пароль должен храниться в зашифрованном виде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259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Надежность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Система должна работать 24/7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352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Удобство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Интерфейс должен быть понятен новому пользователю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178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Совместимость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Сайт должен работать в Chrome, Firefox и Safari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646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Масштабируемость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Система должна выдерживать 1000 одновременных пользователей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743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05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Источники требований для тестирования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05" y="1376253"/>
            <a:ext cx="115643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/>
              <a:t>Тестировщик получает требования из разных источников.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6EAFD47C-F530-4271-98B5-1DD8AEB215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3189580"/>
              </p:ext>
            </p:extLst>
          </p:nvPr>
        </p:nvGraphicFramePr>
        <p:xfrm>
          <a:off x="838200" y="1989614"/>
          <a:ext cx="10515600" cy="4693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48695">
                  <a:extLst>
                    <a:ext uri="{9D8B030D-6E8A-4147-A177-3AD203B41FA5}">
                      <a16:colId xmlns:a16="http://schemas.microsoft.com/office/drawing/2014/main" val="1766916045"/>
                    </a:ext>
                  </a:extLst>
                </a:gridCol>
                <a:gridCol w="6066905">
                  <a:extLst>
                    <a:ext uri="{9D8B030D-6E8A-4147-A177-3AD203B41FA5}">
                      <a16:colId xmlns:a16="http://schemas.microsoft.com/office/drawing/2014/main" val="837567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200" b="1" dirty="0"/>
                        <a:t>Источник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b="1" dirty="0"/>
                        <a:t>Что можно взять для тестирования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565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Техническое задание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Основные функции и ограничения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314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SRS / </a:t>
                      </a:r>
                      <a:r>
                        <a:rPr lang="kk-KZ" sz="2200"/>
                        <a:t>спецификация требований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Подробное описание системы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86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dirty="0"/>
                        <a:t>User stories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Пользовательские сценарии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032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dirty="0"/>
                        <a:t>Use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Последовательность действий пользователя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87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Макеты интерфейса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Проверки </a:t>
                      </a:r>
                      <a:r>
                        <a:rPr lang="en-US" sz="2200"/>
                        <a:t>UI </a:t>
                      </a:r>
                      <a:r>
                        <a:rPr lang="kk-KZ" sz="2200"/>
                        <a:t>и удобства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122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API-</a:t>
                      </a:r>
                      <a:r>
                        <a:rPr lang="kk-KZ" sz="2200"/>
                        <a:t>документация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Эндпоинты, методы, параметры, ответы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909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Бизнес-правила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Ограничения и логика работы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249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Обсуждения с аналитиком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Уточнение спорных требований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597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Документация продукта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Описание функций и настроек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435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Предыдущие дефекты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Зоны риска для повторной проверки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304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984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304CB28-63A0-47B4-BCE7-4ACD150D4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365126"/>
            <a:ext cx="11826240" cy="516024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Этапы сбора требований для разработки тестов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7B10598-9C74-4B12-AB22-B3DA05DA4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84" y="1014153"/>
            <a:ext cx="4239491" cy="516281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/>
              <a:t>Этап 1. Получение требований</a:t>
            </a:r>
          </a:p>
          <a:p>
            <a:pPr marL="0" indent="0">
              <a:buNone/>
            </a:pPr>
            <a:r>
              <a:rPr lang="ru-RU" dirty="0"/>
              <a:t>На первом этапе тестировщик получает документы и материалы:</a:t>
            </a:r>
          </a:p>
          <a:p>
            <a:r>
              <a:rPr lang="ru-RU" dirty="0"/>
              <a:t>техническое задание; </a:t>
            </a:r>
          </a:p>
          <a:p>
            <a:r>
              <a:rPr lang="ru-RU" dirty="0"/>
              <a:t>спецификацию; </a:t>
            </a:r>
          </a:p>
          <a:p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stories</a:t>
            </a:r>
            <a:r>
              <a:rPr lang="ru-RU" dirty="0"/>
              <a:t>; </a:t>
            </a:r>
          </a:p>
          <a:p>
            <a:r>
              <a:rPr lang="ru-RU" dirty="0"/>
              <a:t>макеты; </a:t>
            </a:r>
          </a:p>
          <a:p>
            <a:r>
              <a:rPr lang="ru-RU" dirty="0"/>
              <a:t>описание API; </a:t>
            </a:r>
          </a:p>
          <a:p>
            <a:r>
              <a:rPr lang="ru-RU" dirty="0"/>
              <a:t>бизнес-правила; </a:t>
            </a:r>
          </a:p>
          <a:p>
            <a:r>
              <a:rPr lang="ru-RU" dirty="0"/>
              <a:t>критерии приемки. </a:t>
            </a:r>
          </a:p>
          <a:p>
            <a:pPr marL="0" indent="0">
              <a:buNone/>
            </a:pPr>
            <a:r>
              <a:rPr lang="ru-RU" dirty="0"/>
              <a:t>Цель этапа — собрать всю доступную информацию о том, как должна работать система.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F47B53-D29C-4D3E-A23D-BF87AF83B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4881" y="1014153"/>
            <a:ext cx="7121234" cy="516281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/>
              <a:t>Этап 2. Изучение и понимание требований</a:t>
            </a:r>
          </a:p>
          <a:p>
            <a:pPr marL="0" indent="0">
              <a:buNone/>
            </a:pPr>
            <a:r>
              <a:rPr lang="ru-KZ" dirty="0"/>
              <a:t>Т</a:t>
            </a:r>
            <a:r>
              <a:rPr lang="ru-RU" dirty="0" err="1"/>
              <a:t>естировщик</a:t>
            </a:r>
            <a:r>
              <a:rPr lang="ru-RU" dirty="0"/>
              <a:t> внимательно изучает требования и определяет:</a:t>
            </a:r>
          </a:p>
          <a:p>
            <a:r>
              <a:rPr lang="ru-RU" dirty="0"/>
              <a:t>что должна делать система; </a:t>
            </a:r>
          </a:p>
          <a:p>
            <a:r>
              <a:rPr lang="ru-RU" dirty="0"/>
              <a:t>какие функции являются основными; </a:t>
            </a:r>
          </a:p>
          <a:p>
            <a:r>
              <a:rPr lang="ru-RU" dirty="0"/>
              <a:t>какие функции являются критичными; </a:t>
            </a:r>
          </a:p>
          <a:p>
            <a:r>
              <a:rPr lang="ru-RU" dirty="0"/>
              <a:t>какие ограничения указаны; </a:t>
            </a:r>
          </a:p>
          <a:p>
            <a:r>
              <a:rPr lang="ru-RU" dirty="0"/>
              <a:t>какие данные нужны для проверки; </a:t>
            </a:r>
          </a:p>
          <a:p>
            <a:r>
              <a:rPr lang="ru-RU" dirty="0"/>
              <a:t>какие результаты ожидаются. 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b="1" dirty="0"/>
              <a:t>Требование:</a:t>
            </a:r>
            <a:r>
              <a:rPr lang="ru-RU" dirty="0"/>
              <a:t> пользователь может зарегистрироваться по </a:t>
            </a:r>
            <a:r>
              <a:rPr lang="ru-RU" dirty="0" err="1"/>
              <a:t>email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Тестировщик должен понять:</a:t>
            </a:r>
          </a:p>
          <a:p>
            <a:r>
              <a:rPr lang="ru-RU" dirty="0" err="1"/>
              <a:t>email</a:t>
            </a:r>
            <a:r>
              <a:rPr lang="ru-RU" dirty="0"/>
              <a:t> обязателен или нет; </a:t>
            </a:r>
          </a:p>
          <a:p>
            <a:r>
              <a:rPr lang="ru-RU" dirty="0"/>
              <a:t>какой формат </a:t>
            </a:r>
            <a:r>
              <a:rPr lang="ru-RU" dirty="0" err="1"/>
              <a:t>email</a:t>
            </a:r>
            <a:r>
              <a:rPr lang="ru-RU" dirty="0"/>
              <a:t> допустим; </a:t>
            </a:r>
          </a:p>
          <a:p>
            <a:r>
              <a:rPr lang="ru-RU" dirty="0"/>
              <a:t>можно ли использовать уже зарегистрированный </a:t>
            </a:r>
            <a:r>
              <a:rPr lang="ru-RU" dirty="0" err="1"/>
              <a:t>email</a:t>
            </a:r>
            <a:r>
              <a:rPr lang="ru-RU" dirty="0"/>
              <a:t>; </a:t>
            </a:r>
          </a:p>
          <a:p>
            <a:r>
              <a:rPr lang="ru-RU" dirty="0"/>
              <a:t>нужно ли подтверждение по почте; </a:t>
            </a:r>
          </a:p>
          <a:p>
            <a:r>
              <a:rPr lang="ru-RU" dirty="0"/>
              <a:t>какие сообщения об ошибках должны появляться.</a:t>
            </a:r>
          </a:p>
        </p:txBody>
      </p:sp>
    </p:spTree>
    <p:extLst>
      <p:ext uri="{BB962C8B-B14F-4D97-AF65-F5344CB8AC3E}">
        <p14:creationId xmlns:p14="http://schemas.microsoft.com/office/powerpoint/2010/main" val="409948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05" y="365126"/>
            <a:ext cx="11564390" cy="582526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Этапы сбора требований для разработки тестов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808" y="754698"/>
            <a:ext cx="1156438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Этап 3. Проверка качества требований</a:t>
            </a:r>
            <a:r>
              <a:rPr lang="ru-KZ" sz="2400" b="1" dirty="0"/>
              <a:t>. </a:t>
            </a:r>
            <a:r>
              <a:rPr lang="ru-RU" sz="2400" dirty="0"/>
              <a:t>Требования нужно проверить на качество.</a:t>
            </a:r>
            <a:r>
              <a:rPr lang="ru-KZ" sz="2400" dirty="0"/>
              <a:t> </a:t>
            </a:r>
            <a:r>
              <a:rPr lang="ru-RU" sz="2400" dirty="0"/>
              <a:t>Хорошее требование должно быть: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F9D58B6F-A033-4637-8D7F-0BD7E74795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63053"/>
              </p:ext>
            </p:extLst>
          </p:nvPr>
        </p:nvGraphicFramePr>
        <p:xfrm>
          <a:off x="446807" y="1571765"/>
          <a:ext cx="11431388" cy="51505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97629">
                  <a:extLst>
                    <a:ext uri="{9D8B030D-6E8A-4147-A177-3AD203B41FA5}">
                      <a16:colId xmlns:a16="http://schemas.microsoft.com/office/drawing/2014/main" val="3037106624"/>
                    </a:ext>
                  </a:extLst>
                </a:gridCol>
                <a:gridCol w="2842953">
                  <a:extLst>
                    <a:ext uri="{9D8B030D-6E8A-4147-A177-3AD203B41FA5}">
                      <a16:colId xmlns:a16="http://schemas.microsoft.com/office/drawing/2014/main" val="676950956"/>
                    </a:ext>
                  </a:extLst>
                </a:gridCol>
                <a:gridCol w="2876204">
                  <a:extLst>
                    <a:ext uri="{9D8B030D-6E8A-4147-A177-3AD203B41FA5}">
                      <a16:colId xmlns:a16="http://schemas.microsoft.com/office/drawing/2014/main" val="684087789"/>
                    </a:ext>
                  </a:extLst>
                </a:gridCol>
                <a:gridCol w="3914602">
                  <a:extLst>
                    <a:ext uri="{9D8B030D-6E8A-4147-A177-3AD203B41FA5}">
                      <a16:colId xmlns:a16="http://schemas.microsoft.com/office/drawing/2014/main" val="3513021444"/>
                    </a:ext>
                  </a:extLst>
                </a:gridCol>
              </a:tblGrid>
              <a:tr h="477746">
                <a:tc>
                  <a:txBody>
                    <a:bodyPr/>
                    <a:lstStyle/>
                    <a:p>
                      <a:r>
                        <a:rPr lang="kk-KZ" sz="2000" b="1" dirty="0"/>
                        <a:t>Критерий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Объяснение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Пример плохого требования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Пример хорошего требования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255213257"/>
                  </a:ext>
                </a:extLst>
              </a:tr>
              <a:tr h="887242">
                <a:tc>
                  <a:txBody>
                    <a:bodyPr/>
                    <a:lstStyle/>
                    <a:p>
                      <a:r>
                        <a:rPr lang="kk-KZ" sz="2000" dirty="0"/>
                        <a:t>Корректным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Соответствует реальной задаче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Система должна удалять пользователя без подтверждения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Система должна запрашивать подтверждение перед удалением пользователя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005950670"/>
                  </a:ext>
                </a:extLst>
              </a:tr>
              <a:tr h="887242">
                <a:tc>
                  <a:txBody>
                    <a:bodyPr/>
                    <a:lstStyle/>
                    <a:p>
                      <a:r>
                        <a:rPr lang="kk-KZ" sz="2000"/>
                        <a:t>Полным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Содержит всю нужную информацию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Пользователь вводит пароль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Пароль должен быть не менее 8 символов и содержать букву и цифру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020640740"/>
                  </a:ext>
                </a:extLst>
              </a:tr>
              <a:tr h="682494">
                <a:tc>
                  <a:txBody>
                    <a:bodyPr/>
                    <a:lstStyle/>
                    <a:p>
                      <a:r>
                        <a:rPr lang="kk-KZ" sz="2000"/>
                        <a:t>Однозначным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Не допускает разных трактовок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Сайт должен быстро открываться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Главная страница должна открываться не дольше 2 секунд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4230469260"/>
                  </a:ext>
                </a:extLst>
              </a:tr>
              <a:tr h="484649">
                <a:tc>
                  <a:txBody>
                    <a:bodyPr/>
                    <a:lstStyle/>
                    <a:p>
                      <a:r>
                        <a:rPr lang="kk-KZ" sz="2000"/>
                        <a:t>Непротиворечивым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Не конфликтует с другими требованиями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Email </a:t>
                      </a:r>
                      <a:r>
                        <a:rPr lang="kk-KZ" sz="2000"/>
                        <a:t>обязателен / </a:t>
                      </a:r>
                      <a:r>
                        <a:rPr lang="en-US" sz="2000"/>
                        <a:t>email </a:t>
                      </a:r>
                      <a:r>
                        <a:rPr lang="kk-KZ" sz="2000"/>
                        <a:t>необязателен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Email </a:t>
                      </a:r>
                      <a:r>
                        <a:rPr lang="kk-KZ" sz="2000"/>
                        <a:t>является обязательным полем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215495834"/>
                  </a:ext>
                </a:extLst>
              </a:tr>
              <a:tr h="682494">
                <a:tc>
                  <a:txBody>
                    <a:bodyPr/>
                    <a:lstStyle/>
                    <a:p>
                      <a:r>
                        <a:rPr lang="kk-KZ" sz="2000"/>
                        <a:t>Проверяемым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Можно проверить тестом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Интерфейс должен быть красивым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Все кнопки должны быть видимы при разрешении 1366×768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777130648"/>
                  </a:ext>
                </a:extLst>
              </a:tr>
              <a:tr h="477746">
                <a:tc>
                  <a:txBody>
                    <a:bodyPr/>
                    <a:lstStyle/>
                    <a:p>
                      <a:r>
                        <a:rPr lang="kk-KZ" sz="2000"/>
                        <a:t>Трассируемым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Можно связать с тестом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Нет </a:t>
                      </a:r>
                      <a:r>
                        <a:rPr lang="en-US" sz="2000"/>
                        <a:t>ID </a:t>
                      </a:r>
                      <a:r>
                        <a:rPr lang="kk-KZ" sz="2000"/>
                        <a:t>требования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REQ-001: </a:t>
                      </a:r>
                      <a:r>
                        <a:rPr lang="kk-KZ" sz="2000" dirty="0"/>
                        <a:t>регистрация по </a:t>
                      </a:r>
                      <a:r>
                        <a:rPr lang="en-US" sz="2000" dirty="0"/>
                        <a:t>email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40789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51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05" y="365126"/>
            <a:ext cx="11564390" cy="582526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Этапы сбора требований для разработки тестов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05" y="874455"/>
            <a:ext cx="1156438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Этап 4. Уточнение требований</a:t>
            </a:r>
          </a:p>
          <a:p>
            <a:r>
              <a:rPr lang="ru-RU" sz="2000" dirty="0"/>
              <a:t>Если требование непонятное, неполное или противоречивое, тестировщик должен задать вопросы: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бизнес-аналитику;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разработчику;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/>
              <a:t>Product</a:t>
            </a:r>
            <a:r>
              <a:rPr lang="ru-RU" sz="2000" dirty="0"/>
              <a:t> </a:t>
            </a:r>
            <a:r>
              <a:rPr lang="ru-RU" sz="2000" dirty="0" err="1"/>
              <a:t>Owner</a:t>
            </a:r>
            <a:r>
              <a:rPr lang="ru-RU" sz="2000" dirty="0"/>
              <a:t>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заказчику;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преподавателю или ответственному за задание. </a:t>
            </a:r>
          </a:p>
          <a:p>
            <a:r>
              <a:rPr lang="ru-RU" sz="2000" dirty="0"/>
              <a:t>Пример вопросов:</a:t>
            </a: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8AF82C43-2F28-4ADC-B754-E6E2DE158A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2564083"/>
              </p:ext>
            </p:extLst>
          </p:nvPr>
        </p:nvGraphicFramePr>
        <p:xfrm>
          <a:off x="313805" y="3429000"/>
          <a:ext cx="11564390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130079">
                  <a:extLst>
                    <a:ext uri="{9D8B030D-6E8A-4147-A177-3AD203B41FA5}">
                      <a16:colId xmlns:a16="http://schemas.microsoft.com/office/drawing/2014/main" val="4287156727"/>
                    </a:ext>
                  </a:extLst>
                </a:gridCol>
                <a:gridCol w="6434311">
                  <a:extLst>
                    <a:ext uri="{9D8B030D-6E8A-4147-A177-3AD203B41FA5}">
                      <a16:colId xmlns:a16="http://schemas.microsoft.com/office/drawing/2014/main" val="38895041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Неполное требование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Вопрос тестировщика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97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Пароль должен быть надежным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Что считается надежным паролем?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733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Система должна быстро отвечать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Какое максимальное время ответа допустимо?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044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Пользователь может загрузить файл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Какие форматы файлов разрешены?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047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Цена должна отображаться корректно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Сколько знаков после запятой должно быть?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07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Ошибка должна быть понятной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Какой текст сообщения должен отображаться?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55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545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05" y="365126"/>
            <a:ext cx="11564390" cy="582526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Этапы сбора требований для разработки тестов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06" y="1117516"/>
            <a:ext cx="1156438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Этап 5. Выделение тестируемых требований</a:t>
            </a:r>
          </a:p>
          <a:p>
            <a:r>
              <a:rPr lang="ru-RU" sz="2400" dirty="0"/>
              <a:t>Не каждое требование одинаково удобно тестировать. Тестировщик выделяет требования, которые можно проверить.</a:t>
            </a:r>
          </a:p>
          <a:p>
            <a:r>
              <a:rPr lang="ru-RU" sz="2400" dirty="0"/>
              <a:t>Пример: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31FB9194-1CFE-4072-A80F-0ADF9357AC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515774"/>
              </p:ext>
            </p:extLst>
          </p:nvPr>
        </p:nvGraphicFramePr>
        <p:xfrm>
          <a:off x="313805" y="2621280"/>
          <a:ext cx="11357265" cy="3596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42064">
                  <a:extLst>
                    <a:ext uri="{9D8B030D-6E8A-4147-A177-3AD203B41FA5}">
                      <a16:colId xmlns:a16="http://schemas.microsoft.com/office/drawing/2014/main" val="2515481985"/>
                    </a:ext>
                  </a:extLst>
                </a:gridCol>
                <a:gridCol w="2244436">
                  <a:extLst>
                    <a:ext uri="{9D8B030D-6E8A-4147-A177-3AD203B41FA5}">
                      <a16:colId xmlns:a16="http://schemas.microsoft.com/office/drawing/2014/main" val="1452823246"/>
                    </a:ext>
                  </a:extLst>
                </a:gridCol>
                <a:gridCol w="5070765">
                  <a:extLst>
                    <a:ext uri="{9D8B030D-6E8A-4147-A177-3AD203B41FA5}">
                      <a16:colId xmlns:a16="http://schemas.microsoft.com/office/drawing/2014/main" val="7036009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000" b="1" dirty="0"/>
                        <a:t>Требование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Можно ли тестировать?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Как проверить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315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dirty="0"/>
                        <a:t>Пользователь может войти в систему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Ввести корректный email и пароль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597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Интерфейс должен быть приятным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Нет, слишком субъективно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Нужно уточнить критерии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678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dirty="0"/>
                        <a:t>Страница открывается до 2 секунд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Измерить время загрузки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216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Система должна быть безопасной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Частично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Уточнить конкретные требования безопасности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321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Пароль минимум 8 символов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Проверить 7, 8 и 9 символов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283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67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05" y="365126"/>
            <a:ext cx="11564390" cy="582526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Этапы сбора требований для разработки тестов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06" y="1117516"/>
            <a:ext cx="1156438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Этап 6. Определение тестовых сценариев</a:t>
            </a:r>
          </a:p>
          <a:p>
            <a:r>
              <a:rPr lang="ru-RU" sz="2400" dirty="0"/>
              <a:t>На основе требований формируются тестовые сценарии.</a:t>
            </a:r>
          </a:p>
          <a:p>
            <a:r>
              <a:rPr lang="ru-RU" sz="2400" b="1" dirty="0"/>
              <a:t>Тестовый сценарий</a:t>
            </a:r>
            <a:r>
              <a:rPr lang="ru-RU" sz="2400" dirty="0"/>
              <a:t> — это высокоуровневое описание того, что нужно проверить.</a:t>
            </a:r>
          </a:p>
          <a:p>
            <a:r>
              <a:rPr lang="ru-RU" sz="2400" dirty="0"/>
              <a:t>Пример для формы регистрации: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24F7BD72-197C-4A4D-A041-9707A2EBD9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426552"/>
              </p:ext>
            </p:extLst>
          </p:nvPr>
        </p:nvGraphicFramePr>
        <p:xfrm>
          <a:off x="149629" y="2904014"/>
          <a:ext cx="11892742" cy="3474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85906">
                  <a:extLst>
                    <a:ext uri="{9D8B030D-6E8A-4147-A177-3AD203B41FA5}">
                      <a16:colId xmlns:a16="http://schemas.microsoft.com/office/drawing/2014/main" val="2864933926"/>
                    </a:ext>
                  </a:extLst>
                </a:gridCol>
                <a:gridCol w="6206836">
                  <a:extLst>
                    <a:ext uri="{9D8B030D-6E8A-4147-A177-3AD203B41FA5}">
                      <a16:colId xmlns:a16="http://schemas.microsoft.com/office/drawing/2014/main" val="1643505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Требование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Тестовый сценарий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546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Email </a:t>
                      </a:r>
                      <a:r>
                        <a:rPr lang="kk-KZ" sz="2400"/>
                        <a:t>обязателен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Проверить регистрацию с пустым </a:t>
                      </a:r>
                      <a:r>
                        <a:rPr lang="ru-RU" sz="2400" dirty="0" err="1"/>
                        <a:t>email</a:t>
                      </a:r>
                      <a:endParaRPr lang="ru-R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82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Email </a:t>
                      </a:r>
                      <a:r>
                        <a:rPr lang="kk-KZ" sz="2400" dirty="0"/>
                        <a:t>должен быть валидным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Проверить регистрацию с неверным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3741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Пароль минимум 8 символов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Проверить короткий пароль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72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/>
                        <a:t>Пароль и подтверждение должны совпадать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Проверить разные значения пароля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548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dirty="0"/>
                        <a:t>После успешной регистрации создается аккаунт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Проверить успешную регистрацию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663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306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05" y="365126"/>
            <a:ext cx="11564390" cy="582526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Этапы сбора требований для разработки тестов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06" y="1117517"/>
            <a:ext cx="1156438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Этап 7. Подготовка тест-кейсов и тестовых данных</a:t>
            </a:r>
          </a:p>
          <a:p>
            <a:r>
              <a:rPr lang="ru-RU" sz="2400" dirty="0"/>
              <a:t>После сценариев создаются:</a:t>
            </a:r>
          </a:p>
          <a:p>
            <a:r>
              <a:rPr lang="ru-RU" sz="2400" dirty="0"/>
              <a:t>тест-кейсы; </a:t>
            </a:r>
            <a:r>
              <a:rPr lang="ru-KZ" sz="2400" dirty="0"/>
              <a:t> </a:t>
            </a:r>
            <a:r>
              <a:rPr lang="ru-RU" sz="2400" dirty="0"/>
              <a:t>чек-листы; </a:t>
            </a:r>
            <a:r>
              <a:rPr lang="ru-KZ" sz="2400" dirty="0"/>
              <a:t> </a:t>
            </a:r>
            <a:r>
              <a:rPr lang="ru-RU" sz="2400" dirty="0"/>
              <a:t>тестовые данные; ожидаемые результаты. </a:t>
            </a:r>
          </a:p>
          <a:p>
            <a:r>
              <a:rPr lang="ru-RU" sz="2400" dirty="0"/>
              <a:t>Пример: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E5F4461A-0AEA-44C3-B9AB-651DE0F1D3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2697821"/>
              </p:ext>
            </p:extLst>
          </p:nvPr>
        </p:nvGraphicFramePr>
        <p:xfrm>
          <a:off x="313805" y="2812574"/>
          <a:ext cx="11564390" cy="3383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54797">
                  <a:extLst>
                    <a:ext uri="{9D8B030D-6E8A-4147-A177-3AD203B41FA5}">
                      <a16:colId xmlns:a16="http://schemas.microsoft.com/office/drawing/2014/main" val="384765682"/>
                    </a:ext>
                  </a:extLst>
                </a:gridCol>
                <a:gridCol w="3048794">
                  <a:extLst>
                    <a:ext uri="{9D8B030D-6E8A-4147-A177-3AD203B41FA5}">
                      <a16:colId xmlns:a16="http://schemas.microsoft.com/office/drawing/2014/main" val="3849969037"/>
                    </a:ext>
                  </a:extLst>
                </a:gridCol>
                <a:gridCol w="4660799">
                  <a:extLst>
                    <a:ext uri="{9D8B030D-6E8A-4147-A177-3AD203B41FA5}">
                      <a16:colId xmlns:a16="http://schemas.microsoft.com/office/drawing/2014/main" val="2462103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Требование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Тестовые данные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589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Email </a:t>
                      </a:r>
                      <a:r>
                        <a:rPr lang="kk-KZ" sz="2400" dirty="0"/>
                        <a:t>обязателен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Пустое поле </a:t>
                      </a:r>
                      <a:r>
                        <a:rPr lang="en-US" sz="240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Сообщение: «</a:t>
                      </a:r>
                      <a:r>
                        <a:rPr lang="en-US" sz="2400"/>
                        <a:t>Email </a:t>
                      </a:r>
                      <a:r>
                        <a:rPr lang="kk-KZ" sz="2400"/>
                        <a:t>обязателен»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67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Email </a:t>
                      </a:r>
                      <a:r>
                        <a:rPr lang="kk-KZ" sz="2400"/>
                        <a:t>должен быть валидным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testmail.com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Сообщение: «Введите корректный </a:t>
                      </a:r>
                      <a:r>
                        <a:rPr lang="en-US" sz="2400"/>
                        <a:t>email»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56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Пароль минимум 8 символов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1234567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Сообщение: «Пароль слишком короткий»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543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Успешная регистрация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user@test.com, Pass1234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Пользователь зарегистрирован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889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591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2E4EA-289D-4066-A084-BCEFD5E6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2" y="365125"/>
            <a:ext cx="11693236" cy="615777"/>
          </a:xfrm>
        </p:spPr>
        <p:txBody>
          <a:bodyPr>
            <a:normAutofit/>
          </a:bodyPr>
          <a:lstStyle/>
          <a:p>
            <a:r>
              <a:rPr lang="ru-RU" sz="3600" dirty="0"/>
              <a:t>Как определить цели тестирования на основе требований</a:t>
            </a:r>
            <a:endParaRPr lang="ru-KZ" sz="36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B605881-2666-4278-BACB-051FEB7F3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9382" y="980902"/>
            <a:ext cx="5770418" cy="56526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Алгоритм определения целей тестирования</a:t>
            </a:r>
          </a:p>
          <a:p>
            <a:r>
              <a:rPr lang="ru-RU" dirty="0"/>
              <a:t>Чтобы определить цели тестирования, нужно:</a:t>
            </a:r>
          </a:p>
          <a:p>
            <a:r>
              <a:rPr lang="ru-RU" dirty="0"/>
              <a:t>определить объект тестирования; </a:t>
            </a:r>
          </a:p>
          <a:p>
            <a:r>
              <a:rPr lang="ru-RU" dirty="0"/>
              <a:t>изучить требования; </a:t>
            </a:r>
          </a:p>
          <a:p>
            <a:r>
              <a:rPr lang="ru-RU" dirty="0"/>
              <a:t>выделить критичные функции; </a:t>
            </a:r>
          </a:p>
          <a:p>
            <a:r>
              <a:rPr lang="ru-RU" dirty="0"/>
              <a:t>определить возможные риски; </a:t>
            </a:r>
          </a:p>
          <a:p>
            <a:r>
              <a:rPr lang="ru-RU" dirty="0"/>
              <a:t>понять, какие данные нужны; </a:t>
            </a:r>
          </a:p>
          <a:p>
            <a:r>
              <a:rPr lang="ru-RU" dirty="0"/>
              <a:t>выбрать виды тестирования; </a:t>
            </a:r>
          </a:p>
          <a:p>
            <a:r>
              <a:rPr lang="ru-RU" dirty="0"/>
              <a:t>сформулировать ожидаемый результат; </a:t>
            </a:r>
          </a:p>
          <a:p>
            <a:r>
              <a:rPr lang="ru-RU" dirty="0"/>
              <a:t>определить критерии успешности.</a:t>
            </a:r>
          </a:p>
          <a:p>
            <a:pPr marL="0" indent="0">
              <a:buNone/>
            </a:pP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910853-3D07-4FE8-B8D6-7511CE3D4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80902"/>
            <a:ext cx="5598622" cy="56526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Пример</a:t>
            </a:r>
          </a:p>
          <a:p>
            <a:pPr marL="0" indent="0">
              <a:buNone/>
            </a:pPr>
            <a:r>
              <a:rPr lang="ru-RU" dirty="0"/>
              <a:t>Объект тестирования: </a:t>
            </a:r>
            <a:r>
              <a:rPr lang="ru-RU" b="1" dirty="0"/>
              <a:t>форма оплаты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Требования:</a:t>
            </a:r>
          </a:p>
          <a:p>
            <a:r>
              <a:rPr lang="ru-RU" dirty="0"/>
              <a:t>Пользователь вводит номер карты. </a:t>
            </a:r>
          </a:p>
          <a:p>
            <a:r>
              <a:rPr lang="ru-RU" dirty="0"/>
              <a:t>Срок действия карты обязателен. </a:t>
            </a:r>
          </a:p>
          <a:p>
            <a:r>
              <a:rPr lang="ru-RU" dirty="0"/>
              <a:t>CVV обязателен. </a:t>
            </a:r>
          </a:p>
          <a:p>
            <a:r>
              <a:rPr lang="ru-RU" dirty="0"/>
              <a:t>При успешной оплате отображается чек. </a:t>
            </a:r>
          </a:p>
          <a:p>
            <a:r>
              <a:rPr lang="ru-RU" dirty="0"/>
              <a:t>При ошибке оплаты пользователь получает сообщение. </a:t>
            </a:r>
          </a:p>
          <a:p>
            <a:r>
              <a:rPr lang="ru-RU" dirty="0"/>
              <a:t>Данные карты не должны отображаться полностью.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194946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2E4EA-289D-4066-A084-BCEFD5E6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2" y="365125"/>
            <a:ext cx="11693236" cy="615777"/>
          </a:xfrm>
        </p:spPr>
        <p:txBody>
          <a:bodyPr>
            <a:normAutofit/>
          </a:bodyPr>
          <a:lstStyle/>
          <a:p>
            <a:r>
              <a:rPr lang="ru-RU" sz="3600" dirty="0"/>
              <a:t>Как определить цели тестирования на основе требований</a:t>
            </a:r>
            <a:endParaRPr lang="ru-KZ" sz="36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B605881-2666-4278-BACB-051FEB7F3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9381" y="1395903"/>
            <a:ext cx="11222182" cy="61577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KZ" b="1" dirty="0"/>
              <a:t>Ц</a:t>
            </a:r>
            <a:r>
              <a:rPr lang="kk-KZ" b="1" dirty="0"/>
              <a:t>е</a:t>
            </a:r>
            <a:r>
              <a:rPr lang="ru-KZ" b="1" dirty="0"/>
              <a:t>л</a:t>
            </a:r>
            <a:r>
              <a:rPr lang="kk-KZ" b="1" dirty="0"/>
              <a:t>и</a:t>
            </a:r>
            <a:r>
              <a:rPr lang="ru-KZ" b="1" dirty="0"/>
              <a:t> </a:t>
            </a:r>
            <a:r>
              <a:rPr lang="kk-KZ" b="1" dirty="0"/>
              <a:t>т</a:t>
            </a:r>
            <a:r>
              <a:rPr lang="ru-KZ" b="1" dirty="0"/>
              <a:t>е</a:t>
            </a:r>
            <a:r>
              <a:rPr lang="kk-KZ" b="1" dirty="0"/>
              <a:t>с</a:t>
            </a:r>
            <a:r>
              <a:rPr lang="ru-KZ" b="1" dirty="0"/>
              <a:t>т</a:t>
            </a:r>
            <a:r>
              <a:rPr lang="kk-KZ" b="1" dirty="0"/>
              <a:t>и</a:t>
            </a:r>
            <a:r>
              <a:rPr lang="ru-KZ" b="1" dirty="0"/>
              <a:t>р</a:t>
            </a:r>
            <a:r>
              <a:rPr lang="kk-KZ" b="1" dirty="0"/>
              <a:t>о</a:t>
            </a:r>
            <a:r>
              <a:rPr lang="ru-KZ" b="1" dirty="0"/>
              <a:t>в</a:t>
            </a:r>
            <a:r>
              <a:rPr lang="kk-KZ" b="1" dirty="0"/>
              <a:t>а</a:t>
            </a:r>
            <a:r>
              <a:rPr lang="ru-KZ" b="1" dirty="0"/>
              <a:t>н</a:t>
            </a:r>
            <a:r>
              <a:rPr lang="kk-KZ" b="1" dirty="0"/>
              <a:t>и</a:t>
            </a:r>
            <a:r>
              <a:rPr lang="ru-KZ" b="1" dirty="0"/>
              <a:t>я:</a:t>
            </a:r>
            <a:endParaRPr lang="ru-RU" b="1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910853-3D07-4FE8-B8D6-7511CE3D4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7447" y="5190980"/>
            <a:ext cx="11585171" cy="145920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/>
              <a:t>Готовая формулировка:</a:t>
            </a:r>
          </a:p>
          <a:p>
            <a:pPr marL="0" indent="0">
              <a:buNone/>
            </a:pPr>
            <a:r>
              <a:rPr lang="ru-RU" dirty="0"/>
              <a:t>Цель тестирования формы оплаты — проверить корректность обработки платежных данных, работу валидации обязательных полей, безопасность отображения информации, обработку ошибочных ситуаций и успешное завершение оплаты заказа.</a:t>
            </a:r>
          </a:p>
          <a:p>
            <a:endParaRPr lang="ru-KZ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8B1FC21A-9815-46D0-AEB7-E7091C2A7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283840"/>
              </p:ext>
            </p:extLst>
          </p:nvPr>
        </p:nvGraphicFramePr>
        <p:xfrm>
          <a:off x="307570" y="1828800"/>
          <a:ext cx="11371811" cy="320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25100">
                  <a:extLst>
                    <a:ext uri="{9D8B030D-6E8A-4147-A177-3AD203B41FA5}">
                      <a16:colId xmlns:a16="http://schemas.microsoft.com/office/drawing/2014/main" val="2938823446"/>
                    </a:ext>
                  </a:extLst>
                </a:gridCol>
                <a:gridCol w="7146711">
                  <a:extLst>
                    <a:ext uri="{9D8B030D-6E8A-4147-A177-3AD203B41FA5}">
                      <a16:colId xmlns:a16="http://schemas.microsoft.com/office/drawing/2014/main" val="33372733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Цель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Пояснение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5206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Проверить корректную оплату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Пользователь может успешно оплатить заказ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55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Проверить валидацию полей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Неверные данные не принимаются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070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Проверить обработку ошибок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При отказе банка отображается понятное сообщение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401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Проверить безопасность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Данные карты не показываются полностью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102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Проверить совместимость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Форма работает в разных браузерах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849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Проверить удобство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Пользователь понимает, что нужно вводить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584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15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2E4EA-289D-4066-A084-BCEFD5E6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2" y="365125"/>
            <a:ext cx="11693236" cy="615777"/>
          </a:xfrm>
        </p:spPr>
        <p:txBody>
          <a:bodyPr>
            <a:normAutofit/>
          </a:bodyPr>
          <a:lstStyle/>
          <a:p>
            <a:r>
              <a:rPr lang="ru-RU" sz="3600" dirty="0"/>
              <a:t>Подготовка тестирования на основе требований</a:t>
            </a:r>
            <a:endParaRPr lang="ru-KZ" sz="36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910853-3D07-4FE8-B8D6-7511CE3D4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9383" y="980902"/>
            <a:ext cx="4538748" cy="56692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Подготовка к тестированию </a:t>
            </a:r>
            <a:r>
              <a:rPr lang="ru-RU" dirty="0"/>
              <a:t>включает:</a:t>
            </a:r>
          </a:p>
          <a:p>
            <a:r>
              <a:rPr lang="ru-RU" dirty="0"/>
              <a:t>анализ требований; </a:t>
            </a:r>
          </a:p>
          <a:p>
            <a:r>
              <a:rPr lang="ru-RU" dirty="0"/>
              <a:t>уточнение спорных моментов; </a:t>
            </a:r>
          </a:p>
          <a:p>
            <a:r>
              <a:rPr lang="ru-RU" dirty="0"/>
              <a:t>определение целей тестирования; </a:t>
            </a:r>
          </a:p>
          <a:p>
            <a:r>
              <a:rPr lang="ru-RU" dirty="0"/>
              <a:t>выбор видов тестирования; </a:t>
            </a:r>
          </a:p>
          <a:p>
            <a:r>
              <a:rPr lang="ru-RU" dirty="0"/>
              <a:t>подготовку тестовых сценариев; </a:t>
            </a:r>
          </a:p>
          <a:p>
            <a:r>
              <a:rPr lang="ru-RU" dirty="0"/>
              <a:t>подготовку тест-кейсов; </a:t>
            </a:r>
          </a:p>
          <a:p>
            <a:r>
              <a:rPr lang="ru-RU" dirty="0"/>
              <a:t>подготовку тестовых данных; </a:t>
            </a:r>
          </a:p>
          <a:p>
            <a:r>
              <a:rPr lang="ru-RU" dirty="0"/>
              <a:t>подготовку тестовой среды; </a:t>
            </a:r>
          </a:p>
          <a:p>
            <a:r>
              <a:rPr lang="ru-RU" dirty="0"/>
              <a:t>определение критериев начала и завершения; </a:t>
            </a:r>
          </a:p>
          <a:p>
            <a:r>
              <a:rPr lang="ru-RU" dirty="0"/>
              <a:t>подготовку инструментов.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0081A39-8C7F-4858-A4B1-7A62B0C49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572252"/>
              </p:ext>
            </p:extLst>
          </p:nvPr>
        </p:nvGraphicFramePr>
        <p:xfrm>
          <a:off x="4788131" y="980902"/>
          <a:ext cx="7154486" cy="5791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28008">
                  <a:extLst>
                    <a:ext uri="{9D8B030D-6E8A-4147-A177-3AD203B41FA5}">
                      <a16:colId xmlns:a16="http://schemas.microsoft.com/office/drawing/2014/main" val="1240536496"/>
                    </a:ext>
                  </a:extLst>
                </a:gridCol>
                <a:gridCol w="4926478">
                  <a:extLst>
                    <a:ext uri="{9D8B030D-6E8A-4147-A177-3AD203B41FA5}">
                      <a16:colId xmlns:a16="http://schemas.microsoft.com/office/drawing/2014/main" val="3175152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000" b="1" dirty="0"/>
                        <a:t>Этап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Что делаем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931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 dirty="0"/>
                        <a:t>Анализ требований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Изучаем правила логина, пароля, блокировки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5483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 dirty="0"/>
                        <a:t>Уточнение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Спрашиваем, сколько попыток входа разрешено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269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Цели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Проверить вход, ошибки, безопасность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374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Виды тестирования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Функциональное, негативное, безопасность, </a:t>
                      </a:r>
                      <a:r>
                        <a:rPr lang="en-US" sz="2000"/>
                        <a:t>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0619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Тестовые сценарии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Успешный вход, неверный пароль, пустые поля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760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Тестовые данные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Валидный пользователь, заблокированный пользователь, неверные данные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1776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Среда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Chrome, тестовый сервер, тестовая БД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956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Инструменты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DevTools, Jira, Qase/TestIt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228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Критерии завершения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Все критичные тесты пройдены, блокирующих дефектов нет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525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354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2E4EA-289D-4066-A084-BCEFD5E6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2" y="365125"/>
            <a:ext cx="11693236" cy="615777"/>
          </a:xfrm>
        </p:spPr>
        <p:txBody>
          <a:bodyPr>
            <a:normAutofit/>
          </a:bodyPr>
          <a:lstStyle/>
          <a:p>
            <a:r>
              <a:rPr lang="ru-KZ" sz="3600" dirty="0"/>
              <a:t>Т</a:t>
            </a:r>
            <a:r>
              <a:rPr lang="ru-RU" sz="3600" dirty="0" err="1"/>
              <a:t>естовые</a:t>
            </a:r>
            <a:r>
              <a:rPr lang="ru-RU" sz="3600" dirty="0"/>
              <a:t> данные в контексте требований</a:t>
            </a:r>
            <a:endParaRPr lang="ru-KZ" sz="36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910853-3D07-4FE8-B8D6-7511CE3D4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9382" y="980902"/>
            <a:ext cx="11693235" cy="244809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Хотя отдельная лекция по тестовым данным будет позже, в этой теме важно понять: </a:t>
            </a:r>
            <a:r>
              <a:rPr lang="ru-RU" b="1" dirty="0"/>
              <a:t>тестовые данные должны вытекать из требований</a:t>
            </a:r>
            <a:r>
              <a:rPr lang="ru-RU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Пример требования: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Поле «Возраст» принимает значения от 18 до 65.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Тестовые данные: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C4D8215-18C3-4487-A695-122126D99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035774"/>
              </p:ext>
            </p:extLst>
          </p:nvPr>
        </p:nvGraphicFramePr>
        <p:xfrm>
          <a:off x="389312" y="3303025"/>
          <a:ext cx="10515600" cy="3169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02551838"/>
                    </a:ext>
                  </a:extLst>
                </a:gridCol>
                <a:gridCol w="1907772">
                  <a:extLst>
                    <a:ext uri="{9D8B030D-6E8A-4147-A177-3AD203B41FA5}">
                      <a16:colId xmlns:a16="http://schemas.microsoft.com/office/drawing/2014/main" val="2427217209"/>
                    </a:ext>
                  </a:extLst>
                </a:gridCol>
                <a:gridCol w="5102628">
                  <a:extLst>
                    <a:ext uri="{9D8B030D-6E8A-4147-A177-3AD203B41FA5}">
                      <a16:colId xmlns:a16="http://schemas.microsoft.com/office/drawing/2014/main" val="36902340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000" b="1" dirty="0"/>
                        <a:t>Тип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kk-KZ" sz="2000" b="1" dirty="0"/>
                        <a:t>Пример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119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Ниже границы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303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 dirty="0"/>
                        <a:t>Минимальная граница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34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Среднее 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164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Максимальная граница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552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Выше границы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93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Пустое 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kk-KZ" sz="2000"/>
                        <a:t>пусто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Ошибка, если поле обязательное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139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Неверный тип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abc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21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809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2E4EA-289D-4066-A084-BCEFD5E6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2" y="365125"/>
            <a:ext cx="11693236" cy="615777"/>
          </a:xfrm>
        </p:spPr>
        <p:txBody>
          <a:bodyPr>
            <a:normAutofit/>
          </a:bodyPr>
          <a:lstStyle/>
          <a:p>
            <a:r>
              <a:rPr lang="ru-KZ" sz="3600" dirty="0"/>
              <a:t>Т</a:t>
            </a:r>
            <a:r>
              <a:rPr lang="ru-RU" sz="3600" dirty="0" err="1"/>
              <a:t>естовые</a:t>
            </a:r>
            <a:r>
              <a:rPr lang="ru-RU" sz="3600" dirty="0"/>
              <a:t> данные в контексте требований</a:t>
            </a:r>
            <a:endParaRPr lang="ru-KZ" sz="36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910853-3D07-4FE8-B8D6-7511CE3D4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9383" y="985058"/>
            <a:ext cx="11693235" cy="1724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Пример требования:</a:t>
            </a:r>
          </a:p>
          <a:p>
            <a:r>
              <a:rPr lang="ru-RU" dirty="0"/>
              <a:t>Пароль должен содержать минимум 8 символов.</a:t>
            </a:r>
          </a:p>
          <a:p>
            <a:pPr marL="0" indent="0">
              <a:buNone/>
            </a:pPr>
            <a:r>
              <a:rPr lang="ru-RU" dirty="0"/>
              <a:t>Тестовые данные: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6C540D0-4F01-49CC-B54B-F2C36C7EB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687537"/>
              </p:ext>
            </p:extLst>
          </p:nvPr>
        </p:nvGraphicFramePr>
        <p:xfrm>
          <a:off x="1850967" y="2904014"/>
          <a:ext cx="8490066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58206">
                  <a:extLst>
                    <a:ext uri="{9D8B030D-6E8A-4147-A177-3AD203B41FA5}">
                      <a16:colId xmlns:a16="http://schemas.microsoft.com/office/drawing/2014/main" val="3924419900"/>
                    </a:ext>
                  </a:extLst>
                </a:gridCol>
                <a:gridCol w="5931860">
                  <a:extLst>
                    <a:ext uri="{9D8B030D-6E8A-4147-A177-3AD203B41FA5}">
                      <a16:colId xmlns:a16="http://schemas.microsoft.com/office/drawing/2014/main" val="2771973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Данные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664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KZ" sz="2400"/>
                        <a:t>1234567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057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KZ" sz="2400"/>
                        <a:t>12345678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Принято, если нет других ограничений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121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KZ" sz="2400" dirty="0"/>
                        <a:t>123456789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7342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пустое поле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579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пробелы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Ошибка или уточнение требования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774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831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A9BC7A-B74C-4B5F-9038-8B0379BFE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399"/>
          </a:xfrm>
        </p:spPr>
        <p:txBody>
          <a:bodyPr>
            <a:normAutofit fontScale="90000"/>
          </a:bodyPr>
          <a:lstStyle/>
          <a:p>
            <a:r>
              <a:rPr lang="kk-KZ" dirty="0"/>
              <a:t>Трассируемость требований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AAB6D5-2313-4219-A46C-952610AE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887" y="1047404"/>
            <a:ext cx="5570913" cy="51295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 err="1"/>
              <a:t>Трассируемость</a:t>
            </a:r>
            <a:r>
              <a:rPr lang="ru-RU" b="1" dirty="0"/>
              <a:t> требований</a:t>
            </a:r>
            <a:r>
              <a:rPr lang="ru-RU" dirty="0"/>
              <a:t> — это возможность связать каждое требование с тестами, которые его проверяют.</a:t>
            </a:r>
          </a:p>
          <a:p>
            <a:pPr marL="0" indent="0">
              <a:buNone/>
            </a:pPr>
            <a:r>
              <a:rPr lang="ru-RU" dirty="0"/>
              <a:t>Она помогает ответить на вопросы:</a:t>
            </a:r>
          </a:p>
          <a:p>
            <a:r>
              <a:rPr lang="ru-RU" dirty="0"/>
              <a:t>все ли требования покрыты тестами; </a:t>
            </a:r>
          </a:p>
          <a:p>
            <a:r>
              <a:rPr lang="ru-RU" dirty="0"/>
              <a:t>какие тесты проверяют конкретное требование; </a:t>
            </a:r>
          </a:p>
          <a:p>
            <a:r>
              <a:rPr lang="ru-RU" dirty="0"/>
              <a:t>какие требования не проверены; </a:t>
            </a:r>
          </a:p>
          <a:p>
            <a:r>
              <a:rPr lang="ru-RU" dirty="0"/>
              <a:t>какие тесты нужно изменить при изменении требования; </a:t>
            </a:r>
          </a:p>
          <a:p>
            <a:r>
              <a:rPr lang="ru-RU" dirty="0"/>
              <a:t>какие дефекты связаны с каким требованием.</a:t>
            </a:r>
          </a:p>
          <a:p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6C266F-8DE1-4E0C-A23B-4687D1F3F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047404"/>
            <a:ext cx="5698375" cy="51295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err="1"/>
              <a:t>Трассируемость</a:t>
            </a:r>
            <a:r>
              <a:rPr lang="ru-RU" dirty="0"/>
              <a:t> нужна для:</a:t>
            </a:r>
          </a:p>
          <a:p>
            <a:r>
              <a:rPr lang="ru-RU" dirty="0"/>
              <a:t>контроля полноты тестирования; </a:t>
            </a:r>
          </a:p>
          <a:p>
            <a:r>
              <a:rPr lang="ru-RU" dirty="0"/>
              <a:t>предотвращения пропуска требований; </a:t>
            </a:r>
          </a:p>
          <a:p>
            <a:r>
              <a:rPr lang="ru-RU" dirty="0"/>
              <a:t>анализа влияния изменений; </a:t>
            </a:r>
          </a:p>
          <a:p>
            <a:r>
              <a:rPr lang="ru-RU" dirty="0"/>
              <a:t>подготовки отчетности; </a:t>
            </a:r>
          </a:p>
          <a:p>
            <a:r>
              <a:rPr lang="ru-RU" dirty="0"/>
              <a:t>управления качеством; </a:t>
            </a:r>
          </a:p>
          <a:p>
            <a:r>
              <a:rPr lang="ru-RU" dirty="0"/>
              <a:t>связи требований, тест-кейсов и дефектов. 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Если изменилось требование REQ-003 «Пароль должен быть не менее 8 символов», тестировщик быстро находит все тест-кейсы, связанные с этим требованием, и обновляет их.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540783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2E4EA-289D-4066-A084-BCEFD5E6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2" y="365125"/>
            <a:ext cx="11693236" cy="615777"/>
          </a:xfrm>
        </p:spPr>
        <p:txBody>
          <a:bodyPr>
            <a:normAutofit/>
          </a:bodyPr>
          <a:lstStyle/>
          <a:p>
            <a:r>
              <a:rPr lang="kk-KZ" sz="3600" dirty="0"/>
              <a:t>Трассируемость требований</a:t>
            </a:r>
            <a:endParaRPr lang="ru-KZ" sz="36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B605881-2666-4278-BACB-051FEB7F3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9381" y="980903"/>
            <a:ext cx="11222182" cy="103077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Матрица </a:t>
            </a:r>
            <a:r>
              <a:rPr lang="ru-RU" b="1" dirty="0" err="1"/>
              <a:t>трассируемости</a:t>
            </a:r>
            <a:r>
              <a:rPr lang="ru-RU" dirty="0"/>
              <a:t> — это таблица, где требования связываются с тест-кейсами.</a:t>
            </a:r>
          </a:p>
          <a:p>
            <a:pPr marL="0" indent="0">
              <a:buNone/>
            </a:pPr>
            <a:r>
              <a:rPr lang="ru-RU" dirty="0"/>
              <a:t>Пример:</a:t>
            </a:r>
            <a:endParaRPr lang="ru-RU" b="1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910853-3D07-4FE8-B8D6-7511CE3D4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7447" y="5567409"/>
            <a:ext cx="11585171" cy="145920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Вывод по матрице: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все требования имеют тест-кейсы;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требование REQ-003 не прошло проверку;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нужно оформить дефект по правилу пароля.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03D926D-1E28-4963-95AA-28813BE1D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767542"/>
              </p:ext>
            </p:extLst>
          </p:nvPr>
        </p:nvGraphicFramePr>
        <p:xfrm>
          <a:off x="249381" y="1642843"/>
          <a:ext cx="11693240" cy="392456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78678">
                  <a:extLst>
                    <a:ext uri="{9D8B030D-6E8A-4147-A177-3AD203B41FA5}">
                      <a16:colId xmlns:a16="http://schemas.microsoft.com/office/drawing/2014/main" val="639227206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1830127636"/>
                    </a:ext>
                  </a:extLst>
                </a:gridCol>
                <a:gridCol w="1845426">
                  <a:extLst>
                    <a:ext uri="{9D8B030D-6E8A-4147-A177-3AD203B41FA5}">
                      <a16:colId xmlns:a16="http://schemas.microsoft.com/office/drawing/2014/main" val="3544683605"/>
                    </a:ext>
                  </a:extLst>
                </a:gridCol>
                <a:gridCol w="3158836">
                  <a:extLst>
                    <a:ext uri="{9D8B030D-6E8A-4147-A177-3AD203B41FA5}">
                      <a16:colId xmlns:a16="http://schemas.microsoft.com/office/drawing/2014/main" val="747567675"/>
                    </a:ext>
                  </a:extLst>
                </a:gridCol>
                <a:gridCol w="1518460">
                  <a:extLst>
                    <a:ext uri="{9D8B030D-6E8A-4147-A177-3AD203B41FA5}">
                      <a16:colId xmlns:a16="http://schemas.microsoft.com/office/drawing/2014/main" val="3051444810"/>
                    </a:ext>
                  </a:extLst>
                </a:gridCol>
              </a:tblGrid>
              <a:tr h="423306">
                <a:tc>
                  <a:txBody>
                    <a:bodyPr/>
                    <a:lstStyle/>
                    <a:p>
                      <a:r>
                        <a:rPr lang="en-US" sz="2000"/>
                        <a:t>ID </a:t>
                      </a:r>
                      <a:r>
                        <a:rPr lang="kk-KZ" sz="2000"/>
                        <a:t>требования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Требование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ID </a:t>
                      </a:r>
                      <a:r>
                        <a:rPr lang="kk-KZ" sz="2000"/>
                        <a:t>тест-кейса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Название тест-кейса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Статус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40878942"/>
                  </a:ext>
                </a:extLst>
              </a:tr>
              <a:tr h="583044">
                <a:tc>
                  <a:txBody>
                    <a:bodyPr/>
                    <a:lstStyle/>
                    <a:p>
                      <a:r>
                        <a:rPr lang="en-US" sz="2000" dirty="0"/>
                        <a:t>REQ-001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Email </a:t>
                      </a:r>
                      <a:r>
                        <a:rPr lang="kk-KZ" sz="2000"/>
                        <a:t>обязателен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TC-001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Регистрация с пустым </a:t>
                      </a:r>
                      <a:r>
                        <a:rPr lang="en-US" sz="2000"/>
                        <a:t>email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Passed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464362440"/>
                  </a:ext>
                </a:extLst>
              </a:tr>
              <a:tr h="583044">
                <a:tc>
                  <a:txBody>
                    <a:bodyPr/>
                    <a:lstStyle/>
                    <a:p>
                      <a:r>
                        <a:rPr lang="en-US" sz="2000"/>
                        <a:t>REQ-002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Email </a:t>
                      </a:r>
                      <a:r>
                        <a:rPr lang="kk-KZ" sz="2000"/>
                        <a:t>должен быть валидным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TC-002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Регистрация с неверным </a:t>
                      </a:r>
                      <a:r>
                        <a:rPr lang="en-US" sz="2000"/>
                        <a:t>email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Passed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687538005"/>
                  </a:ext>
                </a:extLst>
              </a:tr>
              <a:tr h="583044">
                <a:tc>
                  <a:txBody>
                    <a:bodyPr/>
                    <a:lstStyle/>
                    <a:p>
                      <a:r>
                        <a:rPr lang="en-US" sz="2000"/>
                        <a:t>REQ-003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Пароль минимум 8 символов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TC-003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Регистрация с коротким паролем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Failed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976607407"/>
                  </a:ext>
                </a:extLst>
              </a:tr>
              <a:tr h="604722">
                <a:tc>
                  <a:txBody>
                    <a:bodyPr/>
                    <a:lstStyle/>
                    <a:p>
                      <a:r>
                        <a:rPr lang="en-US" sz="2000"/>
                        <a:t>REQ-004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Пароль и подтверждение совпадают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TC-004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Регистрация с разными паролями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Passed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927966687"/>
                  </a:ext>
                </a:extLst>
              </a:tr>
              <a:tr h="604722">
                <a:tc>
                  <a:txBody>
                    <a:bodyPr/>
                    <a:lstStyle/>
                    <a:p>
                      <a:r>
                        <a:rPr lang="en-US" sz="2000"/>
                        <a:t>REQ-005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Успешная регистрация создает аккаунт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TC-005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Успешная регистрация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Passed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017012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895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2E4EA-289D-4066-A084-BCEFD5E6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2" y="365125"/>
            <a:ext cx="11693236" cy="615777"/>
          </a:xfrm>
        </p:spPr>
        <p:txBody>
          <a:bodyPr>
            <a:normAutofit/>
          </a:bodyPr>
          <a:lstStyle/>
          <a:p>
            <a:r>
              <a:rPr lang="kk-KZ" sz="3600" dirty="0"/>
              <a:t>Трассируемость требований</a:t>
            </a:r>
            <a:endParaRPr lang="ru-KZ" sz="36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B605881-2666-4278-BACB-051FEB7F3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9381" y="980903"/>
            <a:ext cx="11222182" cy="44888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Инструменты трассировки</a:t>
            </a:r>
            <a:r>
              <a:rPr lang="ru-KZ" sz="2000" b="1" dirty="0"/>
              <a:t>. </a:t>
            </a:r>
            <a:r>
              <a:rPr lang="ru-RU" sz="2000" dirty="0"/>
              <a:t>Для связи требований и тест-кейсов можно использовать: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8F687A-F5A7-4BF4-8694-9CA434EF4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545927"/>
              </p:ext>
            </p:extLst>
          </p:nvPr>
        </p:nvGraphicFramePr>
        <p:xfrm>
          <a:off x="1318953" y="1628235"/>
          <a:ext cx="8592588" cy="3627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03073">
                  <a:extLst>
                    <a:ext uri="{9D8B030D-6E8A-4147-A177-3AD203B41FA5}">
                      <a16:colId xmlns:a16="http://schemas.microsoft.com/office/drawing/2014/main" val="166686710"/>
                    </a:ext>
                  </a:extLst>
                </a:gridCol>
                <a:gridCol w="5189515">
                  <a:extLst>
                    <a:ext uri="{9D8B030D-6E8A-4147-A177-3AD203B41FA5}">
                      <a16:colId xmlns:a16="http://schemas.microsoft.com/office/drawing/2014/main" val="42829890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Инструмент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Назначение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947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Excel / Google Sheets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Простая матрица трассируемости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155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Jira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Связь задач, требований, дефектов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649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YouTrack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Управление задачами и дефектами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884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TestRail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Управление тест-кейсами и тест-ранами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257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Qase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Тест-кейсы, тестовые наборы, отчеты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423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TestIt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Управление тестированием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43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Azure DevOps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Требования, тест-планы, дефекты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943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Confluence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Документация требований и тестирования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518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504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505BD-37BB-482C-A8EF-94735269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Пример полного разбора требований</a:t>
            </a:r>
            <a:br>
              <a:rPr lang="ru-RU" sz="3600" b="1" dirty="0"/>
            </a:br>
            <a:r>
              <a:rPr lang="ru-RU" sz="3600" b="1" dirty="0"/>
              <a:t>Объект: форма регистрации пользователя</a:t>
            </a:r>
            <a:endParaRPr lang="ru-KZ" sz="3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4C47CB-8557-4D4D-B5E3-650777037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75" y="1830402"/>
            <a:ext cx="6451914" cy="34030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B496D1-92C0-4445-9487-A6662F97A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070" y="1830402"/>
            <a:ext cx="4946605" cy="319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85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505BD-37BB-482C-A8EF-94735269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062190"/>
          </a:xfrm>
        </p:spPr>
        <p:txBody>
          <a:bodyPr>
            <a:normAutofit/>
          </a:bodyPr>
          <a:lstStyle/>
          <a:p>
            <a:r>
              <a:rPr lang="ru-RU" sz="3600" b="1" dirty="0"/>
              <a:t>Пример полного разбора требований</a:t>
            </a:r>
            <a:br>
              <a:rPr lang="ru-RU" sz="3600" b="1" dirty="0"/>
            </a:br>
            <a:r>
              <a:rPr lang="ru-RU" sz="3600" b="1" dirty="0"/>
              <a:t>Объект: форма регистрации пользователя</a:t>
            </a:r>
            <a:br>
              <a:rPr lang="ru-KZ" sz="3600" b="1" dirty="0"/>
            </a:br>
            <a:br>
              <a:rPr lang="ru-KZ" sz="3600" b="1" dirty="0"/>
            </a:br>
            <a:r>
              <a:rPr lang="kk-KZ" sz="2400" b="1" dirty="0"/>
              <a:t>Т</a:t>
            </a:r>
            <a:r>
              <a:rPr lang="ru-KZ" sz="2400" b="1" dirty="0"/>
              <a:t>е</a:t>
            </a:r>
            <a:r>
              <a:rPr lang="kk-KZ" sz="2400" b="1" dirty="0"/>
              <a:t>с</a:t>
            </a:r>
            <a:r>
              <a:rPr lang="ru-KZ" sz="2400" b="1" dirty="0"/>
              <a:t>т</a:t>
            </a:r>
            <a:r>
              <a:rPr lang="kk-KZ" sz="2400" b="1" dirty="0"/>
              <a:t>о</a:t>
            </a:r>
            <a:r>
              <a:rPr lang="ru-KZ" sz="2400" b="1" dirty="0"/>
              <a:t>в</a:t>
            </a:r>
            <a:r>
              <a:rPr lang="kk-KZ" sz="2400" b="1" dirty="0"/>
              <a:t>ы</a:t>
            </a:r>
            <a:r>
              <a:rPr lang="ru-KZ" sz="2400" b="1" dirty="0"/>
              <a:t>е</a:t>
            </a:r>
            <a:r>
              <a:rPr lang="kk-KZ" sz="2400" b="1" dirty="0"/>
              <a:t>е</a:t>
            </a:r>
            <a:r>
              <a:rPr lang="ru-KZ" sz="2400" b="1" dirty="0"/>
              <a:t> </a:t>
            </a:r>
            <a:r>
              <a:rPr lang="kk-KZ" sz="2400" b="1" dirty="0"/>
              <a:t>д</a:t>
            </a:r>
            <a:r>
              <a:rPr lang="ru-KZ" sz="2400" b="1" dirty="0"/>
              <a:t>а</a:t>
            </a:r>
            <a:r>
              <a:rPr lang="kk-KZ" sz="2400" b="1" dirty="0"/>
              <a:t>н</a:t>
            </a:r>
            <a:r>
              <a:rPr lang="ru-KZ" sz="2400" b="1" dirty="0"/>
              <a:t>н</a:t>
            </a:r>
            <a:r>
              <a:rPr lang="kk-KZ" sz="2400" b="1" dirty="0"/>
              <a:t>ы</a:t>
            </a:r>
            <a:r>
              <a:rPr lang="ru-KZ" sz="2400" b="1" dirty="0"/>
              <a:t>е</a:t>
            </a:r>
            <a:endParaRPr lang="ru-KZ" sz="3600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136624F-B0B3-4322-AABC-C4E26E44E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660083"/>
              </p:ext>
            </p:extLst>
          </p:nvPr>
        </p:nvGraphicFramePr>
        <p:xfrm>
          <a:off x="2333106" y="2754717"/>
          <a:ext cx="5996246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87782">
                  <a:extLst>
                    <a:ext uri="{9D8B030D-6E8A-4147-A177-3AD203B41FA5}">
                      <a16:colId xmlns:a16="http://schemas.microsoft.com/office/drawing/2014/main" val="3740714135"/>
                    </a:ext>
                  </a:extLst>
                </a:gridCol>
                <a:gridCol w="3308464">
                  <a:extLst>
                    <a:ext uri="{9D8B030D-6E8A-4147-A177-3AD203B41FA5}">
                      <a16:colId xmlns:a16="http://schemas.microsoft.com/office/drawing/2014/main" val="2164059972"/>
                    </a:ext>
                  </a:extLst>
                </a:gridCol>
              </a:tblGrid>
              <a:tr h="287428">
                <a:tc>
                  <a:txBody>
                    <a:bodyPr/>
                    <a:lstStyle/>
                    <a:p>
                      <a:r>
                        <a:rPr lang="kk-KZ" b="1" dirty="0"/>
                        <a:t>Сценарий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b="1" dirty="0"/>
                        <a:t>Данные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663864"/>
                  </a:ext>
                </a:extLst>
              </a:tr>
              <a:tr h="287428">
                <a:tc>
                  <a:txBody>
                    <a:bodyPr/>
                    <a:lstStyle/>
                    <a:p>
                      <a:r>
                        <a:rPr lang="kk-KZ"/>
                        <a:t>Пустое имя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"", test@mail.com, Pass1234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4484"/>
                  </a:ext>
                </a:extLst>
              </a:tr>
              <a:tr h="287428">
                <a:tc>
                  <a:txBody>
                    <a:bodyPr/>
                    <a:lstStyle/>
                    <a:p>
                      <a:r>
                        <a:rPr lang="kk-KZ"/>
                        <a:t>Пустой </a:t>
                      </a:r>
                      <a:r>
                        <a:rPr lang="en-US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Ivan, "", Pass1234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928771"/>
                  </a:ext>
                </a:extLst>
              </a:tr>
              <a:tr h="287428">
                <a:tc>
                  <a:txBody>
                    <a:bodyPr/>
                    <a:lstStyle/>
                    <a:p>
                      <a:r>
                        <a:rPr lang="kk-KZ"/>
                        <a:t>Невалидный </a:t>
                      </a:r>
                      <a:r>
                        <a:rPr lang="en-US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Ivan, testmail.com, Pass1234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320923"/>
                  </a:ext>
                </a:extLst>
              </a:tr>
              <a:tr h="287428">
                <a:tc>
                  <a:txBody>
                    <a:bodyPr/>
                    <a:lstStyle/>
                    <a:p>
                      <a:r>
                        <a:rPr lang="kk-KZ"/>
                        <a:t>Короткий пароль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/>
                        <a:t>Ivan, test@mail.com, 1234567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914799"/>
                  </a:ext>
                </a:extLst>
              </a:tr>
              <a:tr h="287428">
                <a:tc>
                  <a:txBody>
                    <a:bodyPr/>
                    <a:lstStyle/>
                    <a:p>
                      <a:r>
                        <a:rPr lang="kk-KZ"/>
                        <a:t>Разные пароли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Pass1234 </a:t>
                      </a:r>
                      <a:r>
                        <a:rPr lang="kk-KZ"/>
                        <a:t>и </a:t>
                      </a:r>
                      <a:r>
                        <a:rPr lang="en-US"/>
                        <a:t>Pass5678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071463"/>
                  </a:ext>
                </a:extLst>
              </a:tr>
              <a:tr h="287428">
                <a:tc>
                  <a:txBody>
                    <a:bodyPr/>
                    <a:lstStyle/>
                    <a:p>
                      <a:r>
                        <a:rPr lang="kk-KZ" dirty="0"/>
                        <a:t>Корректные данные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/>
                        <a:t>Ivan, ivan@test.com, Pass1234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544818"/>
                  </a:ext>
                </a:extLst>
              </a:tr>
              <a:tr h="287428">
                <a:tc>
                  <a:txBody>
                    <a:bodyPr/>
                    <a:lstStyle/>
                    <a:p>
                      <a:r>
                        <a:rPr lang="kk-KZ" dirty="0"/>
                        <a:t>Уже существующий </a:t>
                      </a:r>
                      <a:r>
                        <a:rPr lang="en-US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Ivan, used@test.com, Pass1234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823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543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505BD-37BB-482C-A8EF-94735269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79063"/>
          </a:xfrm>
        </p:spPr>
        <p:txBody>
          <a:bodyPr>
            <a:normAutofit fontScale="90000"/>
          </a:bodyPr>
          <a:lstStyle/>
          <a:p>
            <a:r>
              <a:rPr lang="ru-RU" sz="3600" b="1" dirty="0"/>
              <a:t>Пример полного разбора требований</a:t>
            </a:r>
            <a:br>
              <a:rPr lang="ru-RU" sz="3600" b="1" dirty="0"/>
            </a:br>
            <a:r>
              <a:rPr lang="ru-RU" sz="3600" b="1" dirty="0"/>
              <a:t>Объект: форма регистрации пользователя</a:t>
            </a:r>
            <a:br>
              <a:rPr lang="ru-KZ" sz="3600" b="1" dirty="0"/>
            </a:br>
            <a:br>
              <a:rPr lang="ru-KZ" sz="3600" b="1" dirty="0"/>
            </a:br>
            <a:r>
              <a:rPr lang="kk-KZ" sz="3100" b="1" dirty="0"/>
              <a:t>Матрица трассируемости</a:t>
            </a:r>
            <a:endParaRPr lang="ru-KZ" sz="31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40B6F99-5676-4C11-B485-977F974B8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238961"/>
              </p:ext>
            </p:extLst>
          </p:nvPr>
        </p:nvGraphicFramePr>
        <p:xfrm>
          <a:off x="1945177" y="2431868"/>
          <a:ext cx="8883535" cy="32791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62380">
                  <a:extLst>
                    <a:ext uri="{9D8B030D-6E8A-4147-A177-3AD203B41FA5}">
                      <a16:colId xmlns:a16="http://schemas.microsoft.com/office/drawing/2014/main" val="3293580416"/>
                    </a:ext>
                  </a:extLst>
                </a:gridCol>
                <a:gridCol w="1356654">
                  <a:extLst>
                    <a:ext uri="{9D8B030D-6E8A-4147-A177-3AD203B41FA5}">
                      <a16:colId xmlns:a16="http://schemas.microsoft.com/office/drawing/2014/main" val="3838274915"/>
                    </a:ext>
                  </a:extLst>
                </a:gridCol>
                <a:gridCol w="5864501">
                  <a:extLst>
                    <a:ext uri="{9D8B030D-6E8A-4147-A177-3AD203B41FA5}">
                      <a16:colId xmlns:a16="http://schemas.microsoft.com/office/drawing/2014/main" val="3479660123"/>
                    </a:ext>
                  </a:extLst>
                </a:gridCol>
              </a:tblGrid>
              <a:tr h="295140">
                <a:tc>
                  <a:txBody>
                    <a:bodyPr/>
                    <a:lstStyle/>
                    <a:p>
                      <a:r>
                        <a:rPr lang="kk-KZ"/>
                        <a:t>Требование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Тест-кейс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0475406"/>
                  </a:ext>
                </a:extLst>
              </a:tr>
              <a:tr h="295140">
                <a:tc>
                  <a:txBody>
                    <a:bodyPr/>
                    <a:lstStyle/>
                    <a:p>
                      <a:r>
                        <a:rPr lang="en-US"/>
                        <a:t>REQ-001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Ошибка: «Имя обязательно»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773817"/>
                  </a:ext>
                </a:extLst>
              </a:tr>
              <a:tr h="295140">
                <a:tc>
                  <a:txBody>
                    <a:bodyPr/>
                    <a:lstStyle/>
                    <a:p>
                      <a:r>
                        <a:rPr lang="en-US"/>
                        <a:t>REQ-002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TC-002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dirty="0"/>
                        <a:t>Ошибка: «</a:t>
                      </a:r>
                      <a:r>
                        <a:rPr lang="en-US" dirty="0"/>
                        <a:t>Email </a:t>
                      </a:r>
                      <a:r>
                        <a:rPr lang="kk-KZ" dirty="0"/>
                        <a:t>обязателен»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594399"/>
                  </a:ext>
                </a:extLst>
              </a:tr>
              <a:tr h="483460">
                <a:tc>
                  <a:txBody>
                    <a:bodyPr/>
                    <a:lstStyle/>
                    <a:p>
                      <a:r>
                        <a:rPr lang="en-US" dirty="0"/>
                        <a:t>REQ-003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TC-003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Ошибка: «Введите корректный </a:t>
                      </a:r>
                      <a:r>
                        <a:rPr lang="en-US"/>
                        <a:t>email»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7751149"/>
                  </a:ext>
                </a:extLst>
              </a:tr>
              <a:tr h="483460">
                <a:tc>
                  <a:txBody>
                    <a:bodyPr/>
                    <a:lstStyle/>
                    <a:p>
                      <a:r>
                        <a:rPr lang="en-US" dirty="0"/>
                        <a:t>REQ-004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TC-004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Ошибка: «Пароль должен быть не менее 8 символов»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775703"/>
                  </a:ext>
                </a:extLst>
              </a:tr>
              <a:tr h="295140">
                <a:tc>
                  <a:txBody>
                    <a:bodyPr/>
                    <a:lstStyle/>
                    <a:p>
                      <a:r>
                        <a:rPr lang="en-US"/>
                        <a:t>REQ-005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TC-005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Ошибка: «Пароли не совпадают»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036875"/>
                  </a:ext>
                </a:extLst>
              </a:tr>
              <a:tr h="295140">
                <a:tc>
                  <a:txBody>
                    <a:bodyPr/>
                    <a:lstStyle/>
                    <a:p>
                      <a:r>
                        <a:rPr lang="en-US"/>
                        <a:t>REQ-006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TC-006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Успешная регистрация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221818"/>
                  </a:ext>
                </a:extLst>
              </a:tr>
              <a:tr h="483460">
                <a:tc>
                  <a:txBody>
                    <a:bodyPr/>
                    <a:lstStyle/>
                    <a:p>
                      <a:r>
                        <a:rPr lang="en-US"/>
                        <a:t>REQ-007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TC-007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dirty="0"/>
                        <a:t>Ошибка: «</a:t>
                      </a:r>
                      <a:r>
                        <a:rPr lang="en-US" dirty="0"/>
                        <a:t>Email </a:t>
                      </a:r>
                      <a:r>
                        <a:rPr lang="kk-KZ" dirty="0"/>
                        <a:t>уже используется»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002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711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3E2B6A-C19C-4FCA-9088-55196D1A4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58" y="365126"/>
            <a:ext cx="11587942" cy="848534"/>
          </a:xfrm>
        </p:spPr>
        <p:txBody>
          <a:bodyPr/>
          <a:lstStyle/>
          <a:p>
            <a:r>
              <a:rPr lang="ru-RU" dirty="0"/>
              <a:t>Типичные ошибки при работе с требованиями</a:t>
            </a:r>
            <a:endParaRPr lang="ru-KZ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D9F685F-A5A5-4B8C-8245-A5738F86D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772910"/>
              </p:ext>
            </p:extLst>
          </p:nvPr>
        </p:nvGraphicFramePr>
        <p:xfrm>
          <a:off x="299258" y="1213660"/>
          <a:ext cx="11338560" cy="54984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79520">
                  <a:extLst>
                    <a:ext uri="{9D8B030D-6E8A-4147-A177-3AD203B41FA5}">
                      <a16:colId xmlns:a16="http://schemas.microsoft.com/office/drawing/2014/main" val="327120807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1482025099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1851382082"/>
                    </a:ext>
                  </a:extLst>
                </a:gridCol>
              </a:tblGrid>
              <a:tr h="221521">
                <a:tc>
                  <a:txBody>
                    <a:bodyPr/>
                    <a:lstStyle/>
                    <a:p>
                      <a:r>
                        <a:rPr lang="kk-KZ" sz="2000" b="1" dirty="0"/>
                        <a:t>Ошибка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Почему это плохо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Как правильно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50732999"/>
                  </a:ext>
                </a:extLst>
              </a:tr>
              <a:tr h="620416">
                <a:tc>
                  <a:txBody>
                    <a:bodyPr/>
                    <a:lstStyle/>
                    <a:p>
                      <a:r>
                        <a:rPr lang="ru-RU" sz="2000" dirty="0"/>
                        <a:t>Начинать писать тесты без анализа требований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Можно пропустить важные проверки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Сначала изучить требования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293635862"/>
                  </a:ext>
                </a:extLst>
              </a:tr>
              <a:tr h="620416">
                <a:tc>
                  <a:txBody>
                    <a:bodyPr/>
                    <a:lstStyle/>
                    <a:p>
                      <a:r>
                        <a:rPr lang="ru-RU" sz="2000"/>
                        <a:t>Не задавать вопросы по неясным требованиям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Тесты будут основаны на предположениях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Уточнять у аналитика или заказчика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910840868"/>
                  </a:ext>
                </a:extLst>
              </a:tr>
              <a:tr h="620416">
                <a:tc>
                  <a:txBody>
                    <a:bodyPr/>
                    <a:lstStyle/>
                    <a:p>
                      <a:r>
                        <a:rPr lang="kk-KZ" sz="2000"/>
                        <a:t>Проверять только позитивные сценарии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Негативные случаи останутся непроверенными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Добавлять негативные и граничные проверки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330861267"/>
                  </a:ext>
                </a:extLst>
              </a:tr>
              <a:tr h="620416">
                <a:tc>
                  <a:txBody>
                    <a:bodyPr/>
                    <a:lstStyle/>
                    <a:p>
                      <a:r>
                        <a:rPr lang="ru-RU" sz="2000"/>
                        <a:t>Не связывать тесты с требованиями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Нельзя доказать полноту покрытия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Вести матрицу трассируемости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632604724"/>
                  </a:ext>
                </a:extLst>
              </a:tr>
              <a:tr h="620416">
                <a:tc>
                  <a:txBody>
                    <a:bodyPr/>
                    <a:lstStyle/>
                    <a:p>
                      <a:r>
                        <a:rPr lang="kk-KZ" sz="2000"/>
                        <a:t>Использовать случайные тестовые данные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Данные могут не проверять нужные условия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Подбирать данные из требований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983239077"/>
                  </a:ext>
                </a:extLst>
              </a:tr>
              <a:tr h="886310">
                <a:tc>
                  <a:txBody>
                    <a:bodyPr/>
                    <a:lstStyle/>
                    <a:p>
                      <a:r>
                        <a:rPr lang="kk-KZ" sz="2000"/>
                        <a:t>Игнорировать нефункциональные требования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Производительность, безопасность и удобство останутся без проверки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Проверять качественные характеристики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80478526"/>
                  </a:ext>
                </a:extLst>
              </a:tr>
              <a:tr h="620416">
                <a:tc>
                  <a:txBody>
                    <a:bodyPr/>
                    <a:lstStyle/>
                    <a:p>
                      <a:r>
                        <a:rPr lang="ru-RU" sz="2000"/>
                        <a:t>Не обновлять тесты после изменения требований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Тесты устаревают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Актуализировать тест-кейсы и матрицу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340878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907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CE3D7-CACC-4859-996E-B1584573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8" y="365126"/>
            <a:ext cx="11959244" cy="93166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</a:t>
            </a:r>
            <a:r>
              <a:rPr lang="ru-KZ" b="1" dirty="0"/>
              <a:t>. </a:t>
            </a:r>
            <a:r>
              <a:rPr lang="ru-RU" dirty="0"/>
              <a:t>Для модуля </a:t>
            </a:r>
            <a:r>
              <a:rPr lang="ru-RU" b="1" dirty="0"/>
              <a:t>«Корзина интернет-магазина»</a:t>
            </a:r>
            <a:r>
              <a:rPr lang="ru-RU" dirty="0"/>
              <a:t> составить мини-матрицу </a:t>
            </a:r>
            <a:r>
              <a:rPr lang="ru-RU" dirty="0" err="1"/>
              <a:t>трассируемости</a:t>
            </a:r>
            <a:r>
              <a:rPr lang="ru-RU" dirty="0"/>
              <a:t>.</a:t>
            </a:r>
            <a:endParaRPr lang="ru-KZ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D317AD1-A214-4B0D-91FC-EB1936706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296785"/>
            <a:ext cx="11454938" cy="26933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Требования:</a:t>
            </a:r>
          </a:p>
          <a:p>
            <a:r>
              <a:rPr lang="ru-RU" dirty="0"/>
              <a:t>Пользователь может добавить товар в корзину. </a:t>
            </a:r>
          </a:p>
          <a:p>
            <a:r>
              <a:rPr lang="ru-RU" dirty="0"/>
              <a:t>Пользователь может удалить товар из корзины. </a:t>
            </a:r>
          </a:p>
          <a:p>
            <a:r>
              <a:rPr lang="ru-RU" dirty="0"/>
              <a:t>Система пересчитывает итоговую сумму. </a:t>
            </a:r>
          </a:p>
          <a:p>
            <a:r>
              <a:rPr lang="ru-RU" dirty="0"/>
              <a:t>Нельзя оформить заказ с пустой корзиной. </a:t>
            </a:r>
          </a:p>
          <a:p>
            <a:r>
              <a:rPr lang="ru-RU" dirty="0"/>
              <a:t>При изменении количества товара сумма обновляется.</a:t>
            </a:r>
          </a:p>
          <a:p>
            <a:pPr marL="0" indent="0">
              <a:buNone/>
            </a:pPr>
            <a:r>
              <a:rPr lang="ru-RU" dirty="0"/>
              <a:t>Нужно заполнить таблицу.</a:t>
            </a:r>
          </a:p>
          <a:p>
            <a:endParaRPr lang="ru-KZ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2F8C0EC1-1A96-43C4-9250-4FC700E13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430110"/>
              </p:ext>
            </p:extLst>
          </p:nvPr>
        </p:nvGraphicFramePr>
        <p:xfrm>
          <a:off x="835429" y="3990109"/>
          <a:ext cx="10515600" cy="2468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8076874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206611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449583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510174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6405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ID </a:t>
                      </a:r>
                      <a:r>
                        <a:rPr lang="kk-KZ"/>
                        <a:t>требования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Требование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ID </a:t>
                      </a:r>
                      <a:r>
                        <a:rPr lang="kk-KZ"/>
                        <a:t>тест-кейса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Название тест-кейса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718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REQ-001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707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REQ-002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TC-002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028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REQ-003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TC-003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255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REQ-004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TC-004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769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REQ-005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TC-005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762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021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7D87FEB-C825-4698-9FDA-536421CA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Контрольные вопросы</a:t>
            </a:r>
            <a:endParaRPr lang="ru-KZ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D7A74CA-805C-4BBF-9F48-1775BB2222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922119"/>
            <a:ext cx="10782993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KZ" altLang="ru-K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Что такое требование?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Какие бывают виды требований?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Чем функциональные требования отличаются от нефункциональных?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Какие источники требований может использовать тестировщик?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Какие этапы включает сбор требований для разработки тестов?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Почему важно проверять качество требований? Ч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то значит «требование должно быть тестируемым»?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Что такое </a:t>
            </a:r>
            <a:r>
              <a:rPr lang="ru-RU" sz="2400" dirty="0" err="1"/>
              <a:t>трассируемость</a:t>
            </a:r>
            <a:r>
              <a:rPr lang="ru-RU" sz="2400" dirty="0"/>
              <a:t> требований? Для чего нужна матрица </a:t>
            </a:r>
            <a:r>
              <a:rPr lang="ru-RU" sz="2400" dirty="0" err="1"/>
              <a:t>трассируемости</a:t>
            </a:r>
            <a:r>
              <a:rPr lang="ru-RU" sz="2400" dirty="0"/>
              <a:t>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Как связать тест-кейс с требованием?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Какие инструменты можно использовать для трассировки?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Как требования помогают определить цели тестирования?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Почему нельзя использовать случайные тестовые данные?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Что делать, если требование неполное или неоднозначное?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4916953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2319</Words>
  <Application>Microsoft Office PowerPoint</Application>
  <PresentationFormat>Широкоэкранный</PresentationFormat>
  <Paragraphs>552</Paragraphs>
  <Slides>28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Тема Office</vt:lpstr>
      <vt:lpstr>Требования и подготовка к тестированию</vt:lpstr>
      <vt:lpstr>Цель лекции</vt:lpstr>
      <vt:lpstr>Что такое требование</vt:lpstr>
      <vt:lpstr>Виды требований</vt:lpstr>
      <vt:lpstr>Виды требований</vt:lpstr>
      <vt:lpstr>Виды требований</vt:lpstr>
      <vt:lpstr>Виды требований</vt:lpstr>
      <vt:lpstr>Источники требований для тестирования</vt:lpstr>
      <vt:lpstr>Этапы сбора требований для разработки тестов</vt:lpstr>
      <vt:lpstr>Этапы сбора требований для разработки тестов</vt:lpstr>
      <vt:lpstr>Этапы сбора требований для разработки тестов</vt:lpstr>
      <vt:lpstr>Этапы сбора требований для разработки тестов</vt:lpstr>
      <vt:lpstr>Этапы сбора требований для разработки тестов</vt:lpstr>
      <vt:lpstr>Этапы сбора требований для разработки тестов</vt:lpstr>
      <vt:lpstr>Как определить цели тестирования на основе требований</vt:lpstr>
      <vt:lpstr>Как определить цели тестирования на основе требований</vt:lpstr>
      <vt:lpstr>Подготовка тестирования на основе требований</vt:lpstr>
      <vt:lpstr>Тестовые данные в контексте требований</vt:lpstr>
      <vt:lpstr>Тестовые данные в контексте требований</vt:lpstr>
      <vt:lpstr>Трассируемость требований</vt:lpstr>
      <vt:lpstr>Трассируемость требований</vt:lpstr>
      <vt:lpstr>Трассируемость требований</vt:lpstr>
      <vt:lpstr>Пример полного разбора требований Объект: форма регистрации пользователя</vt:lpstr>
      <vt:lpstr>Пример полного разбора требований Объект: форма регистрации пользователя  Тестовыее данные</vt:lpstr>
      <vt:lpstr>Пример полного разбора требований Объект: форма регистрации пользователя  Матрица трассируемости</vt:lpstr>
      <vt:lpstr>Типичные ошибки при работе с требованиями</vt:lpstr>
      <vt:lpstr>Задание. Для модуля «Корзина интернет-магазина» составить мини-матрицу трассируемости.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тестирование программного обеспечения</dc:title>
  <dc:creator>raigul_almaty@mail.ru</dc:creator>
  <cp:lastModifiedBy>raigul_almaty@mail.ru</cp:lastModifiedBy>
  <cp:revision>7</cp:revision>
  <dcterms:created xsi:type="dcterms:W3CDTF">2026-05-17T16:20:39Z</dcterms:created>
  <dcterms:modified xsi:type="dcterms:W3CDTF">2026-05-18T06:52:17Z</dcterms:modified>
</cp:coreProperties>
</file>