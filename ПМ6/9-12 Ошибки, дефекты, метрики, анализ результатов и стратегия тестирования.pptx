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61" r:id="rId4"/>
    <p:sldId id="260" r:id="rId5"/>
    <p:sldId id="319" r:id="rId6"/>
    <p:sldId id="320" r:id="rId7"/>
    <p:sldId id="321" r:id="rId8"/>
    <p:sldId id="322" r:id="rId9"/>
    <p:sldId id="323" r:id="rId10"/>
    <p:sldId id="272" r:id="rId11"/>
    <p:sldId id="295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02" r:id="rId23"/>
    <p:sldId id="301" r:id="rId24"/>
    <p:sldId id="334" r:id="rId25"/>
    <p:sldId id="335" r:id="rId26"/>
    <p:sldId id="336" r:id="rId27"/>
    <p:sldId id="337" r:id="rId28"/>
    <p:sldId id="307" r:id="rId29"/>
    <p:sldId id="308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50" autoAdjust="0"/>
  </p:normalViewPr>
  <p:slideViewPr>
    <p:cSldViewPr snapToGrid="0">
      <p:cViewPr varScale="1">
        <p:scale>
          <a:sx n="46" d="100"/>
          <a:sy n="46" d="100"/>
        </p:scale>
        <p:origin x="5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227DF-E6DD-4BB1-83E0-BA8017E7A36C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B634A-D13B-4807-A024-9C2D2D9949C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5096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13337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04576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65155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23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39487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22426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94096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06025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32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43295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36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99988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37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8167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DE3F2-B698-4579-AFA9-136982B3C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2AE722-9C99-409A-850C-CE2D05107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666668-B399-44B4-B85E-8D50637C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4FBEE5-C408-4925-AA45-7D6FC29A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96BDC9-62E8-4216-95AD-42093F39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0269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62BE3-67CA-4312-8C25-C3645724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7D20E7-8F73-4D3E-9141-A2AA0582E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C22CDA-EA17-4046-A18C-312FF807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C80F4C-7467-46FB-B69C-DBF42C05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63BAD-8CB2-4416-A40E-FE4233D5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435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53BED-9D88-4B92-9FFE-1BF4BC7C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6801F5-A6D6-4384-B3E2-C82FA8A32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5D3BD8-C46F-4913-851D-4B8BFBBC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3F8F96-D732-4688-A559-0FD2FF2A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9E842-C849-49EB-80E8-F33AD204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1356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F847C-50FC-4B40-8610-B1521DAE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6466A-4F05-4F55-B66C-B2B8C9222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50F240-9DD5-4492-A59A-1470A235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FEC49E-DE16-467C-8DC9-704AAC61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E23614-E149-4FA2-9B51-D848E557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7E1A06-A913-4443-8306-BF492DE3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5232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57D27-EC3E-4180-BADD-AF041B498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E475EF-F989-4DE3-99C0-35FC43861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94FD67-7246-4ED2-8580-7658FEBBC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4D95A3-9C74-4C72-AC4B-48FBBD62E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07F4151-3539-49C0-B7EC-BABC021E2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37E4B4-E7C7-4E37-B7D6-B3719564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5F3FBB5-4A23-407D-A728-93F9A568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17369D5-D24F-43BD-8497-8B1D37E1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34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C7B6A-5991-4B29-BE03-6C2C56A4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4AAD6D-2967-4E2B-9549-873946F0C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BAB8F6F-CCD4-44B5-8034-56699651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9FF16A-933A-479A-9EE9-F0BE5BB3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53301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88DA71-D936-417C-948E-128DC16A8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71AE77-3916-4F76-A3D8-8F729780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1FF955-5758-4D65-8FA1-EE73C8DC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4297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2CF63-542E-4138-8468-738A2527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3FE53C-69AA-4E8C-97E7-669AEDA9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3C0BD3-9EB2-409B-BA45-5D5A81B52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5E37BB-863B-4D83-8290-90C2C0B1F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2E1A03-9F84-4968-A680-7B6FD9CB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0D2F00-DC32-45FC-9C61-40DEC63E4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2950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7C4CD-3B3C-4999-A232-758C5F1C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4D128C5-B170-4F2A-9DA7-8A323DB51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2FB2EA-B103-488B-8778-4F3AF5D5D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6D0D2E-B2E7-4321-A389-245178E3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54F084-1A26-4651-84EF-E881229D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31A11A-A9F3-4285-AAEC-8317AFA9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4193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5E2E4-5366-43AF-BAAC-3D5C0FE5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293861-95B4-4305-BE46-EABCEE7AF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83A23-BC22-4D68-8D08-08CF7C5B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BB9031-2F6B-4A0F-B7AB-461A8BE2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EDD63D-AF25-40C3-BDBE-176BF468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8030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2F5AC2-018D-4E72-B734-4DE032B46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3B5BDC-714A-4525-B897-02D096648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ABDB01-4122-4231-A380-0B615B13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B5E40A-6E82-4735-A3D2-93056755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6BEECD-029F-488E-BBAD-8DCD42F7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499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EF228-8EA5-417A-BE95-A1A887D3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57A4A1-DF63-4C9D-85AE-D0602A8C9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55ECCD-AB59-45D8-8DA5-B103AD958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A8477-1C02-4070-AD50-E01800D3EAFE}" type="datetimeFigureOut">
              <a:rPr lang="ru-KZ" smtClean="0"/>
              <a:t>21.05.2026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FB3731-BB4F-47F1-9FB1-300879789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2D49FC-526C-4F40-9258-3426AB2BB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5390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A2FEB-9BE9-4955-92D3-AEA9A30D8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Ошибки, дефекты, метрики, анализ результатов и стратегия тестирования</a:t>
            </a:r>
            <a:endParaRPr lang="ru-KZ" sz="5200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BC3EC1-046E-4404-94D9-2606A1340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Поддержка и тестирование программных модулей</a:t>
            </a:r>
            <a:endParaRPr lang="ru-K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20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74782-858C-4CD2-976E-4035E43B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Цель лекции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289C4B-6E69-40AC-B175-CA88C393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Сформировать у студентов целостное понимание того, как дефекты выявляются, классифицируются, измеряются через метрики, анализируются по результатам тестирования и учитываются при построении стратегии тестирования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91498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CAF1DCD-DE12-4B4F-9AC4-CDD8BD92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Ошибки, дефекты и сбои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525792-925B-4C53-9DF4-7F01B1317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2093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B628F-4BA6-42AF-8189-96176F71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понятия</a:t>
            </a:r>
            <a:endParaRPr lang="ru-KZ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0753066-4006-4A42-A45E-253CD12F3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513457"/>
              </p:ext>
            </p:extLst>
          </p:nvPr>
        </p:nvGraphicFramePr>
        <p:xfrm>
          <a:off x="310342" y="1341553"/>
          <a:ext cx="11571315" cy="2590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95302">
                  <a:extLst>
                    <a:ext uri="{9D8B030D-6E8A-4147-A177-3AD203B41FA5}">
                      <a16:colId xmlns:a16="http://schemas.microsoft.com/office/drawing/2014/main" val="3382562654"/>
                    </a:ext>
                  </a:extLst>
                </a:gridCol>
                <a:gridCol w="4605251">
                  <a:extLst>
                    <a:ext uri="{9D8B030D-6E8A-4147-A177-3AD203B41FA5}">
                      <a16:colId xmlns:a16="http://schemas.microsoft.com/office/drawing/2014/main" val="865388987"/>
                    </a:ext>
                  </a:extLst>
                </a:gridCol>
                <a:gridCol w="5070762">
                  <a:extLst>
                    <a:ext uri="{9D8B030D-6E8A-4147-A177-3AD203B41FA5}">
                      <a16:colId xmlns:a16="http://schemas.microsoft.com/office/drawing/2014/main" val="1326471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Понятие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Объяснение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00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 b="1"/>
                        <a:t>Ошибка</a:t>
                      </a:r>
                      <a:endParaRPr lang="kk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Неправильное действие человека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Аналитик неверно описал правило пароля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461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 b="1"/>
                        <a:t>Дефект / баг</a:t>
                      </a:r>
                      <a:endParaRPr lang="kk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Недостаток в продукте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Система принимает пустой </a:t>
                      </a:r>
                      <a:r>
                        <a:rPr lang="en-US" sz="2000"/>
                        <a:t>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455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 b="1"/>
                        <a:t>Сбой</a:t>
                      </a:r>
                      <a:endParaRPr lang="kk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Проявление дефекта во время работы программы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Приложение падает при отправке формы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26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 b="1"/>
                        <a:t>Отказ</a:t>
                      </a:r>
                      <a:endParaRPr lang="kk-KZ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Система не может выполнить требуемую функцию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Пользователь вообще не может войти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275491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CC8C2A-8B3B-49C0-A6F6-B557071A2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664" y="4048731"/>
            <a:ext cx="7418669" cy="260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39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708B9-3021-4413-9603-5612BC66B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Типы ошибок и дефектов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0ADE736-BE27-43C3-B97C-9FE4C33D59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4993510"/>
              </p:ext>
            </p:extLst>
          </p:nvPr>
        </p:nvGraphicFramePr>
        <p:xfrm>
          <a:off x="227215" y="1481783"/>
          <a:ext cx="11737570" cy="50110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61308">
                  <a:extLst>
                    <a:ext uri="{9D8B030D-6E8A-4147-A177-3AD203B41FA5}">
                      <a16:colId xmlns:a16="http://schemas.microsoft.com/office/drawing/2014/main" val="1235085680"/>
                    </a:ext>
                  </a:extLst>
                </a:gridCol>
                <a:gridCol w="4322619">
                  <a:extLst>
                    <a:ext uri="{9D8B030D-6E8A-4147-A177-3AD203B41FA5}">
                      <a16:colId xmlns:a16="http://schemas.microsoft.com/office/drawing/2014/main" val="1981731015"/>
                    </a:ext>
                  </a:extLst>
                </a:gridCol>
                <a:gridCol w="5253643">
                  <a:extLst>
                    <a:ext uri="{9D8B030D-6E8A-4147-A177-3AD203B41FA5}">
                      <a16:colId xmlns:a16="http://schemas.microsoft.com/office/drawing/2014/main" val="1890792257"/>
                    </a:ext>
                  </a:extLst>
                </a:gridCol>
              </a:tblGrid>
              <a:tr h="280731">
                <a:tc>
                  <a:txBody>
                    <a:bodyPr/>
                    <a:lstStyle/>
                    <a:p>
                      <a:r>
                        <a:rPr lang="kk-KZ" sz="2000"/>
                        <a:t>Тип дефекта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Что означает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Пример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838594640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kk-KZ" sz="2000" b="1"/>
                        <a:t>Функциональный</a:t>
                      </a:r>
                      <a:endParaRPr lang="kk-KZ" sz="20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Функция работает не по требованиям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Кнопка «Сохранить» не сохраняет данные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32424902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r>
                        <a:rPr lang="kk-KZ" sz="2000" b="1"/>
                        <a:t>Логический</a:t>
                      </a:r>
                      <a:endParaRPr lang="kk-KZ" sz="20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 в бизнес-логике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Скидка считается неправильно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074988521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r>
                        <a:rPr lang="kk-KZ" sz="2000" b="1"/>
                        <a:t>Валидационный</a:t>
                      </a:r>
                      <a:endParaRPr lang="kk-KZ" sz="20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Неправильная проверка данных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Система принимает </a:t>
                      </a:r>
                      <a:r>
                        <a:rPr lang="en-US" sz="2000"/>
                        <a:t>email </a:t>
                      </a:r>
                      <a:r>
                        <a:rPr lang="kk-KZ" sz="2000"/>
                        <a:t>без @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638388103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r>
                        <a:rPr lang="en-US" sz="2000" b="1"/>
                        <a:t>UI / GUI</a:t>
                      </a:r>
                      <a:endParaRPr lang="en-US" sz="20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Проблема интерфейса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Кнопка перекрывает текст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163326199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r>
                        <a:rPr lang="en-US" sz="2000" b="1"/>
                        <a:t>Performance</a:t>
                      </a:r>
                      <a:endParaRPr lang="en-US" sz="20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Проблема скорости или нагрузки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Страница открывается 20 секунд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215077260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en-US" sz="2000" b="1"/>
                        <a:t>Security</a:t>
                      </a:r>
                      <a:endParaRPr lang="en-US" sz="20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Проблема безопасности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Пользователь видит чужие данные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816134385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en-US" sz="2000" b="1"/>
                        <a:t>Integration</a:t>
                      </a:r>
                      <a:endParaRPr lang="en-US" sz="20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 взаимодействия модулей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Корзина передает неверную сумму в оплату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053686825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en-US" sz="2000" b="1"/>
                        <a:t>Data</a:t>
                      </a:r>
                      <a:endParaRPr lang="en-US" sz="20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Ошибка сохранения или отображения данных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Цена сохраняется без скидки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919924035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en-US" sz="2000" b="1"/>
                        <a:t>Compatibility</a:t>
                      </a:r>
                      <a:endParaRPr lang="en-US" sz="20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Проблема совместимости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Сайт работает в Chrome, но ломается в Safari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612869860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en-US" sz="2000" b="1"/>
                        <a:t>Configuration</a:t>
                      </a:r>
                      <a:endParaRPr lang="en-US" sz="20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 настройки среды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На сервере не настроена база данных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943936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786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1D433-6D4D-4111-96C6-C047FEE9C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365125"/>
            <a:ext cx="11393978" cy="1325563"/>
          </a:xfrm>
        </p:spPr>
        <p:txBody>
          <a:bodyPr>
            <a:normAutofit fontScale="90000"/>
          </a:bodyPr>
          <a:lstStyle/>
          <a:p>
            <a:r>
              <a:rPr lang="kk-KZ" dirty="0"/>
              <a:t>Классификация дефектов</a:t>
            </a:r>
            <a:br>
              <a:rPr lang="ru-KZ" dirty="0"/>
            </a:br>
            <a:r>
              <a:rPr lang="ru-RU" sz="3100" b="1" dirty="0"/>
              <a:t>По серьезности</a:t>
            </a:r>
            <a:br>
              <a:rPr lang="ru-RU" sz="3100" b="1" dirty="0"/>
            </a:br>
            <a:r>
              <a:rPr lang="ru-RU" sz="3100" b="1" dirty="0"/>
              <a:t>Серьезность</a:t>
            </a:r>
            <a:r>
              <a:rPr lang="ru-RU" sz="3100" dirty="0"/>
              <a:t> показывает, насколько сильно дефект влияет на систему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7E0AA56-C703-4F42-96F4-BFE0F59BC2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399722"/>
              </p:ext>
            </p:extLst>
          </p:nvPr>
        </p:nvGraphicFramePr>
        <p:xfrm>
          <a:off x="838200" y="1920240"/>
          <a:ext cx="10515600" cy="3840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89364">
                  <a:extLst>
                    <a:ext uri="{9D8B030D-6E8A-4147-A177-3AD203B41FA5}">
                      <a16:colId xmlns:a16="http://schemas.microsoft.com/office/drawing/2014/main" val="3499166841"/>
                    </a:ext>
                  </a:extLst>
                </a:gridCol>
                <a:gridCol w="4954385">
                  <a:extLst>
                    <a:ext uri="{9D8B030D-6E8A-4147-A177-3AD203B41FA5}">
                      <a16:colId xmlns:a16="http://schemas.microsoft.com/office/drawing/2014/main" val="1685525751"/>
                    </a:ext>
                  </a:extLst>
                </a:gridCol>
                <a:gridCol w="4071851">
                  <a:extLst>
                    <a:ext uri="{9D8B030D-6E8A-4147-A177-3AD203B41FA5}">
                      <a16:colId xmlns:a16="http://schemas.microsoft.com/office/drawing/2014/main" val="854568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Уровень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Описание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Пример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087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Blocker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Блокирует работу системы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Приложение не запускается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041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Critical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Ломает критичный бизнес-процесс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 работает оплата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139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Major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Важная функция работает неправильно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Неверно считается итоговая сумма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484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Minor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Небольшая проблема, есть обходной путь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Некорректный текст ошибки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61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Trivial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Косметическая ошибка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Опечатка или небольшой отступ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818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807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30F165E-6825-4F7F-9144-985DC78DF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Классификация дефектов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9C4C33-197F-45ED-974D-5EA92B1A6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По приоритету</a:t>
            </a:r>
          </a:p>
          <a:p>
            <a:r>
              <a:rPr lang="ru-RU" sz="2000" dirty="0"/>
              <a:t>Приоритет показывает, насколько срочно нужно исправить дефект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149DBCF6-2BDD-46E1-9137-8E32241A23A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6687424"/>
              </p:ext>
            </p:extLst>
          </p:nvPr>
        </p:nvGraphicFramePr>
        <p:xfrm>
          <a:off x="474028" y="2700960"/>
          <a:ext cx="5157786" cy="139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04648">
                  <a:extLst>
                    <a:ext uri="{9D8B030D-6E8A-4147-A177-3AD203B41FA5}">
                      <a16:colId xmlns:a16="http://schemas.microsoft.com/office/drawing/2014/main" val="1761785839"/>
                    </a:ext>
                  </a:extLst>
                </a:gridCol>
                <a:gridCol w="3753138">
                  <a:extLst>
                    <a:ext uri="{9D8B030D-6E8A-4147-A177-3AD203B41FA5}">
                      <a16:colId xmlns:a16="http://schemas.microsoft.com/office/drawing/2014/main" val="3256352806"/>
                    </a:ext>
                  </a:extLst>
                </a:gridCol>
              </a:tblGrid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Приоритет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Описание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242081171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en-US" sz="2000" b="1"/>
                        <a:t>High</a:t>
                      </a:r>
                      <a:endParaRPr lang="en-US" sz="2000"/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Исправить срочно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536328283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en-US" sz="2000" b="1"/>
                        <a:t>Medium</a:t>
                      </a:r>
                      <a:endParaRPr lang="en-US" sz="2000"/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Исправить в плановом порядке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784130958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en-US" sz="2000" b="1"/>
                        <a:t>Low</a:t>
                      </a:r>
                      <a:endParaRPr lang="en-US" sz="2000"/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Можно исправить позже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916853970"/>
                  </a:ext>
                </a:extLst>
              </a:tr>
            </a:tbl>
          </a:graphicData>
        </a:graphic>
      </p:graphicFrame>
      <p:sp>
        <p:nvSpPr>
          <p:cNvPr id="7" name="Текст 6">
            <a:extLst>
              <a:ext uri="{FF2B5EF4-FFF2-40B4-BE49-F238E27FC236}">
                <a16:creationId xmlns:a16="http://schemas.microsoft.com/office/drawing/2014/main" id="{11152C89-DBE5-4A1E-AF59-D466F2610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Разница между серьезностью и приоритетом</a:t>
            </a:r>
            <a:endParaRPr lang="ru-KZ" sz="2000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F26A8AF7-39FA-4940-A7BF-A03C8AED6429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415351805"/>
              </p:ext>
            </p:extLst>
          </p:nvPr>
        </p:nvGraphicFramePr>
        <p:xfrm>
          <a:off x="6083531" y="2700960"/>
          <a:ext cx="5853545" cy="23138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27729">
                  <a:extLst>
                    <a:ext uri="{9D8B030D-6E8A-4147-A177-3AD203B41FA5}">
                      <a16:colId xmlns:a16="http://schemas.microsoft.com/office/drawing/2014/main" val="2925320277"/>
                    </a:ext>
                  </a:extLst>
                </a:gridCol>
                <a:gridCol w="1727729">
                  <a:extLst>
                    <a:ext uri="{9D8B030D-6E8A-4147-A177-3AD203B41FA5}">
                      <a16:colId xmlns:a16="http://schemas.microsoft.com/office/drawing/2014/main" val="2404819774"/>
                    </a:ext>
                  </a:extLst>
                </a:gridCol>
                <a:gridCol w="2398087">
                  <a:extLst>
                    <a:ext uri="{9D8B030D-6E8A-4147-A177-3AD203B41FA5}">
                      <a16:colId xmlns:a16="http://schemas.microsoft.com/office/drawing/2014/main" val="655111322"/>
                    </a:ext>
                  </a:extLst>
                </a:gridCol>
              </a:tblGrid>
              <a:tr h="180285">
                <a:tc>
                  <a:txBody>
                    <a:bodyPr/>
                    <a:lstStyle/>
                    <a:p>
                      <a:r>
                        <a:rPr lang="kk-KZ" sz="2000"/>
                        <a:t>Критерий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Серьезность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Приоритет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759543643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kk-KZ" sz="2000"/>
                        <a:t>Что показывает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Влияние на систему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Срочность исправления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11974460"/>
                  </a:ext>
                </a:extLst>
              </a:tr>
              <a:tr h="315498">
                <a:tc>
                  <a:txBody>
                    <a:bodyPr/>
                    <a:lstStyle/>
                    <a:p>
                      <a:r>
                        <a:rPr lang="kk-KZ" sz="2000"/>
                        <a:t>Кто чаще определяет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Тестировщик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Менеджер, </a:t>
                      </a:r>
                      <a:r>
                        <a:rPr lang="en-US" sz="2000"/>
                        <a:t>Product Owner, </a:t>
                      </a:r>
                      <a:r>
                        <a:rPr lang="kk-KZ" sz="2000"/>
                        <a:t>команда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752393599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kk-KZ" sz="2000"/>
                        <a:t>Основа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Техническое влияние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Бизнес-важность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367342177"/>
                  </a:ext>
                </a:extLst>
              </a:tr>
            </a:tbl>
          </a:graphicData>
        </a:graphic>
      </p:graphicFrame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E7F73D8-6726-41A3-809F-F2662897EF1C}"/>
              </a:ext>
            </a:extLst>
          </p:cNvPr>
          <p:cNvSpPr/>
          <p:nvPr/>
        </p:nvSpPr>
        <p:spPr>
          <a:xfrm>
            <a:off x="703810" y="5433217"/>
            <a:ext cx="107843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Пример:</a:t>
            </a:r>
            <a:r>
              <a:rPr lang="ru-KZ" sz="2000" dirty="0"/>
              <a:t> </a:t>
            </a:r>
            <a:r>
              <a:rPr lang="ru-RU" sz="2000" dirty="0"/>
              <a:t>Опечатка на главной странице перед важной презентацией может иметь низкую серьезность, но высокий приоритет.</a:t>
            </a:r>
          </a:p>
        </p:txBody>
      </p:sp>
    </p:spTree>
    <p:extLst>
      <p:ext uri="{BB962C8B-B14F-4D97-AF65-F5344CB8AC3E}">
        <p14:creationId xmlns:p14="http://schemas.microsoft.com/office/powerpoint/2010/main" val="603263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DB6B046-16B3-4808-AF34-1E9C5659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Причины возникновения дефектов</a:t>
            </a:r>
            <a:br>
              <a:rPr lang="ru-RU" b="1" dirty="0"/>
            </a:br>
            <a:r>
              <a:rPr lang="ru-RU" sz="3100" dirty="0"/>
              <a:t>Дефекты могут возникать на разных этапах SDLC.</a:t>
            </a:r>
            <a:endParaRPr lang="ru-KZ" sz="3100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406D823A-A6C1-4FF4-8EE6-FF4EF03DBD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364521"/>
              </p:ext>
            </p:extLst>
          </p:nvPr>
        </p:nvGraphicFramePr>
        <p:xfrm>
          <a:off x="318655" y="1737360"/>
          <a:ext cx="11554689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74421">
                  <a:extLst>
                    <a:ext uri="{9D8B030D-6E8A-4147-A177-3AD203B41FA5}">
                      <a16:colId xmlns:a16="http://schemas.microsoft.com/office/drawing/2014/main" val="2273767041"/>
                    </a:ext>
                  </a:extLst>
                </a:gridCol>
                <a:gridCol w="4039986">
                  <a:extLst>
                    <a:ext uri="{9D8B030D-6E8A-4147-A177-3AD203B41FA5}">
                      <a16:colId xmlns:a16="http://schemas.microsoft.com/office/drawing/2014/main" val="646037840"/>
                    </a:ext>
                  </a:extLst>
                </a:gridCol>
                <a:gridCol w="5040282">
                  <a:extLst>
                    <a:ext uri="{9D8B030D-6E8A-4147-A177-3AD203B41FA5}">
                      <a16:colId xmlns:a16="http://schemas.microsoft.com/office/drawing/2014/main" val="4014853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Этап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Причина дефекта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84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Требования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Требование неполное или неоднозначное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«Сайт должен быстро работать»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6082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Проектирование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Неверная архитектура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Не предусмотрена обработка отказа сервиса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074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Разработка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 в коде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age &gt; 18 вместо age &gt;= 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78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Неполные тест-кейсы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 проверили пустые поля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676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Развертывание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Неверная конфигурация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 настроен </a:t>
                      </a:r>
                      <a:r>
                        <a:rPr lang="en-US" sz="2400"/>
                        <a:t>SMTP-</a:t>
                      </a:r>
                      <a:r>
                        <a:rPr lang="kk-KZ" sz="2400"/>
                        <a:t>сервер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3208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Поддержка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Изменение сломало старый функционал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После обновления API перестала работать оплата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252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646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37019-A45E-4C56-8174-121A1ABF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Методы выявления ошибок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63B5F59-4CD1-441C-8ADA-0287A672F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5432296"/>
              </p:ext>
            </p:extLst>
          </p:nvPr>
        </p:nvGraphicFramePr>
        <p:xfrm>
          <a:off x="368530" y="1276985"/>
          <a:ext cx="11454939" cy="542672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18313">
                  <a:extLst>
                    <a:ext uri="{9D8B030D-6E8A-4147-A177-3AD203B41FA5}">
                      <a16:colId xmlns:a16="http://schemas.microsoft.com/office/drawing/2014/main" val="1413270445"/>
                    </a:ext>
                  </a:extLst>
                </a:gridCol>
                <a:gridCol w="3818313">
                  <a:extLst>
                    <a:ext uri="{9D8B030D-6E8A-4147-A177-3AD203B41FA5}">
                      <a16:colId xmlns:a16="http://schemas.microsoft.com/office/drawing/2014/main" val="440798812"/>
                    </a:ext>
                  </a:extLst>
                </a:gridCol>
                <a:gridCol w="3818313">
                  <a:extLst>
                    <a:ext uri="{9D8B030D-6E8A-4147-A177-3AD203B41FA5}">
                      <a16:colId xmlns:a16="http://schemas.microsoft.com/office/drawing/2014/main" val="4230325485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r>
                        <a:rPr lang="kk-KZ" sz="2000" b="1" dirty="0"/>
                        <a:t>Метод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Суть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Пример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79035792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kk-KZ" sz="2000"/>
                        <a:t>Тестирование по тест-кейсам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Выполнение заранее описанных шагов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Проверка регистрации по </a:t>
                      </a:r>
                      <a:r>
                        <a:rPr lang="en-US" sz="2000"/>
                        <a:t>TC-001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0933013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kk-KZ" sz="2000"/>
                        <a:t>Чек-лист тестирование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Проверка по списку пунктов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Email, </a:t>
                      </a:r>
                      <a:r>
                        <a:rPr lang="kk-KZ" sz="2000"/>
                        <a:t>пароль, пустые поля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823656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kk-KZ" sz="2000"/>
                        <a:t>Исследовательское тестирование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Свободный поиск дефектов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Двойной клик, обновление страницы, спецсимволы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1993018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kk-KZ" sz="2000"/>
                        <a:t>Тест-дизайн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Системный подбор проверок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Граничные значения, классы эквивалентности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45593048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2000"/>
                        <a:t>Review </a:t>
                      </a:r>
                      <a:r>
                        <a:rPr lang="kk-KZ" sz="2000"/>
                        <a:t>требований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Проверка требований до разработки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Найти неоднозначные требования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70431669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2000"/>
                        <a:t>Code review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Проверка кода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Найти ошибку в условии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10128160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kk-KZ" sz="2000"/>
                        <a:t>Статический анализ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Проверка без запуска программы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Анализ кода инструментом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80978108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kk-KZ" sz="2000"/>
                        <a:t>Динамическое тестирование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Проверка во время выполнения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Запуск приложения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2783348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kk-KZ" sz="2000"/>
                        <a:t>Анализ логов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Поиск ошибок в логах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500 Internal Server Error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1213731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2000"/>
                        <a:t>DevTools / Postman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Анализ запросов и ответов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Проверка </a:t>
                      </a:r>
                      <a:r>
                        <a:rPr lang="en-US" sz="2000" dirty="0"/>
                        <a:t>API-</a:t>
                      </a:r>
                      <a:r>
                        <a:rPr lang="kk-KZ" sz="2000" dirty="0"/>
                        <a:t>ответа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11864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8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521E4EE-1329-484A-A5FB-E1D8B2D1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тестирования и показатели качества</a:t>
            </a:r>
            <a:endParaRPr lang="ru-KZ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48DF0E1-1D4F-4AB9-A603-94B02BA8A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54728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C5C7A97-CE5F-44AC-9EF4-7152BA83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D21F11D-1163-43EC-8861-F0851A8B5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Метрики тестирования</a:t>
            </a:r>
            <a:r>
              <a:rPr lang="ru-RU" dirty="0"/>
              <a:t> — это количественные показатели, которые помогают оценить процесс тестирования, качество продукта и готовность системы к выпуску.</a:t>
            </a:r>
          </a:p>
          <a:p>
            <a:pPr marL="0" indent="0">
              <a:buNone/>
            </a:pPr>
            <a:r>
              <a:rPr lang="ru-RU" dirty="0"/>
              <a:t>Метрики отвечают на вопросы:</a:t>
            </a:r>
          </a:p>
          <a:p>
            <a:r>
              <a:rPr lang="ru-RU" dirty="0"/>
              <a:t>сколько тестов выполнено; </a:t>
            </a:r>
          </a:p>
          <a:p>
            <a:r>
              <a:rPr lang="ru-RU" dirty="0"/>
              <a:t>сколько тестов прошло успешно; </a:t>
            </a:r>
          </a:p>
          <a:p>
            <a:r>
              <a:rPr lang="ru-RU" dirty="0"/>
              <a:t>сколько дефектов найдено; </a:t>
            </a:r>
          </a:p>
          <a:p>
            <a:r>
              <a:rPr lang="ru-RU" dirty="0"/>
              <a:t>насколько требования покрыты тестами; </a:t>
            </a:r>
          </a:p>
          <a:p>
            <a:r>
              <a:rPr lang="ru-RU" dirty="0"/>
              <a:t>какие модули наиболее проблемные; </a:t>
            </a:r>
          </a:p>
          <a:p>
            <a:r>
              <a:rPr lang="ru-RU" dirty="0"/>
              <a:t>можно ли выпускать продукт; </a:t>
            </a:r>
          </a:p>
          <a:p>
            <a:r>
              <a:rPr lang="ru-RU" dirty="0"/>
              <a:t>насколько эффективно идет тестирование.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2824705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46D48-EF43-4464-8840-038B01C7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Зачем нужны метрики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42F612-A6FD-41BD-954A-B33D0BC90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Метрики используются для: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оценки качества программного продукта;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контроля процесса тестирования;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анализа дефектов;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принятия решения о релизе;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оценки тестового покрытия;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выявления проблемных модулей;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сравнения версий продукта;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планирования улучшений.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365951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61FF5-9D6B-415D-A4FD-90C14E40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Ключевые метрики тестирования</a:t>
            </a:r>
            <a:endParaRPr lang="ru-KZ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885C565-C34D-44B9-BEF2-915AAD48D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9296" y="1422339"/>
            <a:ext cx="8782078" cy="507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93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61FF5-9D6B-415D-A4FD-90C14E40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Ключевые метрики тестирования</a:t>
            </a:r>
            <a:endParaRPr lang="ru-KZ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AD90952-31ED-4ACB-AA29-A47F2B0ED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7811" y="1397343"/>
            <a:ext cx="7569451" cy="509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62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61FF5-9D6B-415D-A4FD-90C14E40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Ключевые метрики тестирования</a:t>
            </a:r>
            <a:endParaRPr lang="ru-KZ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46CC993-FB4C-463B-88C8-155AFBEED3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5833" y="1515354"/>
            <a:ext cx="6267796" cy="507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02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61FF5-9D6B-415D-A4FD-90C14E40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Ключевые метрики тестирования</a:t>
            </a:r>
            <a:endParaRPr lang="ru-KZ" dirty="0"/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3FF6F334-24AD-489F-968C-EDE17CDDE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6698" y="1503772"/>
            <a:ext cx="6830469" cy="498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28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61FF5-9D6B-415D-A4FD-90C14E40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Ключевые метрики тестирования</a:t>
            </a:r>
            <a:endParaRPr lang="ru-KZ" dirty="0"/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450E4086-CB61-4556-A3C5-BC3D6501E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8218" y="1431010"/>
            <a:ext cx="5293264" cy="506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48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61FF5-9D6B-415D-A4FD-90C14E40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Ключевые метрики тестирования</a:t>
            </a:r>
            <a:endParaRPr lang="ru-KZ" dirty="0"/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E56BE024-C88E-495E-A2E5-941FA3413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0711" y="1690689"/>
            <a:ext cx="9842857" cy="462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97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61FF5-9D6B-415D-A4FD-90C14E40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Ключевые метрики тестирования</a:t>
            </a:r>
            <a:endParaRPr lang="ru-KZ" dirty="0"/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5113A4D6-A987-41BD-A2E7-451AF44C9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9047" y="1468735"/>
            <a:ext cx="8663246" cy="502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07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61FF5-9D6B-415D-A4FD-90C14E40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Ключевые метрики тестирования</a:t>
            </a:r>
            <a:endParaRPr lang="ru-KZ" dirty="0"/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F1FF121B-8FEC-4C54-8591-C7383705E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062" y="1690688"/>
            <a:ext cx="11137875" cy="442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99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2D82E-B78E-4224-A7F5-F6181FCC6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 таблицы метрик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BAF9282-DFD7-4F72-AE26-850D8231D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4301900"/>
              </p:ext>
            </p:extLst>
          </p:nvPr>
        </p:nvGraphicFramePr>
        <p:xfrm>
          <a:off x="1686778" y="1604313"/>
          <a:ext cx="8818443" cy="48885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39481">
                  <a:extLst>
                    <a:ext uri="{9D8B030D-6E8A-4147-A177-3AD203B41FA5}">
                      <a16:colId xmlns:a16="http://schemas.microsoft.com/office/drawing/2014/main" val="1144230215"/>
                    </a:ext>
                  </a:extLst>
                </a:gridCol>
                <a:gridCol w="1340214">
                  <a:extLst>
                    <a:ext uri="{9D8B030D-6E8A-4147-A177-3AD203B41FA5}">
                      <a16:colId xmlns:a16="http://schemas.microsoft.com/office/drawing/2014/main" val="1941462088"/>
                    </a:ext>
                  </a:extLst>
                </a:gridCol>
                <a:gridCol w="4538748">
                  <a:extLst>
                    <a:ext uri="{9D8B030D-6E8A-4147-A177-3AD203B41FA5}">
                      <a16:colId xmlns:a16="http://schemas.microsoft.com/office/drawing/2014/main" val="3012559025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r>
                        <a:rPr lang="kk-KZ" sz="2000" b="1" dirty="0"/>
                        <a:t>Показатель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kk-KZ" sz="2000" b="1" dirty="0"/>
                        <a:t>Значение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Интерпретация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7213580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kk-KZ" sz="2000"/>
                        <a:t>Всего требований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50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Объем проверки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59169654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kk-KZ" sz="2000"/>
                        <a:t>Покрыто тестами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45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Хороший уровень покрытия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64443019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US" sz="2000"/>
                        <a:t>Test Coverage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90%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Большинство требований проверяется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80090326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kk-KZ" sz="2000"/>
                        <a:t>Запланировано тестов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120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Общий объем тестов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87701966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kk-KZ" sz="2000"/>
                        <a:t>Выполнено тестов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Выполнение не завершено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80238870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US" sz="2000"/>
                        <a:t>Passed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78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Основная часть прошла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55798319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US" sz="2000"/>
                        <a:t>Failed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15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Есть проблемы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13773094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US" sz="2000"/>
                        <a:t>Blocked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7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Часть тестов заблокирована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66818069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kk-KZ" sz="2000"/>
                        <a:t>Найдено дефектов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22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Требуется анализ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21857171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US" sz="2000"/>
                        <a:t>Critical defects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3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Релиз рискованный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57883401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US" sz="2000"/>
                        <a:t>Error Rate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2%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Нужно оценить допустимость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2177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144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521E4EE-1329-484A-A5FB-E1D8B2D1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Анализ результатов тестирования</a:t>
            </a:r>
            <a:endParaRPr lang="ru-KZ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48DF0E1-1D4F-4AB9-A603-94B02BA8A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57912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80D0975-0D88-4C55-9BDB-749B3921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0C2CD02-79A2-4AC7-8C7F-4A00B3FC2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" y="1825625"/>
            <a:ext cx="1115568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/>
              <a:t>Анализ результатов тестирования</a:t>
            </a:r>
            <a:r>
              <a:rPr lang="ru-RU" dirty="0"/>
              <a:t> — это оценка полученных данных после выполнения тестов для принятия решения о качестве продукта, готовности к релизу и дальнейших действиях.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Анализ отвечает на вопросы: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какие тесты прошли;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какие тесты упали;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почему они упали;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какие дефекты критичны;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какие требования не покрыты;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какие модули наиболее проблемные;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можно ли выпускать продукт;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что нужно исправить в первую очередь.</a:t>
            </a:r>
          </a:p>
        </p:txBody>
      </p:sp>
    </p:spTree>
    <p:extLst>
      <p:ext uri="{BB962C8B-B14F-4D97-AF65-F5344CB8AC3E}">
        <p14:creationId xmlns:p14="http://schemas.microsoft.com/office/powerpoint/2010/main" val="2333414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91BA61C9-4F88-4577-8C7D-71E62F6F0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34498"/>
            <a:ext cx="5157787" cy="823912"/>
          </a:xfrm>
        </p:spPr>
        <p:txBody>
          <a:bodyPr/>
          <a:lstStyle/>
          <a:p>
            <a:r>
              <a:rPr lang="kk-KZ" dirty="0"/>
              <a:t>Статусы тестов</a:t>
            </a:r>
            <a:endParaRPr lang="ru-KZ" dirty="0"/>
          </a:p>
        </p:txBody>
      </p:sp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F5A06A51-BA8D-4E2C-82CC-DEF2EE8244C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63403643"/>
              </p:ext>
            </p:extLst>
          </p:nvPr>
        </p:nvGraphicFramePr>
        <p:xfrm>
          <a:off x="327027" y="1381154"/>
          <a:ext cx="5692774" cy="39715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68028">
                  <a:extLst>
                    <a:ext uri="{9D8B030D-6E8A-4147-A177-3AD203B41FA5}">
                      <a16:colId xmlns:a16="http://schemas.microsoft.com/office/drawing/2014/main" val="1927732610"/>
                    </a:ext>
                  </a:extLst>
                </a:gridCol>
                <a:gridCol w="4024746">
                  <a:extLst>
                    <a:ext uri="{9D8B030D-6E8A-4147-A177-3AD203B41FA5}">
                      <a16:colId xmlns:a16="http://schemas.microsoft.com/office/drawing/2014/main" val="1365093554"/>
                    </a:ext>
                  </a:extLst>
                </a:gridCol>
              </a:tblGrid>
              <a:tr h="179401">
                <a:tc>
                  <a:txBody>
                    <a:bodyPr/>
                    <a:lstStyle/>
                    <a:p>
                      <a:r>
                        <a:rPr lang="kk-KZ" sz="2400" b="1" dirty="0"/>
                        <a:t>Статус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Значение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206304749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en-US" sz="2400" b="1"/>
                        <a:t>Passed</a:t>
                      </a:r>
                      <a:endParaRPr lang="en-US" sz="2400"/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Тест успешно пройден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03127682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en-US" sz="2400" b="1"/>
                        <a:t>Failed</a:t>
                      </a:r>
                      <a:endParaRPr lang="en-US" sz="2400"/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Фактический результат не совпал с ожидаемым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201920054"/>
                  </a:ext>
                </a:extLst>
              </a:tr>
              <a:tr h="313952">
                <a:tc>
                  <a:txBody>
                    <a:bodyPr/>
                    <a:lstStyle/>
                    <a:p>
                      <a:r>
                        <a:rPr lang="en-US" sz="2400" b="1"/>
                        <a:t>Blocked</a:t>
                      </a:r>
                      <a:endParaRPr lang="en-US" sz="2400"/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Тест невозможно выполнить из-за внешней причины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924029219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en-US" sz="2400" b="1"/>
                        <a:t>Skipped</a:t>
                      </a:r>
                      <a:endParaRPr lang="en-US" sz="2400"/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Тест пропущен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685753780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en-US" sz="2400" b="1"/>
                        <a:t>Not Run</a:t>
                      </a:r>
                      <a:endParaRPr lang="en-US" sz="2400"/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Тест еще не выполнялся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453110282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en-US" sz="2400" b="1"/>
                        <a:t>Retest</a:t>
                      </a:r>
                      <a:endParaRPr lang="en-US" sz="2400"/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Требуется повторная проверка после исправления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220312011"/>
                  </a:ext>
                </a:extLst>
              </a:tr>
            </a:tbl>
          </a:graphicData>
        </a:graphic>
      </p:graphicFrame>
      <p:sp>
        <p:nvSpPr>
          <p:cNvPr id="10" name="Текст 9">
            <a:extLst>
              <a:ext uri="{FF2B5EF4-FFF2-40B4-BE49-F238E27FC236}">
                <a16:creationId xmlns:a16="http://schemas.microsoft.com/office/drawing/2014/main" id="{76AE79A2-C3BD-4EE1-A774-89EA92647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334498"/>
            <a:ext cx="5183188" cy="823912"/>
          </a:xfrm>
        </p:spPr>
        <p:txBody>
          <a:bodyPr/>
          <a:lstStyle/>
          <a:p>
            <a:r>
              <a:rPr lang="kk-KZ" dirty="0"/>
              <a:t>Как проводится анализ</a:t>
            </a:r>
            <a:endParaRPr lang="ru-KZ" dirty="0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5E066EA3-A6FB-4897-8FCB-954807396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158410"/>
            <a:ext cx="5715000" cy="5365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Алгоритм анализа результатов:</a:t>
            </a:r>
          </a:p>
          <a:p>
            <a:r>
              <a:rPr lang="ru-RU" dirty="0"/>
              <a:t>собрать результаты выполнения тестов; </a:t>
            </a:r>
          </a:p>
          <a:p>
            <a:r>
              <a:rPr lang="ru-RU" dirty="0"/>
              <a:t>посчитать статусы </a:t>
            </a:r>
            <a:r>
              <a:rPr lang="ru-RU" dirty="0" err="1"/>
              <a:t>Passed</a:t>
            </a:r>
            <a:r>
              <a:rPr lang="ru-RU" dirty="0"/>
              <a:t> / </a:t>
            </a:r>
            <a:r>
              <a:rPr lang="ru-RU" dirty="0" err="1"/>
              <a:t>Failed</a:t>
            </a:r>
            <a:r>
              <a:rPr lang="ru-RU" dirty="0"/>
              <a:t> / </a:t>
            </a:r>
            <a:r>
              <a:rPr lang="ru-RU" dirty="0" err="1"/>
              <a:t>Blocked</a:t>
            </a:r>
            <a:r>
              <a:rPr lang="ru-RU" dirty="0"/>
              <a:t> / </a:t>
            </a:r>
            <a:r>
              <a:rPr lang="ru-RU" dirty="0" err="1"/>
              <a:t>Skipped</a:t>
            </a:r>
            <a:r>
              <a:rPr lang="ru-RU" dirty="0"/>
              <a:t>; </a:t>
            </a:r>
          </a:p>
          <a:p>
            <a:r>
              <a:rPr lang="ru-RU" dirty="0"/>
              <a:t>изучить найденные дефекты; </a:t>
            </a:r>
          </a:p>
          <a:p>
            <a:r>
              <a:rPr lang="ru-RU" dirty="0"/>
              <a:t>определить критичность дефектов; </a:t>
            </a:r>
          </a:p>
          <a:p>
            <a:r>
              <a:rPr lang="ru-RU" dirty="0"/>
              <a:t>понять, какие требования не покрыты; </a:t>
            </a:r>
          </a:p>
          <a:p>
            <a:r>
              <a:rPr lang="ru-RU" dirty="0"/>
              <a:t>выявить проблемные модули; </a:t>
            </a:r>
          </a:p>
          <a:p>
            <a:r>
              <a:rPr lang="ru-RU" dirty="0"/>
              <a:t>рассчитать метрики; </a:t>
            </a:r>
          </a:p>
          <a:p>
            <a:r>
              <a:rPr lang="ru-RU" dirty="0"/>
              <a:t>оценить риски; </a:t>
            </a:r>
          </a:p>
          <a:p>
            <a:r>
              <a:rPr lang="ru-RU" dirty="0"/>
              <a:t>сформулировать вывод о качестве; </a:t>
            </a:r>
          </a:p>
          <a:p>
            <a:r>
              <a:rPr lang="ru-RU" dirty="0"/>
              <a:t>подготовить отчет и рекомендации.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650904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91BA61C9-4F88-4577-8C7D-71E62F6F0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34498"/>
            <a:ext cx="5157787" cy="823912"/>
          </a:xfrm>
        </p:spPr>
        <p:txBody>
          <a:bodyPr/>
          <a:lstStyle/>
          <a:p>
            <a:r>
              <a:rPr lang="kk-KZ" dirty="0"/>
              <a:t>Пример анализа</a:t>
            </a:r>
            <a:endParaRPr lang="ru-KZ" dirty="0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5E066EA3-A6FB-4897-8FCB-954807396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23366" y="465513"/>
            <a:ext cx="6663834" cy="60579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Анализ:</a:t>
            </a:r>
          </a:p>
          <a:p>
            <a:r>
              <a:rPr lang="ru-RU" dirty="0"/>
              <a:t>тестирование выполнено не полностью: 10 тестов не запускались; </a:t>
            </a:r>
          </a:p>
          <a:p>
            <a:r>
              <a:rPr lang="ru-RU" dirty="0"/>
              <a:t>15 тестов завершились ошибкой; </a:t>
            </a:r>
          </a:p>
          <a:p>
            <a:r>
              <a:rPr lang="ru-RU" dirty="0"/>
              <a:t>есть 2 критичных дефекта; </a:t>
            </a:r>
          </a:p>
          <a:p>
            <a:r>
              <a:rPr lang="ru-RU" dirty="0"/>
              <a:t>5 тестов заблокированы; </a:t>
            </a:r>
          </a:p>
          <a:p>
            <a:r>
              <a:rPr lang="ru-RU" dirty="0"/>
              <a:t>покрытие требований 85%, значит часть требований еще не проверена. </a:t>
            </a:r>
          </a:p>
          <a:p>
            <a:pPr marL="0" indent="0">
              <a:buNone/>
            </a:pPr>
            <a:r>
              <a:rPr lang="ru-RU" dirty="0"/>
              <a:t>Вывод:</a:t>
            </a:r>
          </a:p>
          <a:p>
            <a:pPr marL="0" indent="0">
              <a:buNone/>
            </a:pPr>
            <a:r>
              <a:rPr lang="ru-RU" dirty="0"/>
              <a:t>Продукт не готов к релизу, так как есть критичные дефекты и заблокированные проверки. Нужно исправить критичные дефекты, выполнить </a:t>
            </a:r>
            <a:r>
              <a:rPr lang="ru-RU" dirty="0" err="1"/>
              <a:t>retesting</a:t>
            </a:r>
            <a:r>
              <a:rPr lang="ru-RU" dirty="0"/>
              <a:t>, затем провести регрессионное тестирование.</a:t>
            </a:r>
          </a:p>
          <a:p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9D9FE3E-484D-4A32-AC3A-58206EF9478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20915166"/>
              </p:ext>
            </p:extLst>
          </p:nvPr>
        </p:nvGraphicFramePr>
        <p:xfrm>
          <a:off x="304800" y="1158410"/>
          <a:ext cx="4383578" cy="48824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70662">
                  <a:extLst>
                    <a:ext uri="{9D8B030D-6E8A-4147-A177-3AD203B41FA5}">
                      <a16:colId xmlns:a16="http://schemas.microsoft.com/office/drawing/2014/main" val="2026549734"/>
                    </a:ext>
                  </a:extLst>
                </a:gridCol>
                <a:gridCol w="1512916">
                  <a:extLst>
                    <a:ext uri="{9D8B030D-6E8A-4147-A177-3AD203B41FA5}">
                      <a16:colId xmlns:a16="http://schemas.microsoft.com/office/drawing/2014/main" val="17498375"/>
                    </a:ext>
                  </a:extLst>
                </a:gridCol>
              </a:tblGrid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kk-KZ" sz="2400" b="1" dirty="0"/>
                        <a:t>Показатель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k-KZ" sz="2400" b="1" dirty="0"/>
                        <a:t>Значение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608082366"/>
                  </a:ext>
                </a:extLst>
              </a:tr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Всего тест-кейсов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400" dirty="0"/>
                        <a:t>100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986117236"/>
                  </a:ext>
                </a:extLst>
              </a:tr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Выполнено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400" dirty="0"/>
                        <a:t>90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753439595"/>
                  </a:ext>
                </a:extLst>
              </a:tr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Passed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400" dirty="0"/>
                        <a:t>70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702544725"/>
                  </a:ext>
                </a:extLst>
              </a:tr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Failed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400" dirty="0"/>
                        <a:t>15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329015182"/>
                  </a:ext>
                </a:extLst>
              </a:tr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Blocked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400" dirty="0"/>
                        <a:t>5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343115058"/>
                  </a:ext>
                </a:extLst>
              </a:tr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Найдено дефектов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400" dirty="0"/>
                        <a:t>18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513710593"/>
                  </a:ext>
                </a:extLst>
              </a:tr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Critical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400" dirty="0"/>
                        <a:t>2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720496587"/>
                  </a:ext>
                </a:extLst>
              </a:tr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Major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400" dirty="0"/>
                        <a:t>8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35762702"/>
                  </a:ext>
                </a:extLst>
              </a:tr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Minor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400" dirty="0"/>
                        <a:t>8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984928350"/>
                  </a:ext>
                </a:extLst>
              </a:tr>
              <a:tr h="38091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Покрытие требований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400" dirty="0"/>
                        <a:t>85%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391672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07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91BA61C9-4F88-4577-8C7D-71E62F6F0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1" y="334498"/>
            <a:ext cx="4383578" cy="823912"/>
          </a:xfrm>
        </p:spPr>
        <p:txBody>
          <a:bodyPr/>
          <a:lstStyle/>
          <a:p>
            <a:r>
              <a:rPr lang="kk-KZ" dirty="0"/>
              <a:t>Как оформляются результаты тестирования</a:t>
            </a:r>
            <a:endParaRPr lang="ru-KZ" dirty="0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5E066EA3-A6FB-4897-8FCB-954807396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23366" y="465513"/>
            <a:ext cx="6663834" cy="60579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Результаты оформляются в виде тестового отчета.</a:t>
            </a:r>
          </a:p>
          <a:p>
            <a:pPr marL="0" indent="0">
              <a:buNone/>
            </a:pPr>
            <a:r>
              <a:rPr lang="ru-RU" dirty="0"/>
              <a:t>Структура отчета:</a:t>
            </a:r>
          </a:p>
          <a:p>
            <a:r>
              <a:rPr lang="ru-RU" dirty="0"/>
              <a:t>название проекта или модуля; </a:t>
            </a:r>
          </a:p>
          <a:p>
            <a:r>
              <a:rPr lang="ru-RU" dirty="0"/>
              <a:t>цель тестирования; </a:t>
            </a:r>
          </a:p>
          <a:p>
            <a:r>
              <a:rPr lang="ru-RU" dirty="0"/>
              <a:t>период тестирования; </a:t>
            </a:r>
          </a:p>
          <a:p>
            <a:r>
              <a:rPr lang="ru-RU" dirty="0"/>
              <a:t>тестовая среда; </a:t>
            </a:r>
          </a:p>
          <a:p>
            <a:r>
              <a:rPr lang="ru-RU" dirty="0"/>
              <a:t>объем тестирования; </a:t>
            </a:r>
          </a:p>
          <a:p>
            <a:r>
              <a:rPr lang="ru-RU" dirty="0"/>
              <a:t>что не входило в тестирование; </a:t>
            </a:r>
          </a:p>
          <a:p>
            <a:r>
              <a:rPr lang="ru-RU" dirty="0"/>
              <a:t>количество тестов; </a:t>
            </a:r>
          </a:p>
          <a:p>
            <a:r>
              <a:rPr lang="ru-RU" dirty="0"/>
              <a:t>статусы тестов; </a:t>
            </a:r>
          </a:p>
          <a:p>
            <a:r>
              <a:rPr lang="ru-RU" dirty="0"/>
              <a:t>найденные дефекты; </a:t>
            </a:r>
          </a:p>
          <a:p>
            <a:r>
              <a:rPr lang="ru-RU" dirty="0"/>
              <a:t>метрики; </a:t>
            </a:r>
          </a:p>
          <a:p>
            <a:r>
              <a:rPr lang="ru-RU" dirty="0"/>
              <a:t>риски; </a:t>
            </a:r>
          </a:p>
          <a:p>
            <a:r>
              <a:rPr lang="ru-RU" dirty="0"/>
              <a:t>вывод о готовности продукта; </a:t>
            </a:r>
          </a:p>
          <a:p>
            <a:r>
              <a:rPr lang="ru-RU" dirty="0"/>
              <a:t>рекомендации.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FEBF06-B556-4C00-860B-EFFD24861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1407795"/>
            <a:ext cx="4549833" cy="36845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Пример краткого вывода:</a:t>
            </a:r>
          </a:p>
          <a:p>
            <a:pPr marL="0" indent="0">
              <a:buNone/>
            </a:pPr>
            <a:r>
              <a:rPr lang="ru-RU" dirty="0"/>
              <a:t>По результатам тестирования выполнено 90 из 100 тест-кейсов. Успешно пройдено 70 тестов, 15 завершились ошибкой, 5 заблокированы. Найдено 18 дефектов, из них 2 критичных. Релиз не рекомендуется до исправления критичных дефектов и выполнения регрессионного тестирования.</a:t>
            </a:r>
            <a:endParaRPr lang="ru-KZ" dirty="0"/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135595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B82A8A9-A95D-428D-B299-F4053DC2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Показатели в отчетах тестирования</a:t>
            </a:r>
            <a:endParaRPr lang="ru-KZ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D643F04C-41FD-4A75-A74E-FBCEB00DA3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1166350"/>
              </p:ext>
            </p:extLst>
          </p:nvPr>
        </p:nvGraphicFramePr>
        <p:xfrm>
          <a:off x="554874" y="1690688"/>
          <a:ext cx="11082251" cy="502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8505">
                  <a:extLst>
                    <a:ext uri="{9D8B030D-6E8A-4147-A177-3AD203B41FA5}">
                      <a16:colId xmlns:a16="http://schemas.microsoft.com/office/drawing/2014/main" val="108319471"/>
                    </a:ext>
                  </a:extLst>
                </a:gridCol>
                <a:gridCol w="6323746">
                  <a:extLst>
                    <a:ext uri="{9D8B030D-6E8A-4147-A177-3AD203B41FA5}">
                      <a16:colId xmlns:a16="http://schemas.microsoft.com/office/drawing/2014/main" val="894871747"/>
                    </a:ext>
                  </a:extLst>
                </a:gridCol>
              </a:tblGrid>
              <a:tr h="392935">
                <a:tc>
                  <a:txBody>
                    <a:bodyPr/>
                    <a:lstStyle/>
                    <a:p>
                      <a:r>
                        <a:rPr lang="kk-KZ" sz="2400" b="1" dirty="0"/>
                        <a:t>Показатель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Для чего нужен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641434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r>
                        <a:rPr lang="kk-KZ" sz="2400"/>
                        <a:t>Количество выполненных тестов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Понять объем проверки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580887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r>
                        <a:rPr lang="en-US" sz="2400"/>
                        <a:t>Passed / Failed / Blocked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Оценить результат выполнения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499221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r>
                        <a:rPr lang="kk-KZ" sz="2400"/>
                        <a:t>Количество дефектов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Оценить качество продукта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959271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r>
                        <a:rPr lang="en-US" sz="2400"/>
                        <a:t>Severity defects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Понять критичность проблем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822256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r>
                        <a:rPr lang="en-US" sz="2400"/>
                        <a:t>Test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Оценить полноту проверки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546352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r>
                        <a:rPr lang="en-US" sz="2400"/>
                        <a:t>Defect Density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Найти проблемные модули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998885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r>
                        <a:rPr lang="en-US" sz="2400"/>
                        <a:t>Error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Оценить стабильность запросов или нагрузки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40576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r>
                        <a:rPr lang="en-US" sz="2400"/>
                        <a:t>Retest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исправление дефектов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398672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r>
                        <a:rPr lang="en-US" sz="2400"/>
                        <a:t>Regression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влияние изменений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14230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r>
                        <a:rPr lang="kk-KZ" sz="2400"/>
                        <a:t>Риски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Принять решение о релизе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13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017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521E4EE-1329-484A-A5FB-E1D8B2D1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Стратегия тестирования</a:t>
            </a:r>
            <a:endParaRPr lang="ru-KZ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48DF0E1-1D4F-4AB9-A603-94B02BA8A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90277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AA676F0-144D-49AB-A872-6B899E36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98333BE-2FA8-4176-9F8A-30CE890B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Стратегия тестирования</a:t>
            </a:r>
            <a:r>
              <a:rPr lang="ru-RU" dirty="0"/>
              <a:t> — это общий подход к организации тестирования проекта: что, как, когда, кем и с помощью каких методов будет проверяться.</a:t>
            </a:r>
          </a:p>
          <a:p>
            <a:pPr marL="0" indent="0">
              <a:buNone/>
            </a:pPr>
            <a:r>
              <a:rPr lang="ru-RU" dirty="0"/>
              <a:t>Стратегия отвечает на вопросы:</a:t>
            </a:r>
          </a:p>
          <a:p>
            <a:r>
              <a:rPr lang="ru-RU" dirty="0"/>
              <a:t>что будем тестировать; </a:t>
            </a:r>
          </a:p>
          <a:p>
            <a:r>
              <a:rPr lang="ru-RU" dirty="0"/>
              <a:t>какие цели тестирования; </a:t>
            </a:r>
          </a:p>
          <a:p>
            <a:r>
              <a:rPr lang="ru-RU" dirty="0"/>
              <a:t>какие виды тестирования применим; </a:t>
            </a:r>
          </a:p>
          <a:p>
            <a:r>
              <a:rPr lang="ru-RU" dirty="0"/>
              <a:t>какие риски наиболее важны; </a:t>
            </a:r>
          </a:p>
          <a:p>
            <a:r>
              <a:rPr lang="ru-RU" dirty="0"/>
              <a:t>какие инструменты будем использовать; </a:t>
            </a:r>
          </a:p>
          <a:p>
            <a:r>
              <a:rPr lang="ru-RU" dirty="0"/>
              <a:t>какие тесты будут ручными; </a:t>
            </a:r>
          </a:p>
          <a:p>
            <a:r>
              <a:rPr lang="ru-RU" dirty="0"/>
              <a:t>какие тесты будут автоматизированными; </a:t>
            </a:r>
          </a:p>
          <a:p>
            <a:r>
              <a:rPr lang="ru-RU" dirty="0"/>
              <a:t>какие критерии начала и завершения; </a:t>
            </a:r>
          </a:p>
          <a:p>
            <a:r>
              <a:rPr lang="ru-RU" dirty="0"/>
              <a:t>как оформлять результаты; </a:t>
            </a:r>
          </a:p>
          <a:p>
            <a:r>
              <a:rPr lang="ru-RU" dirty="0"/>
              <a:t>как принимать решение о релизе.</a:t>
            </a:r>
          </a:p>
        </p:txBody>
      </p:sp>
    </p:spTree>
    <p:extLst>
      <p:ext uri="{BB962C8B-B14F-4D97-AF65-F5344CB8AC3E}">
        <p14:creationId xmlns:p14="http://schemas.microsoft.com/office/powerpoint/2010/main" val="2524437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91BA61C9-4F88-4577-8C7D-71E62F6F0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256" y="334498"/>
            <a:ext cx="5831320" cy="823912"/>
          </a:xfrm>
        </p:spPr>
        <p:txBody>
          <a:bodyPr/>
          <a:lstStyle/>
          <a:p>
            <a:r>
              <a:rPr lang="ru-KZ" dirty="0"/>
              <a:t>Ч</a:t>
            </a:r>
            <a:r>
              <a:rPr lang="kk-KZ" dirty="0"/>
              <a:t>то включает стратегия тестирования</a:t>
            </a:r>
            <a:endParaRPr lang="ru-KZ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6AE79A2-C3BD-4EE1-A774-89EA92647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31084" y="334498"/>
            <a:ext cx="3724304" cy="823912"/>
          </a:xfrm>
        </p:spPr>
        <p:txBody>
          <a:bodyPr/>
          <a:lstStyle/>
          <a:p>
            <a:r>
              <a:rPr lang="kk-KZ" dirty="0"/>
              <a:t>Зачем нужна стратегия тестирования</a:t>
            </a:r>
            <a:endParaRPr lang="ru-KZ" dirty="0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5E066EA3-A6FB-4897-8FCB-954807396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31084" y="1158408"/>
            <a:ext cx="4256115" cy="502626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Стратегия нужна, чтобы: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не тестировать хаотично;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сосредоточиться на важных рисках;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выбрать правильные виды тестирования;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распределить ресурсы;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определить приоритеты;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согласовать ожидания команды;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повысить качество продукта;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подготовиться к релизу.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BC41982-AB0B-4BEB-93AA-FE97314BF6C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16580596"/>
              </p:ext>
            </p:extLst>
          </p:nvPr>
        </p:nvGraphicFramePr>
        <p:xfrm>
          <a:off x="166255" y="1158408"/>
          <a:ext cx="7348451" cy="5504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6821">
                  <a:extLst>
                    <a:ext uri="{9D8B030D-6E8A-4147-A177-3AD203B41FA5}">
                      <a16:colId xmlns:a16="http://schemas.microsoft.com/office/drawing/2014/main" val="3528841579"/>
                    </a:ext>
                  </a:extLst>
                </a:gridCol>
                <a:gridCol w="4721630">
                  <a:extLst>
                    <a:ext uri="{9D8B030D-6E8A-4147-A177-3AD203B41FA5}">
                      <a16:colId xmlns:a16="http://schemas.microsoft.com/office/drawing/2014/main" val="2132105064"/>
                    </a:ext>
                  </a:extLst>
                </a:gridCol>
              </a:tblGrid>
              <a:tr h="179401">
                <a:tc>
                  <a:txBody>
                    <a:bodyPr/>
                    <a:lstStyle/>
                    <a:p>
                      <a:r>
                        <a:rPr lang="kk-KZ" sz="2000" b="1" dirty="0"/>
                        <a:t>Раздел стратегии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Содержание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702013227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Цели тестирования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Что нужно подтвердить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167462687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Объект тестирования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Какие модули проверяются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081973049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Объем тестирования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Что входит и не входит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077369082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Виды тестирования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Функциональное, регрессионное, </a:t>
                      </a:r>
                      <a:r>
                        <a:rPr lang="en-US" sz="2000"/>
                        <a:t>API, performance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235224861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Подходы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Black-box, gray-box, </a:t>
                      </a:r>
                      <a:r>
                        <a:rPr lang="kk-KZ" sz="2000"/>
                        <a:t>риск-ориентированный подход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578116477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Тестовая среда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ОС, браузеры, серверы, БД, инструменты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440580379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Тестовые данные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Какие данные нужны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901205431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Инструменты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Jira, </a:t>
                      </a:r>
                      <a:r>
                        <a:rPr lang="en-US" sz="2000" dirty="0" err="1"/>
                        <a:t>Qase</a:t>
                      </a:r>
                      <a:r>
                        <a:rPr lang="en-US" sz="2000" dirty="0"/>
                        <a:t>, TestRail, Postman, JMeter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673309923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Роли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Кто за что отвечает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247970984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Риски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Что может повлиять на качество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436326405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Критерии начала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Когда можно начинать тестирование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319856466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Критерии завершения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Когда тестирование можно завершить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58544054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Отчетность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Какие отчеты формируются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284082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872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FF1407CC-0A22-43E9-87A8-AAFAADD9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3146"/>
            <a:ext cx="10515600" cy="1325563"/>
          </a:xfrm>
        </p:spPr>
        <p:txBody>
          <a:bodyPr/>
          <a:lstStyle/>
          <a:p>
            <a:r>
              <a:rPr lang="kk-KZ" dirty="0"/>
              <a:t>Виды стратегий тестирования</a:t>
            </a:r>
            <a:endParaRPr lang="ru-KZ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16D35D71-7775-478B-9F15-1D8A296340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986709"/>
              </p:ext>
            </p:extLst>
          </p:nvPr>
        </p:nvGraphicFramePr>
        <p:xfrm>
          <a:off x="116378" y="829386"/>
          <a:ext cx="11903825" cy="5936508"/>
        </p:xfrm>
        <a:graphic>
          <a:graphicData uri="http://schemas.openxmlformats.org/drawingml/2006/table">
            <a:tbl>
              <a:tblPr/>
              <a:tblGrid>
                <a:gridCol w="3208713">
                  <a:extLst>
                    <a:ext uri="{9D8B030D-6E8A-4147-A177-3AD203B41FA5}">
                      <a16:colId xmlns:a16="http://schemas.microsoft.com/office/drawing/2014/main" val="3689931762"/>
                    </a:ext>
                  </a:extLst>
                </a:gridCol>
                <a:gridCol w="4727170">
                  <a:extLst>
                    <a:ext uri="{9D8B030D-6E8A-4147-A177-3AD203B41FA5}">
                      <a16:colId xmlns:a16="http://schemas.microsoft.com/office/drawing/2014/main" val="2906521907"/>
                    </a:ext>
                  </a:extLst>
                </a:gridCol>
                <a:gridCol w="3967942">
                  <a:extLst>
                    <a:ext uri="{9D8B030D-6E8A-4147-A177-3AD203B41FA5}">
                      <a16:colId xmlns:a16="http://schemas.microsoft.com/office/drawing/2014/main" val="320445941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r>
                        <a:rPr lang="kk-KZ" sz="2400" b="1" dirty="0"/>
                        <a:t>Стратегия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Суть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Когда применять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10901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kk-KZ" sz="2400" b="1"/>
                        <a:t>Требовательная / </a:t>
                      </a:r>
                      <a:r>
                        <a:rPr lang="en-US" sz="2400" b="1"/>
                        <a:t>requirements-based</a:t>
                      </a:r>
                      <a:endParaRPr lang="en-US" sz="24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Тесты строятся от требований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Есть хорошие требования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40990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kk-KZ" sz="2400" b="1" dirty="0"/>
                        <a:t>Риск-ориентированная</a:t>
                      </a:r>
                      <a:endParaRPr lang="kk-KZ" sz="24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Сначала тестируются самые рискованные области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Ограничено время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3388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kk-KZ" sz="2400" b="1"/>
                        <a:t>Регрессионная</a:t>
                      </a:r>
                      <a:endParaRPr lang="kk-KZ" sz="24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Акцент на проверке старого функционала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Частые изменения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39472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kk-KZ" sz="2400" b="1"/>
                        <a:t>Автоматизированная</a:t>
                      </a:r>
                      <a:endParaRPr lang="kk-KZ" sz="24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Основной упор на автотесты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Частые релизы, </a:t>
                      </a:r>
                      <a:r>
                        <a:rPr lang="en-US" sz="2400"/>
                        <a:t>CI/CD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720421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2400" b="1"/>
                        <a:t>Exploratory</a:t>
                      </a:r>
                      <a:endParaRPr lang="en-US" sz="24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Исследовательский подход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Неполные требования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92564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2400" b="1"/>
                        <a:t>Agile-</a:t>
                      </a:r>
                      <a:r>
                        <a:rPr lang="kk-KZ" sz="2400" b="1"/>
                        <a:t>стратегия</a:t>
                      </a:r>
                      <a:endParaRPr lang="kk-KZ" sz="24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Тестирование внутри спринтов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Scrum/Kanban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520338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n-US" sz="2400" b="1"/>
                        <a:t>Performance-focused</a:t>
                      </a:r>
                      <a:endParaRPr lang="en-US" sz="24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Акцент на нагрузке и стабильности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Высоконагруженные системы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5725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2400" b="1"/>
                        <a:t>Security-focused</a:t>
                      </a:r>
                      <a:endParaRPr lang="en-US" sz="24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Акцент на безопасности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Банки, персональные данные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20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7573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BE116AE-49E0-4495-A5B6-3FA96A99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Риск-ориентированное тестирование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89E3551-A43B-4112-8753-7BAF716AD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0515600" cy="13715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Риск</a:t>
            </a:r>
            <a:r>
              <a:rPr lang="ru-RU" dirty="0"/>
              <a:t> — это возможная проблема, которая может повлиять на качество продукта, сроки, безопасность, деньги или пользователей.</a:t>
            </a:r>
          </a:p>
          <a:p>
            <a:pPr marL="0" indent="0">
              <a:buNone/>
            </a:pPr>
            <a:r>
              <a:rPr lang="ru-RU" dirty="0"/>
              <a:t>Риск-ориентированная стратегия означает:</a:t>
            </a:r>
          </a:p>
          <a:p>
            <a:pPr marL="0" indent="0">
              <a:buNone/>
            </a:pPr>
            <a:r>
              <a:rPr lang="ru-RU" dirty="0"/>
              <a:t>Сначала тестируем то, что наиболее важно и где ошибка принесет максимальный ущерб.</a:t>
            </a:r>
            <a:endParaRPr lang="ru-KZ" dirty="0"/>
          </a:p>
          <a:p>
            <a:endParaRPr lang="ru-KZ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871C0852-46F3-4437-BFE1-F6641E4B2AE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11959175"/>
              </p:ext>
            </p:extLst>
          </p:nvPr>
        </p:nvGraphicFramePr>
        <p:xfrm>
          <a:off x="838200" y="3332159"/>
          <a:ext cx="10515600" cy="25776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88375">
                  <a:extLst>
                    <a:ext uri="{9D8B030D-6E8A-4147-A177-3AD203B41FA5}">
                      <a16:colId xmlns:a16="http://schemas.microsoft.com/office/drawing/2014/main" val="2363934415"/>
                    </a:ext>
                  </a:extLst>
                </a:gridCol>
                <a:gridCol w="5122025">
                  <a:extLst>
                    <a:ext uri="{9D8B030D-6E8A-4147-A177-3AD203B41FA5}">
                      <a16:colId xmlns:a16="http://schemas.microsoft.com/office/drawing/2014/main" val="27468937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06923799"/>
                    </a:ext>
                  </a:extLst>
                </a:gridCol>
              </a:tblGrid>
              <a:tr h="297286">
                <a:tc>
                  <a:txBody>
                    <a:bodyPr/>
                    <a:lstStyle/>
                    <a:p>
                      <a:r>
                        <a:rPr lang="kk-KZ" sz="2000"/>
                        <a:t>Модуль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Риск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Приоритет тестирования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457628190"/>
                  </a:ext>
                </a:extLst>
              </a:tr>
              <a:tr h="520251">
                <a:tc>
                  <a:txBody>
                    <a:bodyPr/>
                    <a:lstStyle/>
                    <a:p>
                      <a:r>
                        <a:rPr lang="kk-KZ" sz="2000"/>
                        <a:t>Оплата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Пользователь потеряет деньги или не сможет купить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Высокий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486608300"/>
                  </a:ext>
                </a:extLst>
              </a:tr>
              <a:tr h="297286">
                <a:tc>
                  <a:txBody>
                    <a:bodyPr/>
                    <a:lstStyle/>
                    <a:p>
                      <a:r>
                        <a:rPr lang="kk-KZ" sz="2000"/>
                        <a:t>Авторизация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Пользователь не сможет войти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Высокий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423265885"/>
                  </a:ext>
                </a:extLst>
              </a:tr>
              <a:tr h="297286">
                <a:tc>
                  <a:txBody>
                    <a:bodyPr/>
                    <a:lstStyle/>
                    <a:p>
                      <a:r>
                        <a:rPr lang="kk-KZ" sz="2000"/>
                        <a:t>Корзина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Неверная сумма заказа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Высокий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544158026"/>
                  </a:ext>
                </a:extLst>
              </a:tr>
              <a:tr h="520251">
                <a:tc>
                  <a:txBody>
                    <a:bodyPr/>
                    <a:lstStyle/>
                    <a:p>
                      <a:r>
                        <a:rPr lang="kk-KZ" sz="2000"/>
                        <a:t>Фильтр товаров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Пользователь найдет не все товары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Средний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316067898"/>
                  </a:ext>
                </a:extLst>
              </a:tr>
              <a:tr h="297286">
                <a:tc>
                  <a:txBody>
                    <a:bodyPr/>
                    <a:lstStyle/>
                    <a:p>
                      <a:r>
                        <a:rPr lang="kk-KZ" sz="2000"/>
                        <a:t>Цвет кнопки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Небольшое влияние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Низкий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445559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242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05256F-1B00-4EC1-8FAC-6DDF5DCB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Риски при тестировании</a:t>
            </a:r>
            <a:endParaRPr lang="ru-KZ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8CFF5ED8-95AF-417A-B4FA-A1510CB88F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807234"/>
              </p:ext>
            </p:extLst>
          </p:nvPr>
        </p:nvGraphicFramePr>
        <p:xfrm>
          <a:off x="828502" y="1463675"/>
          <a:ext cx="9529156" cy="502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58887">
                  <a:extLst>
                    <a:ext uri="{9D8B030D-6E8A-4147-A177-3AD203B41FA5}">
                      <a16:colId xmlns:a16="http://schemas.microsoft.com/office/drawing/2014/main" val="4147443673"/>
                    </a:ext>
                  </a:extLst>
                </a:gridCol>
                <a:gridCol w="5270269">
                  <a:extLst>
                    <a:ext uri="{9D8B030D-6E8A-4147-A177-3AD203B41FA5}">
                      <a16:colId xmlns:a16="http://schemas.microsoft.com/office/drawing/2014/main" val="3427676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Риск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497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Неполные требования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Неясно, как должна работать функция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943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Недостаток времени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Не успевают проверить все сценарии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632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Нестабильная сборка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Тестирование блокируется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932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Неподготовленная среда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Нет доступа к БД или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098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Нехватка тестовых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Нельзя проверить нужные сценарии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853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Частые изменения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Тест-кейсы устаревают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462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Мало автоматизации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Регрессия занимает много времени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61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Сложные интеграции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Ошибки между системами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394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Недостаток специалистов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Нет людей с нужными навыками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363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Высокая критичность продукта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Ошибки дорого стоят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191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534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EE5B6-73D3-41AB-886D-137C9FA1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Как формируется стратегия тестирования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DD4657-2CF0-4A1D-B972-60F622B1D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118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Алгоритм: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изучить требования и цели проекта;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определить критичные функции;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выявить риски;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определить объем тестирования;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выбрать виды тестирования;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выбрать подходы: </a:t>
            </a:r>
            <a:r>
              <a:rPr lang="ru-RU" dirty="0" err="1"/>
              <a:t>black-box</a:t>
            </a:r>
            <a:r>
              <a:rPr lang="ru-RU" dirty="0"/>
              <a:t>, </a:t>
            </a:r>
            <a:r>
              <a:rPr lang="ru-RU" dirty="0" err="1"/>
              <a:t>gray-box</a:t>
            </a:r>
            <a:r>
              <a:rPr lang="ru-RU" dirty="0"/>
              <a:t>, </a:t>
            </a:r>
            <a:r>
              <a:rPr lang="ru-RU" dirty="0" err="1"/>
              <a:t>risk-based</a:t>
            </a:r>
            <a:r>
              <a:rPr lang="ru-RU" dirty="0"/>
              <a:t>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определить тестовую среду;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определить тестовые данные;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выбрать инструменты;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распределить роли;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установить критерии начала и завершения;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определить формат отчетности;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согласовать стратегию с командой.</a:t>
            </a:r>
          </a:p>
        </p:txBody>
      </p:sp>
    </p:spTree>
    <p:extLst>
      <p:ext uri="{BB962C8B-B14F-4D97-AF65-F5344CB8AC3E}">
        <p14:creationId xmlns:p14="http://schemas.microsoft.com/office/powerpoint/2010/main" val="1116080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15945-7384-4609-A70D-E9190E785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стратегии тестирования</a:t>
            </a:r>
            <a:br>
              <a:rPr lang="ru-RU" dirty="0"/>
            </a:br>
            <a:r>
              <a:rPr lang="ru-RU" sz="3100" dirty="0"/>
              <a:t>Проект: онлайн-платформа для сдачи домашних заданий.</a:t>
            </a:r>
            <a:endParaRPr lang="ru-KZ" sz="31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BFEBFF2-48D7-4A16-84D3-A2F452FB1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058913"/>
              </p:ext>
            </p:extLst>
          </p:nvPr>
        </p:nvGraphicFramePr>
        <p:xfrm>
          <a:off x="543098" y="1690688"/>
          <a:ext cx="11105804" cy="50110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59826">
                  <a:extLst>
                    <a:ext uri="{9D8B030D-6E8A-4147-A177-3AD203B41FA5}">
                      <a16:colId xmlns:a16="http://schemas.microsoft.com/office/drawing/2014/main" val="1034843477"/>
                    </a:ext>
                  </a:extLst>
                </a:gridCol>
                <a:gridCol w="8345978">
                  <a:extLst>
                    <a:ext uri="{9D8B030D-6E8A-4147-A177-3AD203B41FA5}">
                      <a16:colId xmlns:a16="http://schemas.microsoft.com/office/drawing/2014/main" val="1394624800"/>
                    </a:ext>
                  </a:extLst>
                </a:gridCol>
              </a:tblGrid>
              <a:tr h="280731">
                <a:tc>
                  <a:txBody>
                    <a:bodyPr/>
                    <a:lstStyle/>
                    <a:p>
                      <a:r>
                        <a:rPr lang="kk-KZ" sz="2000" b="1" dirty="0"/>
                        <a:t>Раздел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Решение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187194921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kk-KZ" sz="2000"/>
                        <a:t>Цель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Проверить, что студент может сдать работу, а преподаватель проверить и оценить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549667998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kk-KZ" sz="2000"/>
                        <a:t>Критичные модули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Авторизация, загрузка файла, проверка работы, выставление оценки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019484650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kk-KZ" sz="2000"/>
                        <a:t>Виды тестирования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Функциональное, интеграционное, регрессионное, usability, security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611891274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r>
                        <a:rPr lang="kk-KZ" sz="2000"/>
                        <a:t>Подход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Requirements-based + risk-based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263870144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r>
                        <a:rPr lang="kk-KZ" sz="2000"/>
                        <a:t>Тестовая среда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Chrome, Firefox, тестовый сервер, тестовая БД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104064824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r>
                        <a:rPr lang="kk-KZ" sz="2000"/>
                        <a:t>Инструменты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Jira, Qase/TestIt, DevTools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90429732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r>
                        <a:rPr lang="kk-KZ" sz="2000"/>
                        <a:t>Тестовые данные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Студент, преподаватель, разные форматы файлов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304369323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kk-KZ" sz="2000"/>
                        <a:t>Риски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Файл не загружается, оценка не сохраняется, студент видит чужую работу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07688197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kk-KZ" sz="2000"/>
                        <a:t>Критерии завершения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Все критичные тесты пройдены, блокирующих дефектов нет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530628215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r>
                        <a:rPr lang="kk-KZ" sz="2000"/>
                        <a:t>Отчет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Итоговый отчет с тестами, дефектами, метриками и рисками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839205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389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DD6BB18-6657-4234-9145-F8D9C869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тестируется модуль </a:t>
            </a:r>
            <a:r>
              <a:rPr lang="ru-RU" b="1" dirty="0"/>
              <a:t>оплаты интернет-магазина</a:t>
            </a:r>
            <a:r>
              <a:rPr lang="ru-RU" dirty="0"/>
              <a:t>.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708B163-8F9C-4A33-97B4-0A0041055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k-KZ" sz="3200" dirty="0"/>
              <a:t>Шаг 1. Найден дефект</a:t>
            </a:r>
            <a:endParaRPr lang="ru-KZ" sz="32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262E17-83B8-44E7-8E42-1FCBE36A3F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Пользователь вводит корректные данные карты, оплата проходит, но заказ не создается.</a:t>
            </a:r>
          </a:p>
          <a:p>
            <a:pPr marL="0" indent="0">
              <a:buNone/>
            </a:pPr>
            <a:r>
              <a:rPr lang="ru-RU" dirty="0"/>
              <a:t>Тип дефекта:</a:t>
            </a:r>
          </a:p>
          <a:p>
            <a:r>
              <a:rPr lang="ru-RU" dirty="0" err="1"/>
              <a:t>Integration</a:t>
            </a:r>
            <a:r>
              <a:rPr lang="ru-RU" dirty="0"/>
              <a:t> </a:t>
            </a:r>
            <a:r>
              <a:rPr lang="ru-RU" dirty="0" err="1"/>
              <a:t>defect</a:t>
            </a:r>
            <a:r>
              <a:rPr lang="ru-RU" dirty="0"/>
              <a:t>; </a:t>
            </a:r>
          </a:p>
          <a:p>
            <a:r>
              <a:rPr lang="ru-RU" dirty="0" err="1"/>
              <a:t>Critical</a:t>
            </a:r>
            <a:r>
              <a:rPr lang="ru-RU" dirty="0"/>
              <a:t> </a:t>
            </a:r>
            <a:r>
              <a:rPr lang="ru-RU" dirty="0" err="1"/>
              <a:t>severity</a:t>
            </a:r>
            <a:r>
              <a:rPr lang="ru-RU" dirty="0"/>
              <a:t>; </a:t>
            </a:r>
          </a:p>
          <a:p>
            <a:r>
              <a:rPr lang="ru-RU" dirty="0" err="1"/>
              <a:t>High</a:t>
            </a:r>
            <a:r>
              <a:rPr lang="ru-RU" dirty="0"/>
              <a:t> </a:t>
            </a:r>
            <a:r>
              <a:rPr lang="ru-RU" dirty="0" err="1"/>
              <a:t>priority</a:t>
            </a:r>
            <a:r>
              <a:rPr lang="ru-RU" dirty="0"/>
              <a:t>.</a:t>
            </a:r>
          </a:p>
          <a:p>
            <a:endParaRPr lang="ru-KZ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15ED5C7-59D9-44AF-BFBA-0B483B818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kk-KZ" sz="3200" dirty="0"/>
              <a:t>Шаг 2. Анализ причины</a:t>
            </a:r>
            <a:endParaRPr lang="ru-KZ" sz="3200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1DF8AD64-7606-477B-9C03-06343BF8818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Возможная первопричина:</a:t>
            </a:r>
          </a:p>
          <a:p>
            <a:r>
              <a:rPr lang="ru-RU" dirty="0"/>
              <a:t>модуль оплаты не передает статус оплаты в модуль заказов; </a:t>
            </a:r>
          </a:p>
          <a:p>
            <a:r>
              <a:rPr lang="ru-RU" dirty="0"/>
              <a:t>ошибка в API-контракте; </a:t>
            </a:r>
          </a:p>
          <a:p>
            <a:r>
              <a:rPr lang="ru-RU" dirty="0"/>
              <a:t>неверный формат </a:t>
            </a:r>
            <a:r>
              <a:rPr lang="ru-RU" dirty="0" err="1"/>
              <a:t>payment_status</a:t>
            </a:r>
            <a:r>
              <a:rPr lang="ru-RU" dirty="0"/>
              <a:t>.</a:t>
            </a:r>
          </a:p>
          <a:p>
            <a:endParaRPr lang="ru-KZ" dirty="0"/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893499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DD6BB18-6657-4234-9145-F8D9C869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тестируется модуль </a:t>
            </a:r>
            <a:r>
              <a:rPr lang="ru-RU" b="1" dirty="0"/>
              <a:t>оплаты интернет-магазина</a:t>
            </a:r>
            <a:r>
              <a:rPr lang="ru-RU" dirty="0"/>
              <a:t>.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708B163-8F9C-4A33-97B4-0A0041055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k-KZ" sz="3200" dirty="0"/>
              <a:t>Шаг 3. Метрики</a:t>
            </a:r>
            <a:endParaRPr lang="ru-KZ" sz="3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15ED5C7-59D9-44AF-BFBA-0B483B818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1" y="1365280"/>
            <a:ext cx="7141398" cy="823912"/>
          </a:xfrm>
        </p:spPr>
        <p:txBody>
          <a:bodyPr>
            <a:normAutofit/>
          </a:bodyPr>
          <a:lstStyle/>
          <a:p>
            <a:r>
              <a:rPr lang="kk-KZ" sz="3200" dirty="0"/>
              <a:t>Шаг 4. Анализ результата</a:t>
            </a:r>
            <a:endParaRPr lang="ru-KZ" sz="3200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1DF8AD64-7606-477B-9C03-06343BF88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1" y="2189192"/>
            <a:ext cx="7141398" cy="173441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Вывод:</a:t>
            </a:r>
            <a:r>
              <a:rPr lang="en-US" dirty="0"/>
              <a:t> </a:t>
            </a:r>
            <a:r>
              <a:rPr lang="ru-RU" dirty="0"/>
              <a:t>Модуль оплаты нестабилен. Релиз невозможен, так как есть критичные дефекты в бизнес-критичном процессе.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229765FF-F3FB-43FE-9B11-5BCFB4AB77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22985386"/>
              </p:ext>
            </p:extLst>
          </p:nvPr>
        </p:nvGraphicFramePr>
        <p:xfrm>
          <a:off x="299257" y="2505075"/>
          <a:ext cx="4172989" cy="39687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14611">
                  <a:extLst>
                    <a:ext uri="{9D8B030D-6E8A-4147-A177-3AD203B41FA5}">
                      <a16:colId xmlns:a16="http://schemas.microsoft.com/office/drawing/2014/main" val="1713642260"/>
                    </a:ext>
                  </a:extLst>
                </a:gridCol>
                <a:gridCol w="1558378">
                  <a:extLst>
                    <a:ext uri="{9D8B030D-6E8A-4147-A177-3AD203B41FA5}">
                      <a16:colId xmlns:a16="http://schemas.microsoft.com/office/drawing/2014/main" val="2850853446"/>
                    </a:ext>
                  </a:extLst>
                </a:gridCol>
              </a:tblGrid>
              <a:tr h="614098">
                <a:tc>
                  <a:txBody>
                    <a:bodyPr/>
                    <a:lstStyle/>
                    <a:p>
                      <a:pPr algn="r"/>
                      <a:r>
                        <a:rPr lang="kk-KZ" sz="2800" dirty="0"/>
                        <a:t>Метрика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k-KZ" sz="2800" dirty="0"/>
                        <a:t>Значение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223426000"/>
                  </a:ext>
                </a:extLst>
              </a:tr>
              <a:tr h="614098">
                <a:tc>
                  <a:txBody>
                    <a:bodyPr/>
                    <a:lstStyle/>
                    <a:p>
                      <a:pPr algn="r"/>
                      <a:r>
                        <a:rPr lang="kk-KZ" sz="2800" dirty="0"/>
                        <a:t>Выполнено тестов оплаты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800" dirty="0"/>
                        <a:t>20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81260480"/>
                  </a:ext>
                </a:extLst>
              </a:tr>
              <a:tr h="614098"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Passed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800" dirty="0"/>
                        <a:t>14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8246217"/>
                  </a:ext>
                </a:extLst>
              </a:tr>
              <a:tr h="614098"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Failed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800" dirty="0"/>
                        <a:t>6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384080277"/>
                  </a:ext>
                </a:extLst>
              </a:tr>
              <a:tr h="614098"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Fail Rate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800" dirty="0"/>
                        <a:t>30%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553570556"/>
                  </a:ext>
                </a:extLst>
              </a:tr>
              <a:tr h="614098"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Critical defects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2800" dirty="0"/>
                        <a:t>2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308968509"/>
                  </a:ext>
                </a:extLst>
              </a:tr>
            </a:tbl>
          </a:graphicData>
        </a:graphic>
      </p:graphicFrame>
      <p:sp>
        <p:nvSpPr>
          <p:cNvPr id="11" name="Текст 6">
            <a:extLst>
              <a:ext uri="{FF2B5EF4-FFF2-40B4-BE49-F238E27FC236}">
                <a16:creationId xmlns:a16="http://schemas.microsoft.com/office/drawing/2014/main" id="{06B57A4A-3D1D-4EBB-928C-071F56C7970A}"/>
              </a:ext>
            </a:extLst>
          </p:cNvPr>
          <p:cNvSpPr txBox="1">
            <a:spLocks/>
          </p:cNvSpPr>
          <p:nvPr/>
        </p:nvSpPr>
        <p:spPr>
          <a:xfrm>
            <a:off x="4754881" y="3114949"/>
            <a:ext cx="7141398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k-KZ" sz="3200" dirty="0"/>
              <a:t>Шаг 5. Коррекция стратегии</a:t>
            </a:r>
            <a:endParaRPr lang="ru-KZ" sz="3200" dirty="0"/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7AFB5B8B-C673-4F63-B76F-599C310F8C9F}"/>
              </a:ext>
            </a:extLst>
          </p:cNvPr>
          <p:cNvSpPr txBox="1">
            <a:spLocks/>
          </p:cNvSpPr>
          <p:nvPr/>
        </p:nvSpPr>
        <p:spPr>
          <a:xfrm>
            <a:off x="4754881" y="3938861"/>
            <a:ext cx="7298574" cy="2744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Решение: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усилить интеграционное тестирование оплаты;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добавить регрессионные тесты для корзины и заказов;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автоматизировать API-проверки;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/>
              <a:t>повысить приоритет тестирования платежного модуля.</a:t>
            </a:r>
          </a:p>
        </p:txBody>
      </p:sp>
    </p:spTree>
    <p:extLst>
      <p:ext uri="{BB962C8B-B14F-4D97-AF65-F5344CB8AC3E}">
        <p14:creationId xmlns:p14="http://schemas.microsoft.com/office/powerpoint/2010/main" val="3085089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EF35CB9-96FB-49C4-857D-CD5A5F1C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Задание</a:t>
            </a:r>
            <a:r>
              <a:rPr lang="en-US" b="1" dirty="0"/>
              <a:t>. </a:t>
            </a:r>
            <a:br>
              <a:rPr lang="en-US" b="1" dirty="0"/>
            </a:br>
            <a:r>
              <a:rPr lang="ru-RU" sz="3100" dirty="0"/>
              <a:t>Дан модуль: </a:t>
            </a:r>
            <a:r>
              <a:rPr lang="ru-RU" sz="3100" b="1" dirty="0"/>
              <a:t>форма оплаты интернет-магазина</a:t>
            </a:r>
            <a:r>
              <a:rPr lang="ru-RU" sz="3100" dirty="0"/>
              <a:t>.</a:t>
            </a:r>
            <a:br>
              <a:rPr lang="ru-RU" sz="3100" dirty="0"/>
            </a:br>
            <a:r>
              <a:rPr lang="ru-RU" sz="3100" dirty="0"/>
              <a:t>Результаты тестирования:</a:t>
            </a:r>
            <a:endParaRPr lang="ru-KZ" sz="3100" dirty="0"/>
          </a:p>
        </p:txBody>
      </p:sp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102C9B47-34B4-40A4-81B6-AD7803EDF73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99114821"/>
              </p:ext>
            </p:extLst>
          </p:nvPr>
        </p:nvGraphicFramePr>
        <p:xfrm>
          <a:off x="665017" y="1690688"/>
          <a:ext cx="3990109" cy="50528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93325">
                  <a:extLst>
                    <a:ext uri="{9D8B030D-6E8A-4147-A177-3AD203B41FA5}">
                      <a16:colId xmlns:a16="http://schemas.microsoft.com/office/drawing/2014/main" val="1204375204"/>
                    </a:ext>
                  </a:extLst>
                </a:gridCol>
                <a:gridCol w="1296784">
                  <a:extLst>
                    <a:ext uri="{9D8B030D-6E8A-4147-A177-3AD203B41FA5}">
                      <a16:colId xmlns:a16="http://schemas.microsoft.com/office/drawing/2014/main" val="1243233541"/>
                    </a:ext>
                  </a:extLst>
                </a:gridCol>
              </a:tblGrid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kk-KZ" sz="1800" dirty="0"/>
                        <a:t>Показатель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k-KZ" sz="1800" dirty="0"/>
                        <a:t>Значение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338531151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kk-KZ" sz="1800" dirty="0"/>
                        <a:t>Всего требований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20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569425710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kk-KZ" sz="1800" dirty="0"/>
                        <a:t>Покрыто тестами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16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597710457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kk-KZ" sz="1800" dirty="0"/>
                        <a:t>Запланировано тестов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50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385806729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kk-KZ" sz="1800" dirty="0"/>
                        <a:t>Выполнено тестов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40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209191004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Passed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28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287306247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Failed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8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905785842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Blocked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4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703080991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kk-KZ" sz="1800" dirty="0"/>
                        <a:t>Найдено дефектов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10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854925862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Critical defects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2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709456140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Major defects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5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52804113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Minor defects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3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037821235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kk-KZ" sz="1800" dirty="0"/>
                        <a:t>Всего </a:t>
                      </a:r>
                      <a:r>
                        <a:rPr lang="en-US" sz="1800" dirty="0"/>
                        <a:t>API-</a:t>
                      </a:r>
                      <a:r>
                        <a:rPr lang="kk-KZ" sz="1800" dirty="0"/>
                        <a:t>запросов при нагрузке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2000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67640569"/>
                  </a:ext>
                </a:extLst>
              </a:tr>
              <a:tr h="343013">
                <a:tc>
                  <a:txBody>
                    <a:bodyPr/>
                    <a:lstStyle/>
                    <a:p>
                      <a:pPr algn="r"/>
                      <a:r>
                        <a:rPr lang="kk-KZ" sz="1800" dirty="0"/>
                        <a:t>Ошибочных </a:t>
                      </a:r>
                      <a:r>
                        <a:rPr lang="en-US" sz="1800" dirty="0"/>
                        <a:t>API-</a:t>
                      </a:r>
                      <a:r>
                        <a:rPr lang="kk-KZ" sz="1800" dirty="0"/>
                        <a:t>запросов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KZ" sz="1800" dirty="0"/>
                        <a:t>60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694794432"/>
                  </a:ext>
                </a:extLst>
              </a:tr>
            </a:tbl>
          </a:graphicData>
        </a:graphic>
      </p:graphicFrame>
      <p:sp>
        <p:nvSpPr>
          <p:cNvPr id="10" name="Объект 9">
            <a:extLst>
              <a:ext uri="{FF2B5EF4-FFF2-40B4-BE49-F238E27FC236}">
                <a16:creationId xmlns:a16="http://schemas.microsoft.com/office/drawing/2014/main" id="{04662FA3-9A78-4D7D-90E6-B5BBE8B172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Нужно: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Рассчитать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coverage</a:t>
            </a:r>
            <a:r>
              <a:rPr lang="ru-RU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Рассчитать </a:t>
            </a:r>
            <a:r>
              <a:rPr lang="ru-RU" dirty="0" err="1"/>
              <a:t>pass</a:t>
            </a:r>
            <a:r>
              <a:rPr lang="ru-RU" dirty="0"/>
              <a:t> </a:t>
            </a:r>
            <a:r>
              <a:rPr lang="ru-RU" dirty="0" err="1"/>
              <a:t>rate</a:t>
            </a:r>
            <a:r>
              <a:rPr lang="ru-RU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Рассчитать </a:t>
            </a:r>
            <a:r>
              <a:rPr lang="ru-RU" dirty="0" err="1"/>
              <a:t>fail</a:t>
            </a:r>
            <a:r>
              <a:rPr lang="ru-RU" dirty="0"/>
              <a:t> </a:t>
            </a:r>
            <a:r>
              <a:rPr lang="ru-RU" dirty="0" err="1"/>
              <a:t>rate</a:t>
            </a:r>
            <a:r>
              <a:rPr lang="ru-RU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Рассчитать </a:t>
            </a:r>
            <a:r>
              <a:rPr lang="ru-RU" dirty="0" err="1"/>
              <a:t>error</a:t>
            </a:r>
            <a:r>
              <a:rPr lang="ru-RU" dirty="0"/>
              <a:t> </a:t>
            </a:r>
            <a:r>
              <a:rPr lang="ru-RU" dirty="0" err="1"/>
              <a:t>rate</a:t>
            </a:r>
            <a:r>
              <a:rPr lang="ru-RU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Сделать вывод: можно ли выпускать модуль оплаты?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Назвать 3 риска для этого модуля.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Предложить стратегию тестирования.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8997506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2878</TotalTime>
  <Words>1998</Words>
  <Application>Microsoft Office PowerPoint</Application>
  <PresentationFormat>Широкоэкранный</PresentationFormat>
  <Paragraphs>574</Paragraphs>
  <Slides>38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Тема Office</vt:lpstr>
      <vt:lpstr>Ошибки, дефекты, метрики, анализ результатов и стратегия тестирования</vt:lpstr>
      <vt:lpstr>Цель лекции</vt:lpstr>
      <vt:lpstr>Ошибки, дефекты и сбои</vt:lpstr>
      <vt:lpstr>Основные понятия</vt:lpstr>
      <vt:lpstr>Типы ошибок и дефектов</vt:lpstr>
      <vt:lpstr>Классификация дефектов По серьезности Серьезность показывает, насколько сильно дефект влияет на систему</vt:lpstr>
      <vt:lpstr>Классификация дефектов</vt:lpstr>
      <vt:lpstr>Причины возникновения дефектов Дефекты могут возникать на разных этапах SDLC.</vt:lpstr>
      <vt:lpstr>Методы выявления ошибок</vt:lpstr>
      <vt:lpstr>Метрики тестирования и показатели качества</vt:lpstr>
      <vt:lpstr>Презентация PowerPoint</vt:lpstr>
      <vt:lpstr>Зачем нужны метрики</vt:lpstr>
      <vt:lpstr>Ключевые метрики тестирования</vt:lpstr>
      <vt:lpstr>Ключевые метрики тестирования</vt:lpstr>
      <vt:lpstr>Ключевые метрики тестирования</vt:lpstr>
      <vt:lpstr>Ключевые метрики тестирования</vt:lpstr>
      <vt:lpstr>Ключевые метрики тестирования</vt:lpstr>
      <vt:lpstr>Ключевые метрики тестирования</vt:lpstr>
      <vt:lpstr>Ключевые метрики тестирования</vt:lpstr>
      <vt:lpstr>Ключевые метрики тестирования</vt:lpstr>
      <vt:lpstr>Пример таблицы метрик</vt:lpstr>
      <vt:lpstr>Анализ результатов тестирования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Показатели в отчетах тестирования</vt:lpstr>
      <vt:lpstr>Стратегия тестирования</vt:lpstr>
      <vt:lpstr>Презентация PowerPoint</vt:lpstr>
      <vt:lpstr>Презентация PowerPoint</vt:lpstr>
      <vt:lpstr>Виды стратегий тестирования</vt:lpstr>
      <vt:lpstr>Риск-ориентированное тестирование</vt:lpstr>
      <vt:lpstr>Риски при тестировании</vt:lpstr>
      <vt:lpstr>Как формируется стратегия тестирования</vt:lpstr>
      <vt:lpstr>Пример стратегии тестирования Проект: онлайн-платформа для сдачи домашних заданий.</vt:lpstr>
      <vt:lpstr>Пример: тестируется модуль оплаты интернет-магазина.</vt:lpstr>
      <vt:lpstr>Пример: тестируется модуль оплаты интернет-магазина.</vt:lpstr>
      <vt:lpstr>Задание.  Дан модуль: форма оплаты интернет-магазина. Результаты тестирования: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Black-box, White-box и Gray-box тестирование</dc:title>
  <dc:creator>raigul_almaty@mail.ru</dc:creator>
  <cp:lastModifiedBy>raigul_almaty@mail.ru</cp:lastModifiedBy>
  <cp:revision>6</cp:revision>
  <dcterms:created xsi:type="dcterms:W3CDTF">2026-05-20T03:44:57Z</dcterms:created>
  <dcterms:modified xsi:type="dcterms:W3CDTF">2026-05-22T04:44:24Z</dcterms:modified>
</cp:coreProperties>
</file>