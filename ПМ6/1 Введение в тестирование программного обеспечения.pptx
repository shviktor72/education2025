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9" r:id="rId16"/>
    <p:sldId id="270" r:id="rId1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29" autoAdjust="0"/>
  </p:normalViewPr>
  <p:slideViewPr>
    <p:cSldViewPr snapToGrid="0">
      <p:cViewPr varScale="1">
        <p:scale>
          <a:sx n="46" d="100"/>
          <a:sy n="46" d="100"/>
        </p:scale>
        <p:origin x="58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779794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0724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18.05.2026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 fontScale="90000"/>
          </a:bodyPr>
          <a:lstStyle/>
          <a:p>
            <a:r>
              <a:rPr lang="ru-RU" sz="5400" dirty="0"/>
              <a:t>Введение в тестирование программного обеспечения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базовое понимание тестирования программного обеспечения: что такое тестирование, зачем оно нужно, какую роль играет в обеспечении качества ПО и какие основные понятия необходимо знать для ответа на экзаменационные вопросы.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6872B-A46A-4C55-B9C6-34519ADF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тестирование программного обеспечения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BB0889-5956-47CE-9996-B2610C44D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Тестирование программного обеспечения</a:t>
            </a:r>
            <a:r>
              <a:rPr lang="ru-RU" dirty="0"/>
              <a:t> — это процесс проверки программного продукта с целью выявления ошибок, дефектов, несоответствий требованиям и оценки качества работы системы.</a:t>
            </a:r>
          </a:p>
          <a:p>
            <a:pPr marL="0" indent="0">
              <a:buNone/>
            </a:pPr>
            <a:r>
              <a:rPr lang="ru-RU" dirty="0"/>
              <a:t>Проще говоря, тестирование отвечает на вопросы:</a:t>
            </a:r>
          </a:p>
          <a:p>
            <a:r>
              <a:rPr lang="ru-RU" dirty="0"/>
              <a:t>работает ли программа так, как должна; </a:t>
            </a:r>
          </a:p>
          <a:p>
            <a:r>
              <a:rPr lang="ru-RU" dirty="0"/>
              <a:t>соответствует ли программа требованиям; </a:t>
            </a:r>
          </a:p>
          <a:p>
            <a:r>
              <a:rPr lang="ru-RU" dirty="0"/>
              <a:t>удобно ли пользователю работать с программой; </a:t>
            </a:r>
          </a:p>
          <a:p>
            <a:r>
              <a:rPr lang="ru-RU" dirty="0"/>
              <a:t>выдерживает ли система нагрузку; </a:t>
            </a:r>
          </a:p>
          <a:p>
            <a:r>
              <a:rPr lang="ru-RU" dirty="0"/>
              <a:t>есть ли ошибки в логике, интерфейсе, данных или взаимодействии компонентов. </a:t>
            </a:r>
          </a:p>
          <a:p>
            <a:pPr marL="0" indent="0">
              <a:buNone/>
            </a:pPr>
            <a:r>
              <a:rPr lang="ru-RU" dirty="0"/>
              <a:t>Тестирование не доказывает, что программа полностью безошибочна. Оно помогает найти дефекты и снизить риск выпуска некачественного продукта.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7454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87036-5800-48EC-9F55-C577B476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279"/>
          </a:xfrm>
        </p:spPr>
        <p:txBody>
          <a:bodyPr>
            <a:normAutofit fontScale="90000"/>
          </a:bodyPr>
          <a:lstStyle/>
          <a:p>
            <a:r>
              <a:rPr lang="kk-KZ" dirty="0"/>
              <a:t>Основные понятия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EECF82A-EC67-4A5A-9104-C22643E01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310687"/>
              </p:ext>
            </p:extLst>
          </p:nvPr>
        </p:nvGraphicFramePr>
        <p:xfrm>
          <a:off x="235527" y="1008409"/>
          <a:ext cx="11720945" cy="56869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31810">
                  <a:extLst>
                    <a:ext uri="{9D8B030D-6E8A-4147-A177-3AD203B41FA5}">
                      <a16:colId xmlns:a16="http://schemas.microsoft.com/office/drawing/2014/main" val="3563830183"/>
                    </a:ext>
                  </a:extLst>
                </a:gridCol>
                <a:gridCol w="8289135">
                  <a:extLst>
                    <a:ext uri="{9D8B030D-6E8A-4147-A177-3AD203B41FA5}">
                      <a16:colId xmlns:a16="http://schemas.microsoft.com/office/drawing/2014/main" val="2352641982"/>
                    </a:ext>
                  </a:extLst>
                </a:gridCol>
              </a:tblGrid>
              <a:tr h="140486">
                <a:tc>
                  <a:txBody>
                    <a:bodyPr/>
                    <a:lstStyle/>
                    <a:p>
                      <a:r>
                        <a:rPr lang="kk-KZ" sz="2400" b="1" dirty="0"/>
                        <a:t>Понятие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Объяснение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92287857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 dirty="0"/>
                        <a:t>Ошибка</a:t>
                      </a:r>
                      <a:endParaRPr lang="kk-KZ" sz="24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Действие человека, которое приводит к неправильному результату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069071808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 dirty="0"/>
                        <a:t>Дефект / баг</a:t>
                      </a:r>
                      <a:endParaRPr lang="kk-KZ" sz="2400" dirty="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Недостаток в программе, из-за которого она работает неправильно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381991588"/>
                  </a:ext>
                </a:extLst>
              </a:tr>
              <a:tr h="299301">
                <a:tc>
                  <a:txBody>
                    <a:bodyPr/>
                    <a:lstStyle/>
                    <a:p>
                      <a:r>
                        <a:rPr lang="kk-KZ" sz="2400" b="1"/>
                        <a:t>Сбой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Проявление дефекта во время работы программы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4122262535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/>
                        <a:t>Тест-кейс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Набор шагов, данных и ожидаемого результата для проверки функции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70338656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/>
                        <a:t>Тестовые данные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Данные, которые используются при выполнении тестов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14004038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/>
                        <a:t>Тест-план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Документ, описывающий цели, объем, подходы и ресурсы тестирования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962903351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/>
                        <a:t>Ожидаемый результат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То, что система должна выдать при правильной работе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44490853"/>
                  </a:ext>
                </a:extLst>
              </a:tr>
              <a:tr h="523777">
                <a:tc>
                  <a:txBody>
                    <a:bodyPr/>
                    <a:lstStyle/>
                    <a:p>
                      <a:r>
                        <a:rPr lang="kk-KZ" sz="2400" b="1"/>
                        <a:t>Фактический результат</a:t>
                      </a:r>
                      <a:endParaRPr lang="kk-KZ" sz="2400"/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То, что система реально выдала при выполнении теста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912628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59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E3D7AE9-2856-4AD0-A5A3-8150180A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Цели тестирования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ACACE7-A9B7-4BCB-97C0-1A40F9CE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83" y="1452303"/>
            <a:ext cx="10515600" cy="476770"/>
          </a:xfrm>
        </p:spPr>
        <p:txBody>
          <a:bodyPr/>
          <a:lstStyle/>
          <a:p>
            <a:r>
              <a:rPr lang="kk-KZ" dirty="0"/>
              <a:t>Основные цели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80DB8A8-0BA3-4192-8A44-6C5CE26394F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40283" y="1929073"/>
            <a:ext cx="1128314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Выявить дефекты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Основная задача тестировщика — обнаружить ошибки до того, как их увидит пользователь.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Проверить соответствие требованиям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Программа должна выполнять то, что указано в техническом задании, пользовательских историях или спецификации.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Оценить качество продукта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Тестирование помогает понять, насколько продукт надежен, удобен, безопасен и производителен.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Снизить риски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 раньше найдена ошибка, тем дешевле ее исправить.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Подтвердить готовность продукта к выпуску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Перед релизом команда должна понимать, можно ли передавать продукт пользователям.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KZ" altLang="ru-KZ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Предоставить информацию для принятия решений</a:t>
            </a:r>
            <a:b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Результаты тестирования помогают руководителю проекта, разработчикам и заказчику принять решение: выпускать продукт или дорабатывать. </a:t>
            </a:r>
          </a:p>
        </p:txBody>
      </p:sp>
    </p:spTree>
    <p:extLst>
      <p:ext uri="{BB962C8B-B14F-4D97-AF65-F5344CB8AC3E}">
        <p14:creationId xmlns:p14="http://schemas.microsoft.com/office/powerpoint/2010/main" val="327320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E3D7AE9-2856-4AD0-A5A3-8150180A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Цели тестирования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ACACE7-A9B7-4BCB-97C0-1A40F9CE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83" y="1452303"/>
            <a:ext cx="10515600" cy="476770"/>
          </a:xfrm>
        </p:spPr>
        <p:txBody>
          <a:bodyPr/>
          <a:lstStyle/>
          <a:p>
            <a:r>
              <a:rPr lang="ru-RU" dirty="0"/>
              <a:t>Как определить цели тестирования продукта</a:t>
            </a:r>
            <a:endParaRPr lang="ru-KZ" dirty="0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7D016995-678F-4FB0-8618-1EAFC1CA58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7026026"/>
              </p:ext>
            </p:extLst>
          </p:nvPr>
        </p:nvGraphicFramePr>
        <p:xfrm>
          <a:off x="732186" y="2003670"/>
          <a:ext cx="10623202" cy="43778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72570">
                  <a:extLst>
                    <a:ext uri="{9D8B030D-6E8A-4147-A177-3AD203B41FA5}">
                      <a16:colId xmlns:a16="http://schemas.microsoft.com/office/drawing/2014/main" val="2761286161"/>
                    </a:ext>
                  </a:extLst>
                </a:gridCol>
                <a:gridCol w="6550632">
                  <a:extLst>
                    <a:ext uri="{9D8B030D-6E8A-4147-A177-3AD203B41FA5}">
                      <a16:colId xmlns:a16="http://schemas.microsoft.com/office/drawing/2014/main" val="3563375606"/>
                    </a:ext>
                  </a:extLst>
                </a:gridCol>
              </a:tblGrid>
              <a:tr h="479742">
                <a:tc>
                  <a:txBody>
                    <a:bodyPr/>
                    <a:lstStyle/>
                    <a:p>
                      <a:r>
                        <a:rPr lang="kk-KZ" sz="2400" b="1" dirty="0"/>
                        <a:t>Вопрос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236038357"/>
                  </a:ext>
                </a:extLst>
              </a:tr>
              <a:tr h="479742">
                <a:tc>
                  <a:txBody>
                    <a:bodyPr/>
                    <a:lstStyle/>
                    <a:p>
                      <a:r>
                        <a:rPr lang="kk-KZ" sz="2400" dirty="0"/>
                        <a:t>Что тестируем?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Форма регистрации пользователя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649496782"/>
                  </a:ext>
                </a:extLst>
              </a:tr>
              <a:tr h="479742">
                <a:tc>
                  <a:txBody>
                    <a:bodyPr/>
                    <a:lstStyle/>
                    <a:p>
                      <a:r>
                        <a:rPr lang="kk-KZ" sz="2400" dirty="0"/>
                        <a:t>Для кого система?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Для новых пользователей сайта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55410624"/>
                  </a:ext>
                </a:extLst>
              </a:tr>
              <a:tr h="479742">
                <a:tc>
                  <a:txBody>
                    <a:bodyPr/>
                    <a:lstStyle/>
                    <a:p>
                      <a:r>
                        <a:rPr lang="kk-KZ" sz="2400" dirty="0"/>
                        <a:t>Какие функции критичны?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Регистрация, авторизация, восстановление пароля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618671536"/>
                  </a:ext>
                </a:extLst>
              </a:tr>
              <a:tr h="479742">
                <a:tc>
                  <a:txBody>
                    <a:bodyPr/>
                    <a:lstStyle/>
                    <a:p>
                      <a:r>
                        <a:rPr lang="kk-KZ" sz="2400" dirty="0"/>
                        <a:t>Какие риски есть?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Пользователь не сможет создать аккаунт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08614975"/>
                  </a:ext>
                </a:extLst>
              </a:tr>
              <a:tr h="841268">
                <a:tc>
                  <a:txBody>
                    <a:bodyPr/>
                    <a:lstStyle/>
                    <a:p>
                      <a:r>
                        <a:rPr lang="kk-KZ" sz="2400"/>
                        <a:t>Какие требования нужно проверить?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 dirty="0" err="1"/>
                        <a:t>Email</a:t>
                      </a:r>
                      <a:r>
                        <a:rPr lang="ru-RU" sz="2400" dirty="0"/>
                        <a:t> должен быть валидным, пароль не короче 8 символов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853243674"/>
                  </a:ext>
                </a:extLst>
              </a:tr>
              <a:tr h="841268">
                <a:tc>
                  <a:txBody>
                    <a:bodyPr/>
                    <a:lstStyle/>
                    <a:p>
                      <a:r>
                        <a:rPr lang="kk-KZ" sz="2400"/>
                        <a:t>Какой результат считается успешным?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Пользователь зарегистрирован и получил подтверждение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61133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64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E3D7AE9-2856-4AD0-A5A3-8150180A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Цели тестирования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ACACE7-A9B7-4BCB-97C0-1A40F9CEC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283" y="1452303"/>
            <a:ext cx="10515600" cy="476770"/>
          </a:xfrm>
        </p:spPr>
        <p:txBody>
          <a:bodyPr/>
          <a:lstStyle/>
          <a:p>
            <a:r>
              <a:rPr lang="kk-KZ" dirty="0"/>
              <a:t>Пример формулировки цели: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D8D173-1180-4AD2-8A37-0D04564D3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5600" cy="368458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Цель тестирования формы регистрации — проверить корректность ввода пользовательских данных, работу валидации обязательных полей, обработку ошибок и успешное создание учетной записи.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963655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06E8F-ED89-4710-8AFD-4E9CE99E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качество программного обеспечения</a:t>
            </a:r>
            <a:endParaRPr lang="ru-KZ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36ABFA-A005-41DD-A4FD-EEDF6FC2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5600" cy="823912"/>
          </a:xfrm>
        </p:spPr>
        <p:txBody>
          <a:bodyPr/>
          <a:lstStyle/>
          <a:p>
            <a:r>
              <a:rPr lang="kk-KZ" dirty="0"/>
              <a:t>Что такое качество ПО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D99202-ADE4-43EC-9DC8-E3081CA3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5600" cy="398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Качество программного обеспечения</a:t>
            </a:r>
            <a:r>
              <a:rPr lang="ru-RU" dirty="0"/>
              <a:t> — это степень соответствия программы требованиям, ожиданиям пользователя и установленным характеристикам.</a:t>
            </a:r>
          </a:p>
          <a:p>
            <a:pPr marL="0" indent="0">
              <a:buNone/>
            </a:pPr>
            <a:r>
              <a:rPr lang="ru-RU" dirty="0"/>
              <a:t>Качество включает:</a:t>
            </a:r>
          </a:p>
          <a:p>
            <a:r>
              <a:rPr lang="ru-RU" dirty="0"/>
              <a:t>функциональность; </a:t>
            </a:r>
          </a:p>
          <a:p>
            <a:r>
              <a:rPr lang="ru-RU" dirty="0"/>
              <a:t>надежность; </a:t>
            </a:r>
          </a:p>
          <a:p>
            <a:r>
              <a:rPr lang="ru-RU" dirty="0"/>
              <a:t>удобство использования; </a:t>
            </a:r>
          </a:p>
          <a:p>
            <a:r>
              <a:rPr lang="ru-RU" dirty="0"/>
              <a:t>производительность; </a:t>
            </a:r>
          </a:p>
          <a:p>
            <a:r>
              <a:rPr lang="ru-RU" dirty="0"/>
              <a:t>безопасность; </a:t>
            </a:r>
          </a:p>
          <a:p>
            <a:r>
              <a:rPr lang="ru-RU" dirty="0"/>
              <a:t>совместимость; </a:t>
            </a:r>
          </a:p>
          <a:p>
            <a:r>
              <a:rPr lang="ru-RU" dirty="0" err="1"/>
              <a:t>сопровождаемость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871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F06E8F-ED89-4710-8AFD-4E9CE99E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качество программного обеспечения</a:t>
            </a:r>
            <a:endParaRPr lang="ru-KZ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36ABFA-A005-41DD-A4FD-EEDF6FC2E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10515600" cy="823912"/>
          </a:xfrm>
        </p:spPr>
        <p:txBody>
          <a:bodyPr/>
          <a:lstStyle/>
          <a:p>
            <a:r>
              <a:rPr lang="ru-RU" dirty="0"/>
              <a:t>Роль тестирования в обеспечении качества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D99202-ADE4-43EC-9DC8-E3081CA3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515600" cy="36845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Тестирование является частью процесса обеспечения качества. Оно помогает:</a:t>
            </a:r>
          </a:p>
          <a:p>
            <a:r>
              <a:rPr lang="ru-RU" dirty="0"/>
              <a:t>находить ошибки до выпуска продукта; </a:t>
            </a:r>
          </a:p>
          <a:p>
            <a:r>
              <a:rPr lang="ru-RU" dirty="0"/>
              <a:t>проверять требования; </a:t>
            </a:r>
          </a:p>
          <a:p>
            <a:r>
              <a:rPr lang="ru-RU" dirty="0"/>
              <a:t>контролировать качество изменений; </a:t>
            </a:r>
          </a:p>
          <a:p>
            <a:r>
              <a:rPr lang="ru-RU" dirty="0"/>
              <a:t>уменьшать количество дефектов в релизе; </a:t>
            </a:r>
          </a:p>
          <a:p>
            <a:r>
              <a:rPr lang="ru-RU" dirty="0"/>
              <a:t>повышать доверие пользователей к системе. </a:t>
            </a:r>
          </a:p>
          <a:p>
            <a:pPr marL="0" indent="0">
              <a:buNone/>
            </a:pPr>
            <a:r>
              <a:rPr lang="ru-RU" dirty="0"/>
              <a:t>Важно понимать: </a:t>
            </a:r>
            <a:r>
              <a:rPr lang="ru-RU" b="1" dirty="0"/>
              <a:t>тестирование не создает качество само по себе</a:t>
            </a:r>
            <a:r>
              <a:rPr lang="ru-RU" dirty="0"/>
              <a:t>. Качество создается всей командой: аналитиками, разработчиками, тестировщиками, </a:t>
            </a:r>
            <a:r>
              <a:rPr lang="ru-RU" dirty="0" err="1"/>
              <a:t>DevOps</a:t>
            </a:r>
            <a:r>
              <a:rPr lang="ru-RU" dirty="0"/>
              <a:t>-инженерами, менеджерами. Но тестирование позволяет объективно оценить состояние продукта.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12201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FAF41-4FB6-43D1-B2BA-A2786339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подходы к тестированию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6A1978-8E57-4530-8552-8B503F39C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5157787" cy="50089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Ручное тестирование</a:t>
            </a:r>
            <a:r>
              <a:rPr lang="ru-RU" dirty="0"/>
              <a:t> — это проверка программного продукта человеком без использования автоматических скриптов.</a:t>
            </a:r>
          </a:p>
          <a:p>
            <a:pPr marL="0" indent="0">
              <a:buNone/>
            </a:pPr>
            <a:r>
              <a:rPr lang="ru-RU" dirty="0"/>
              <a:t>Тестировщик вручную:</a:t>
            </a:r>
          </a:p>
          <a:p>
            <a:r>
              <a:rPr lang="ru-RU" dirty="0"/>
              <a:t>открывает приложение; </a:t>
            </a:r>
          </a:p>
          <a:p>
            <a:r>
              <a:rPr lang="ru-RU" dirty="0"/>
              <a:t>вводит данные; </a:t>
            </a:r>
          </a:p>
          <a:p>
            <a:r>
              <a:rPr lang="ru-RU" dirty="0"/>
              <a:t>нажимает кнопки; </a:t>
            </a:r>
          </a:p>
          <a:p>
            <a:r>
              <a:rPr lang="ru-RU" dirty="0"/>
              <a:t>сравнивает фактический результат с ожидаемым; </a:t>
            </a:r>
          </a:p>
          <a:p>
            <a:r>
              <a:rPr lang="ru-RU" dirty="0"/>
              <a:t>фиксирует дефекты.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CF99A4-DF64-4E7C-AAB1-DC36D41EA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0688"/>
            <a:ext cx="5183188" cy="50089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Преимущества:</a:t>
            </a:r>
          </a:p>
          <a:p>
            <a:r>
              <a:rPr lang="ru-RU" dirty="0"/>
              <a:t>подходит для проверки интерфейса; </a:t>
            </a:r>
          </a:p>
          <a:p>
            <a:r>
              <a:rPr lang="ru-RU" dirty="0"/>
              <a:t>удобно для исследовательского тестирования; </a:t>
            </a:r>
          </a:p>
          <a:p>
            <a:r>
              <a:rPr lang="ru-RU" dirty="0"/>
              <a:t>не требует написания кода; </a:t>
            </a:r>
          </a:p>
          <a:p>
            <a:r>
              <a:rPr lang="ru-RU" dirty="0"/>
              <a:t>хорошо подходит для новых или нестабильных функций. </a:t>
            </a:r>
          </a:p>
          <a:p>
            <a:pPr marL="0" indent="0">
              <a:buNone/>
            </a:pPr>
            <a:r>
              <a:rPr lang="ru-RU" dirty="0"/>
              <a:t>Недостатки:</a:t>
            </a:r>
          </a:p>
          <a:p>
            <a:r>
              <a:rPr lang="ru-RU" dirty="0"/>
              <a:t>занимает много времени; </a:t>
            </a:r>
          </a:p>
          <a:p>
            <a:r>
              <a:rPr lang="ru-RU" dirty="0"/>
              <a:t>зависит от внимательности человека; </a:t>
            </a:r>
          </a:p>
          <a:p>
            <a:r>
              <a:rPr lang="ru-RU" dirty="0"/>
              <a:t>сложно многократно повторять одни и те же проверки; </a:t>
            </a:r>
          </a:p>
          <a:p>
            <a:r>
              <a:rPr lang="ru-RU" dirty="0"/>
              <a:t>неэффективно для больших регрессионных наборов.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18956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FAF41-4FB6-43D1-B2BA-A2786339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подходы к тестированию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6A1978-8E57-4530-8552-8B503F39C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413164"/>
            <a:ext cx="5157787" cy="52865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Автоматизированное тестирование</a:t>
            </a:r>
            <a:r>
              <a:rPr lang="ru-RU" dirty="0"/>
              <a:t> — это выполнение тестов с помощью специальных программ, скриптов и инструментов.</a:t>
            </a:r>
          </a:p>
          <a:p>
            <a:pPr marL="0" indent="0">
              <a:buNone/>
            </a:pPr>
            <a:r>
              <a:rPr lang="ru-RU" dirty="0"/>
              <a:t>Примеры инструментов:</a:t>
            </a:r>
          </a:p>
          <a:p>
            <a:r>
              <a:rPr lang="ru-RU" dirty="0" err="1"/>
              <a:t>Selenium</a:t>
            </a:r>
            <a:r>
              <a:rPr lang="ru-RU" dirty="0"/>
              <a:t>; </a:t>
            </a:r>
          </a:p>
          <a:p>
            <a:r>
              <a:rPr lang="ru-RU" dirty="0" err="1"/>
              <a:t>Cypress</a:t>
            </a:r>
            <a:r>
              <a:rPr lang="ru-RU" dirty="0"/>
              <a:t>; </a:t>
            </a:r>
          </a:p>
          <a:p>
            <a:r>
              <a:rPr lang="ru-RU" dirty="0" err="1"/>
              <a:t>Playwright</a:t>
            </a:r>
            <a:r>
              <a:rPr lang="ru-RU" dirty="0"/>
              <a:t>; </a:t>
            </a:r>
          </a:p>
          <a:p>
            <a:r>
              <a:rPr lang="ru-RU" dirty="0" err="1"/>
              <a:t>PyTest</a:t>
            </a:r>
            <a:r>
              <a:rPr lang="ru-RU" dirty="0"/>
              <a:t>; </a:t>
            </a:r>
          </a:p>
          <a:p>
            <a:r>
              <a:rPr lang="ru-RU" dirty="0" err="1"/>
              <a:t>JUnit</a:t>
            </a:r>
            <a:r>
              <a:rPr lang="ru-RU" dirty="0"/>
              <a:t>; </a:t>
            </a:r>
          </a:p>
          <a:p>
            <a:r>
              <a:rPr lang="ru-RU" dirty="0" err="1"/>
              <a:t>Postman</a:t>
            </a:r>
            <a:r>
              <a:rPr lang="ru-RU" dirty="0"/>
              <a:t>; </a:t>
            </a:r>
          </a:p>
          <a:p>
            <a:r>
              <a:rPr lang="ru-RU" dirty="0" err="1"/>
              <a:t>JMeter</a:t>
            </a:r>
            <a:r>
              <a:rPr lang="ru-RU" dirty="0"/>
              <a:t>.</a:t>
            </a:r>
          </a:p>
          <a:p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2CF99A4-DF64-4E7C-AAB1-DC36D41EA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413164"/>
            <a:ext cx="5183188" cy="52865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Преимущества:</a:t>
            </a:r>
          </a:p>
          <a:p>
            <a:r>
              <a:rPr lang="ru-RU" dirty="0"/>
              <a:t>быстрое повторное выполнение тестов; </a:t>
            </a:r>
          </a:p>
          <a:p>
            <a:r>
              <a:rPr lang="ru-RU" dirty="0"/>
              <a:t>удобно для регрессионного тестирования; </a:t>
            </a:r>
          </a:p>
          <a:p>
            <a:r>
              <a:rPr lang="ru-RU" dirty="0"/>
              <a:t>снижает количество рутинной работы; </a:t>
            </a:r>
          </a:p>
          <a:p>
            <a:r>
              <a:rPr lang="ru-RU" dirty="0"/>
              <a:t>можно запускать в CI/CD. </a:t>
            </a:r>
          </a:p>
          <a:p>
            <a:pPr marL="0" indent="0">
              <a:buNone/>
            </a:pPr>
            <a:r>
              <a:rPr lang="ru-RU" dirty="0"/>
              <a:t>Недостатки:</a:t>
            </a:r>
          </a:p>
          <a:p>
            <a:r>
              <a:rPr lang="ru-RU" dirty="0"/>
              <a:t>требует навыков программирования; </a:t>
            </a:r>
          </a:p>
          <a:p>
            <a:r>
              <a:rPr lang="ru-RU" dirty="0"/>
              <a:t>требует времени на создание и поддержку </a:t>
            </a:r>
            <a:r>
              <a:rPr lang="ru-RU" dirty="0" err="1"/>
              <a:t>автотестов</a:t>
            </a:r>
            <a:r>
              <a:rPr lang="ru-RU" dirty="0"/>
              <a:t>; </a:t>
            </a:r>
          </a:p>
          <a:p>
            <a:r>
              <a:rPr lang="ru-RU" dirty="0"/>
              <a:t>не все проверки выгодно автоматизировать; </a:t>
            </a:r>
          </a:p>
          <a:p>
            <a:r>
              <a:rPr lang="ru-RU" dirty="0" err="1"/>
              <a:t>автотесты</a:t>
            </a:r>
            <a:r>
              <a:rPr lang="ru-RU" dirty="0"/>
              <a:t> могут ломаться при изменении интерфейса.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235694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FAF41-4FB6-43D1-B2BA-A2786339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подходы к тестированию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6A1978-8E57-4530-8552-8B503F39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Функциональное тестирование</a:t>
            </a:r>
            <a:r>
              <a:rPr lang="ru-RU" dirty="0"/>
              <a:t> проверяет, что система делает.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r>
              <a:rPr lang="ru-RU" dirty="0"/>
              <a:t>пользователь может зарегистрироваться; </a:t>
            </a:r>
          </a:p>
          <a:p>
            <a:r>
              <a:rPr lang="ru-RU" dirty="0"/>
              <a:t>пользователь может войти в систему; </a:t>
            </a:r>
          </a:p>
          <a:p>
            <a:r>
              <a:rPr lang="ru-RU" dirty="0"/>
              <a:t>товар добавляется в корзину; </a:t>
            </a:r>
          </a:p>
          <a:p>
            <a:r>
              <a:rPr lang="ru-RU" dirty="0"/>
              <a:t>сумма заказа считается правильно; </a:t>
            </a:r>
          </a:p>
          <a:p>
            <a:r>
              <a:rPr lang="ru-RU" dirty="0"/>
              <a:t>письмо отправляется на </a:t>
            </a:r>
            <a:r>
              <a:rPr lang="ru-RU" dirty="0" err="1"/>
              <a:t>email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Основной вопрос функционального тестирования:</a:t>
            </a:r>
          </a:p>
          <a:p>
            <a:pPr marL="0" indent="0">
              <a:buNone/>
            </a:pPr>
            <a:r>
              <a:rPr lang="ru-RU" dirty="0"/>
              <a:t>Выполняет ли система нужную функцию?</a:t>
            </a:r>
          </a:p>
          <a:p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677535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FAF41-4FB6-43D1-B2BA-A2786339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Основные подходы к тестированию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6A1978-8E57-4530-8552-8B503F39C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79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Нефункциональное тестирование</a:t>
            </a:r>
            <a:r>
              <a:rPr lang="ru-RU" dirty="0"/>
              <a:t> проверяет, как система работает.</a:t>
            </a:r>
          </a:p>
          <a:p>
            <a:pPr marL="0" indent="0">
              <a:buNone/>
            </a:pPr>
            <a:r>
              <a:rPr lang="ru-RU" dirty="0"/>
              <a:t>Примеры:</a:t>
            </a:r>
          </a:p>
          <a:p>
            <a:r>
              <a:rPr lang="ru-RU" dirty="0"/>
              <a:t>быстро ли загружается страница; </a:t>
            </a:r>
          </a:p>
          <a:p>
            <a:r>
              <a:rPr lang="ru-RU" dirty="0"/>
              <a:t>выдерживает ли сайт 1000 пользователей; </a:t>
            </a:r>
          </a:p>
          <a:p>
            <a:r>
              <a:rPr lang="ru-RU" dirty="0"/>
              <a:t>удобно ли пользоваться интерфейсом; </a:t>
            </a:r>
          </a:p>
          <a:p>
            <a:r>
              <a:rPr lang="ru-RU" dirty="0"/>
              <a:t>безопасно ли передаются данные; </a:t>
            </a:r>
          </a:p>
          <a:p>
            <a:r>
              <a:rPr lang="ru-RU" dirty="0"/>
              <a:t>работает ли сайт в разных браузерах. </a:t>
            </a:r>
          </a:p>
          <a:p>
            <a:pPr marL="0" indent="0">
              <a:buNone/>
            </a:pPr>
            <a:r>
              <a:rPr lang="ru-RU" dirty="0"/>
              <a:t>Основной вопрос нефункционального тестирования:</a:t>
            </a:r>
          </a:p>
          <a:p>
            <a:r>
              <a:rPr lang="ru-RU" dirty="0"/>
              <a:t>Насколько хорошо система выполняет свои функции?</a:t>
            </a:r>
          </a:p>
          <a:p>
            <a:pPr marL="0" indent="0">
              <a:buNone/>
            </a:pPr>
            <a:r>
              <a:rPr lang="ru-RU" dirty="0"/>
              <a:t>В файле по типам тестирования указано, что нефункциональное тестирование оценивает качественные характеристики системы: производительность, надежность, удобство использования, безопасность, совместимость и другие атрибуты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3312009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22A70E-848F-4F38-8DAA-AD01C85A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449522"/>
          </a:xfrm>
        </p:spPr>
        <p:txBody>
          <a:bodyPr>
            <a:normAutofit fontScale="90000"/>
          </a:bodyPr>
          <a:lstStyle/>
          <a:p>
            <a:r>
              <a:rPr lang="kk-KZ" dirty="0"/>
              <a:t>Пример</a:t>
            </a:r>
            <a:endParaRPr lang="ru-KZ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9E04FE0-D67D-4E0D-8100-6CC4CC8A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835949"/>
            <a:ext cx="10764779" cy="992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/>
              <a:t>Возьмем форму </a:t>
            </a:r>
            <a:r>
              <a:rPr lang="ru-RU" dirty="0"/>
              <a:t>регистрации пользователя.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/>
              <a:t>Поля:</a:t>
            </a:r>
            <a:r>
              <a:rPr lang="ru-KZ" b="0" dirty="0"/>
              <a:t> </a:t>
            </a:r>
            <a:r>
              <a:rPr lang="ru-RU" b="0" dirty="0"/>
              <a:t>имя; </a:t>
            </a:r>
            <a:r>
              <a:rPr lang="ru-RU" b="0" dirty="0" err="1"/>
              <a:t>email</a:t>
            </a:r>
            <a:r>
              <a:rPr lang="ru-RU" b="0" dirty="0"/>
              <a:t>; пароль; подтверждение пароля; кнопка «Зарегистрироваться».</a:t>
            </a:r>
          </a:p>
        </p:txBody>
      </p:sp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C68D05E6-E589-4C3B-B7EB-AC2ACBCAC0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8114858"/>
              </p:ext>
            </p:extLst>
          </p:nvPr>
        </p:nvGraphicFramePr>
        <p:xfrm>
          <a:off x="490653" y="1978429"/>
          <a:ext cx="5157786" cy="3926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6292">
                  <a:extLst>
                    <a:ext uri="{9D8B030D-6E8A-4147-A177-3AD203B41FA5}">
                      <a16:colId xmlns:a16="http://schemas.microsoft.com/office/drawing/2014/main" val="3146148365"/>
                    </a:ext>
                  </a:extLst>
                </a:gridCol>
                <a:gridCol w="3071494">
                  <a:extLst>
                    <a:ext uri="{9D8B030D-6E8A-4147-A177-3AD203B41FA5}">
                      <a16:colId xmlns:a16="http://schemas.microsoft.com/office/drawing/2014/main" val="2966682253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Проверка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Ожидаемый результат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5592026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Ввести корректные данные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Пользователь успешно зарегистрирован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202035578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 dirty="0"/>
                        <a:t>Оставить </a:t>
                      </a:r>
                      <a:r>
                        <a:rPr lang="en-US" sz="2000" dirty="0"/>
                        <a:t>email </a:t>
                      </a:r>
                      <a:r>
                        <a:rPr lang="kk-KZ" sz="2000" dirty="0"/>
                        <a:t>пустым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Появляется сообщение об ошибке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57186143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Ввести неверный формат </a:t>
                      </a:r>
                      <a:r>
                        <a:rPr lang="en-US" sz="2000"/>
                        <a:t>email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показывает ошибку валидации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402110404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Ввести короткий пароль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не принимает пароль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87843046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Ввести разные пароли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Система показывает ошибку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656584835"/>
                  </a:ext>
                </a:extLst>
              </a:tr>
            </a:tbl>
          </a:graphicData>
        </a:graphic>
      </p:graphicFrame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8FC8A4C4-7771-457D-A85D-16C9A9D30FD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29982606"/>
              </p:ext>
            </p:extLst>
          </p:nvPr>
        </p:nvGraphicFramePr>
        <p:xfrm>
          <a:off x="6226333" y="1978429"/>
          <a:ext cx="5183188" cy="36232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1594">
                  <a:extLst>
                    <a:ext uri="{9D8B030D-6E8A-4147-A177-3AD203B41FA5}">
                      <a16:colId xmlns:a16="http://schemas.microsoft.com/office/drawing/2014/main" val="1913694272"/>
                    </a:ext>
                  </a:extLst>
                </a:gridCol>
                <a:gridCol w="2591594">
                  <a:extLst>
                    <a:ext uri="{9D8B030D-6E8A-4147-A177-3AD203B41FA5}">
                      <a16:colId xmlns:a16="http://schemas.microsoft.com/office/drawing/2014/main" val="2684330356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Проверка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Ожидаемый результат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015458111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 dirty="0"/>
                        <a:t>Открыть форму на телефоне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Поля отображаются корректно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4077150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2000"/>
                        <a:t>Отправить форму при медленном интернете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не зависает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790977390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2000"/>
                        <a:t>Проверить форму в Chrome и Firefox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Форма работает одинаково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465502859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Проверить защиту пароля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Пароль скрыт символами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804527078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Проверить время регистрации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Ответ приходит быстро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860910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590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5"/>
            <a:ext cx="11959244" cy="1325563"/>
          </a:xfrm>
        </p:spPr>
        <p:txBody>
          <a:bodyPr>
            <a:normAutofit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. </a:t>
            </a:r>
            <a:r>
              <a:rPr lang="ru-RU" dirty="0"/>
              <a:t>Для формы входа в систему придумать: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E2E117D-3812-44D0-A6EE-88E0821F38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4871459"/>
              </p:ext>
            </p:extLst>
          </p:nvPr>
        </p:nvGraphicFramePr>
        <p:xfrm>
          <a:off x="838200" y="1752600"/>
          <a:ext cx="10515600" cy="2072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068422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52448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Вид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72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 dirty="0"/>
                        <a:t>2 функциональные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213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2 нефункциональные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kk-KZ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6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800"/>
                        <a:t>1 пример дефекта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879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D7A74CA-805C-4BBF-9F48-1775BB22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1411"/>
            <a:ext cx="1078299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KZ" altLang="ru-KZ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тестирование программного обеспечения?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 ошибка отличается от дефекта?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сбой?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Назовите основные цели тестирования.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Почему тестирование важно для качества ПО?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Чем функциональное тестирование отличается от нефункционального?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Какие преимущества есть у ручного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Какие преимущества есть у автоматизированного тестирования?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Почему невозможно доказать полное отсутствие ошибок в программе?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KZ" altLang="ru-KZ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результаты тестирования помогают принять решение о выпуске продукта? </a:t>
            </a:r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1060</Words>
  <Application>Microsoft Office PowerPoint</Application>
  <PresentationFormat>Широкоэкранный</PresentationFormat>
  <Paragraphs>185</Paragraphs>
  <Slides>16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Введение в тестирование программного обеспечения</vt:lpstr>
      <vt:lpstr>Цель лекции</vt:lpstr>
      <vt:lpstr>Что такое тестирование программного обеспечения</vt:lpstr>
      <vt:lpstr>Основные понятия</vt:lpstr>
      <vt:lpstr>Цели тестирования</vt:lpstr>
      <vt:lpstr>Цели тестирования</vt:lpstr>
      <vt:lpstr>Цели тестирования</vt:lpstr>
      <vt:lpstr>Тестирование и качество программного обеспечения</vt:lpstr>
      <vt:lpstr>Тестирование и качество программного обеспечения</vt:lpstr>
      <vt:lpstr>Основные подходы к тестированию</vt:lpstr>
      <vt:lpstr>Основные подходы к тестированию</vt:lpstr>
      <vt:lpstr>Основные подходы к тестированию</vt:lpstr>
      <vt:lpstr>Основные подходы к тестированию</vt:lpstr>
      <vt:lpstr>Пример</vt:lpstr>
      <vt:lpstr>Задание. Для формы входа в систему придумать: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2</cp:revision>
  <dcterms:created xsi:type="dcterms:W3CDTF">2026-05-17T16:20:39Z</dcterms:created>
  <dcterms:modified xsi:type="dcterms:W3CDTF">2026-05-18T04:38:00Z</dcterms:modified>
</cp:coreProperties>
</file>